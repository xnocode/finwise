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judges. This is FinWise — Personal Finance, Intelligently Yours. We built FinWise because the personal finance tools most people use today are passive dashboards. They show you what happened. They don't tell you what to do next, and they certainly don't do it for you. FinWise is different. It is an agentic AI copilot: a system that reasons about your money, takes safe actions on your behalf through natural language, and gives you a clearer view of your financial future than any spreadsheet ever could. Over the next ten minutes I'll walk you through the problem we're solving, our four-layer architecture, the eleven tools our agent can call, our advanced analytics, five novel innovation features, our security model, and the live demo.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Personal finance is a domain where the tools are abundant but the outcomes are poor. Seventy percent of Americans live paycheck to paycheck — that includes many in higher income brackets, which tells you this is not an income problem, it's a management problem. Seventy-two percent of adults report money as a primary stressor, yet only thirty-two percent maintain any kind of household budget. The gap between intention and execution is enormous. Why? Because today's apps are passive. They are dashboards that show you what already happened, then leave you to do the hard part: categorize correctly, forecast the future, choose between competing goals, and actually follow through. FinWise closes that gap by making the agent an active participant in your financial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structural, not cosmetic. We didn't bolt a chat box onto a budgeting app. We built a four-layer finance engine — ingestion, categorization, agent, insight — and placed an LLM supervisor at the top. The supervisor understands intent and routes to worker agents that call one of eleven verified tools. Seven tools are read-only: they query transactions, goals, budgets, and analytics. Four are write tools: they add transactions, create goals, update budgets, and so on — every one of them inside a permissioned, audited sandbox. The right-hand panel is the simplest way to understand the shift. In the old world you typed transactions into a form. In FinWise you just say "I spent forty-two dollars at Trader Joe's." The agent parses, categorizes, persists, and updates the affected budget envelope —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intentionally layered so that each concern can be tested, audited, and improved in isolation. Layer one is ingestion — receipts, CSV imports, manual entry, all normalized to a single ledger schema backed by Prisma and SQLite. Layer two is categorization — LLM-assisted with rule fallback, mapping merchants to canonical categories with explicit confidence scores. Layer three is the agent: a supervisor–worker pattern where an LLM supervisor parses the user's intent, plans the tool sequence, dispatches to specialized workers, and validates results. Below the supervisor sit eleven tools — seven read, four write — every one of them permissioned. Layer four is insight: the Financial Health Score, Holt-Winters cash flow forecast, Monte Carlo simulation, behavioral triggers, and more, surfaced across eight user-facing views. This separation is what lets us add new analytics without touching the agent, and new agent skills without touching the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FinWise ships eight user-facing views organized into four pillars. Smart budgeting auto-builds envelopes from your transaction history and flags category drift before it becomes a problem. Bill analysis detects recurring payments from merchant cadence — the average FinWise user is surprised to find around twelve hundred dollars a month across nine subscriptions they had forgotten about. Spending insights pair a 365-day heatmap with merchant-concentration analysis using the Herfindahl-Hirschman Index, plus seasonal decomposition. Actionable recommendations close the loop: the goal optimizer, debt-payoff planner, and What-If simulator don't just suggest — they offer one-utterance execution. The bottom card shows the analytics pillar: Holt-Winters forecasting, five-year Monte Carlo with five thousand paths, and the Financial Health Score that blends savings rate, debt ratio, emergency runway, and consistency into a single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agent in action. The chat on the left is a real transcript from our demo. The user says, "I spent forty-two dollars on groceries at Trader Joe's." The supervisor parses the intent, plans the call, dispatches to the ledger worker, which calls add_transaction. The transaction is logged, the budget envelope is updated, and the agent responds with the new context — all in well under a second. The same pattern holds for creating goals and updating budgets. Every write tool is permissioned, audited, and reversible. On the right you see the full tool inventory: eleven tools, split seven read and four write. Read tools query the ledger, budgets, goals, health score, forecasts, analytics, and insights. Write tools add transactions, create goals, update budgets, and set permissions. This is the surface area the agent can reason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FinWise's analytical surface. Top-left is the Financial Health Score, a single number from zero to one hundred that blends four signals: savings rate, debt ratio, emergency runway, and behavioral consistency. The user shown here sits at seventy-eight, up six points month-over-month. Top-center is the cash-flow forecast — Holt-Winters exponential smoothing over ninety days, capturing both trend and seasonality. Notice the orange and red bars around day sixty: the model predicts a likely shortfall, and the agent pre-emptively suggests deferring a discretionary purchase. Top-right is the Monte Carlo module: five thousand simulated paths projecting net worth five years out, with a P-ten to P-ninety envelope. Bottom-left is the What-If builder — change salary, savings rate, or recurring spend and the Health Score re-computes in real time. Bottom-right is the Financial Stress Index, which tracks runway and spending volatility week over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Innovation Lab is where FinWise pulls away from existing apps. These five features are not available in any consumer personal finance tool we've surveyed. First, Financial Personality DNA clusters behavior along four axes — saver versus spender, planner versus spontaneous, cautious versus bold, steady versus volatile — giving you a profile rather than a label. Second, the Future Self Simulator renders your net-worth trajectory at one, five, ten, and twenty years under your current behavior, plus under the agent's recommended path. Third, Behavioral Trigger Detection finds the patterns behind your spending — Friday-night food delivery, post-payday splurges — and suggests frictionless interventions. Fourth, the Time-Value Calculator reframes every purchase in the unit that actually motivates: time. Sixty dollars today is roughly three hundred forty dollars of your retirement. Finally, Goal Collision Detector flags when two goals compete for the same monthly cash and offers a Pareto-optimal rebalance.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agentic system that can write to your financial life has to be trustworthy by design. We built three layers of defense. First, a three-tier permission model: Viewers can read, Editors can read and write, Approvers additionally grant permissions and review the audit trail. Every tool call is checked at the boundary — there is no privilege escalation path. Second, privacy mode masks sensitive balances, merchant names, and goal amounts in one toggle, default-on for shared screens. Third, every write tool call is logged with actor, tool, payload diff, and timestamp, in a searchable, exportable audit trail shown live on the right. On compliance: FinWise supports GDPR right-to-access, rectify, and erase; CCPA do-not-sell and data portability; and PIPL consent and cross-border transfer disclosure. The risk register tracks our top three mitigations, including hallucinated writes, privilege escalation, and PII in LLM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seeded three personas across five hundred fifty-plus synthetic transactions, and we demo each one end-to-end live. Maya is a college senior and part-time barista with tight runway and competing goals — grad school and a summer trip. In one utterance she splits her paycheck between them, and the agent creates two goals, sets contribution schedules, and flags a twelve-day cash shortfall predicted by Holt-Winters. Devin is a freelancer with lumpy income and a looming tax bill. He uses the What-If builder to simulate a thirty-day client delay and Monte Carlo to see his P-ten runway drop to eighteen days. The Chen family has two earners, two kids, and three competing goals: college fund, emergency reserve, and a kitchen renovation. The Goal Collision Detector finds a one hundred sixty-two dollar monthly gap, and the three-tier permission model lets parents be Approvers while their teenager is a 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have actually built and verified. Eleven agent tools — seven read, four write — all permissioned and audited. Fourteen API endpoints under Next.js sixteen route handlers. Eight user-facing views. Twenty-plus total features, five of which are original to FinWise. We seeded over five hundred fifty synthetic transactions across three personas, fourteen categories, and eighteen months of history. The Monte Carlo module runs five thousand paths per five-year projection and computes a P-ten to P-ninety envelope live. And critically, every one of these claims is verified end-to-end: all eleven tools call cleanly under the supervisor, all fourteen endpoints respond within two hundred milliseconds at the ninety-fifth percentile, the Health Score recomputes in under one hundred milliseconds, and the audit trail captures one hundred percent of write calls. This is a working system,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built FinWise to close the gap between knowing what to do with your money and actually doing it. Today's apps are dashboards; FinWise is a copilot. The agent is live, the analytics are real, the audit trail is complete, and the demo is yours to drive. Over the next ninety days we have three milestones. In the next thirty days we add Plaid bank connectivity to replace synthetic seed data with real-time ingest. At sixty days we ship a React Native mobile companion sharing the same agent and ledger, with voice input for on-the-go logging. At ninety days we open a two-hundred-user beta cohort with privacy-preserving analytics to iterate on trigger detection. The team is a small group of full-stack, AI, and design builders. The live demo is at finwise.app/demo and the source is at github.com/finwise. We'd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slideLayout" Target="../slideLayouts/slideLayout1.xml"/><Relationship Id="rId2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2408415" y="2714625"/>
            <a:ext cx="6735585" cy="2428875"/>
          </a:xfrm>
          <a:prstGeom prst="rect">
            <a:avLst/>
          </a:prstGeom>
          <a:noFill/>
          <a:ln/>
        </p:spPr>
        <p:txBody>
          <a:bodyPr wrap="square" lIns="0" tIns="0" rIns="0" bIns="0" rtlCol="0" anchor="t"/>
          <a:lstStyle/>
          <a:p>
            <a:pPr algn="l" indent="0" marL="0">
              <a:lnSpc>
                <a:spcPts val="29250"/>
              </a:lnSpc>
              <a:buNone/>
            </a:pPr>
            <a:r>
              <a:rPr lang="en-US" sz="29250" b="1" spc="-1462" kern="0" dirty="0">
                <a:solidFill>
                  <a:srgbClr val="6366F1">
                    <a:alpha val="4000"/>
                  </a:srgbClr>
                </a:solidFill>
                <a:latin typeface="Liberation Sans Narrow" pitchFamily="34" charset="0"/>
                <a:ea typeface="Liberation Sans Narrow" pitchFamily="34" charset="-122"/>
                <a:cs typeface="Liberation Sans Narrow" pitchFamily="34" charset="-120"/>
              </a:rPr>
              <a:t>01</a:t>
            </a:r>
            <a:endParaRPr lang="en-US" sz="29250" dirty="0"/>
          </a:p>
        </p:txBody>
      </p:sp>
      <p:pic>
        <p:nvPicPr>
          <p:cNvPr id="3" name="Image 0" descr="preencoded.png">    </p:cNvPr>
          <p:cNvPicPr>
            <a:picLocks noChangeAspect="1"/>
          </p:cNvPicPr>
          <p:nvPr/>
        </p:nvPicPr>
        <p:blipFill>
          <a:blip r:embed="rId1"/>
          <a:stretch>
            <a:fillRect/>
          </a:stretch>
        </p:blipFill>
        <p:spPr>
          <a:xfrm>
            <a:off x="457200" y="315218"/>
            <a:ext cx="257175" cy="257175"/>
          </a:xfrm>
          <a:prstGeom prst="rect">
            <a:avLst/>
          </a:prstGeom>
        </p:spPr>
      </p:pic>
      <p:sp>
        <p:nvSpPr>
          <p:cNvPr id="4" name="Text 1"/>
          <p:cNvSpPr/>
          <p:nvPr/>
        </p:nvSpPr>
        <p:spPr>
          <a:xfrm>
            <a:off x="482203" y="340221"/>
            <a:ext cx="207169" cy="207169"/>
          </a:xfrm>
          <a:prstGeom prst="rect">
            <a:avLst/>
          </a:prstGeom>
          <a:noFill/>
          <a:ln/>
        </p:spPr>
        <p:txBody>
          <a:bodyPr wrap="none" lIns="0" tIns="0" rIns="0" bIns="0" rtlCol="0" anchor="ctr"/>
          <a:lstStyle/>
          <a:p>
            <a:pPr algn="ctr" indent="0" marL="0">
              <a:buNone/>
            </a:pPr>
            <a:r>
              <a:rPr lang="en-US" sz="1406" dirty="0">
                <a:solidFill>
                  <a:srgbClr val="FFFFFF"/>
                </a:solidFill>
                <a:latin typeface="Segoe UI Symbol" pitchFamily="34" charset="0"/>
                <a:ea typeface="Segoe UI Symbol" pitchFamily="34" charset="-122"/>
                <a:cs typeface="Segoe UI Symbol" pitchFamily="34" charset="-120"/>
              </a:rPr>
              <a:t>◆</a:t>
            </a:r>
            <a:endParaRPr lang="en-US" sz="1406" dirty="0"/>
          </a:p>
        </p:txBody>
      </p:sp>
      <p:sp>
        <p:nvSpPr>
          <p:cNvPr id="5" name="Text 2"/>
          <p:cNvSpPr/>
          <p:nvPr/>
        </p:nvSpPr>
        <p:spPr>
          <a:xfrm>
            <a:off x="800100" y="314325"/>
            <a:ext cx="2678049" cy="133302"/>
          </a:xfrm>
          <a:prstGeom prst="rect">
            <a:avLst/>
          </a:prstGeom>
          <a:noFill/>
          <a:ln/>
        </p:spPr>
        <p:txBody>
          <a:bodyPr wrap="none" lIns="0" tIns="0" rIns="0" bIns="0" rtlCol="0" anchor="t">
            <a:normAutofit/>
          </a:bodyPr>
          <a:lstStyle/>
          <a:p>
            <a:pPr algn="l" indent="0" marL="0">
              <a:lnSpc>
                <a:spcPts val="1266"/>
              </a:lnSpc>
              <a:buNone/>
            </a:pPr>
            <a:r>
              <a:rPr lang="en-US" sz="1013" b="1" spc="-10" kern="0" dirty="0">
                <a:solidFill>
                  <a:srgbClr val="F5F5F7"/>
                </a:solidFill>
                <a:latin typeface="Tinos" pitchFamily="34" charset="0"/>
                <a:ea typeface="Tinos" pitchFamily="34" charset="-122"/>
                <a:cs typeface="Tinos" pitchFamily="34" charset="-120"/>
              </a:rPr>
              <a:t>FinWise</a:t>
            </a:r>
            <a:endParaRPr lang="en-US" sz="1013" dirty="0"/>
          </a:p>
        </p:txBody>
      </p:sp>
      <p:sp>
        <p:nvSpPr>
          <p:cNvPr id="6" name="Text 3"/>
          <p:cNvSpPr/>
          <p:nvPr/>
        </p:nvSpPr>
        <p:spPr>
          <a:xfrm>
            <a:off x="800100" y="475059"/>
            <a:ext cx="2412631" cy="137160"/>
          </a:xfrm>
          <a:prstGeom prst="rect">
            <a:avLst/>
          </a:prstGeom>
          <a:noFill/>
          <a:ln/>
        </p:spPr>
        <p:txBody>
          <a:bodyPr wrap="square" lIns="0" tIns="0" rIns="0" bIns="0" rtlCol="0" anchor="t"/>
          <a:lstStyle/>
          <a:p>
            <a:pPr algn="l" indent="0" marL="0">
              <a:lnSpc>
                <a:spcPts val="773"/>
              </a:lnSpc>
              <a:buNone/>
            </a:pPr>
            <a:r>
              <a:rPr lang="en-US" sz="800" spc="99" kern="0" dirty="0">
                <a:solidFill>
                  <a:srgbClr val="71717A"/>
                </a:solidFill>
                <a:latin typeface="Carlito" pitchFamily="34" charset="0"/>
                <a:ea typeface="Carlito" pitchFamily="34" charset="-122"/>
                <a:cs typeface="Carlito" pitchFamily="34" charset="-120"/>
              </a:rPr>
              <a:t>PBCSF · INTERNATIONAL TRACK · TOPIC A</a:t>
            </a:r>
            <a:endParaRPr lang="en-US" sz="800" dirty="0"/>
          </a:p>
        </p:txBody>
      </p:sp>
      <p:sp>
        <p:nvSpPr>
          <p:cNvPr id="7" name="Text 4"/>
          <p:cNvSpPr/>
          <p:nvPr/>
        </p:nvSpPr>
        <p:spPr>
          <a:xfrm>
            <a:off x="6024860" y="415230"/>
            <a:ext cx="57150" cy="57150"/>
          </a:xfrm>
          <a:prstGeom prst="roundRect">
            <a:avLst>
              <a:gd name="adj" fmla="val 16650000"/>
            </a:avLst>
          </a:prstGeom>
          <a:solidFill>
            <a:srgbClr val="10B981">
              <a:alpha val="40000"/>
            </a:srgbClr>
          </a:solidFill>
          <a:ln/>
        </p:spPr>
        <p:txBody>
          <a:bodyPr wrap="square" rtlCol="0" anchor="ctr"/>
          <a:lstStyle/>
          <a:p>
            <a:pPr indent="0" marL="0">
              <a:buNone/>
            </a:pPr>
            <a:endParaRPr lang="en-US" dirty="0"/>
          </a:p>
        </p:txBody>
      </p:sp>
      <p:sp>
        <p:nvSpPr>
          <p:cNvPr id="8" name="Text 5"/>
          <p:cNvSpPr/>
          <p:nvPr/>
        </p:nvSpPr>
        <p:spPr>
          <a:xfrm>
            <a:off x="6024860" y="379512"/>
            <a:ext cx="3119140" cy="164592"/>
          </a:xfrm>
          <a:prstGeom prst="rect">
            <a:avLst/>
          </a:prstGeom>
          <a:noFill/>
          <a:ln/>
        </p:spPr>
        <p:txBody>
          <a:bodyPr wrap="square" lIns="0" tIns="0" rIns="0" bIns="0" rtlCol="0" anchor="t"/>
          <a:lstStyle/>
          <a:p>
            <a:pPr algn="l" indent="0" marL="0">
              <a:lnSpc>
                <a:spcPts val="1013"/>
              </a:lnSpc>
              <a:buNone/>
            </a:pPr>
            <a:r>
              <a:rPr lang="en-US" sz="800" spc="122" kern="0" dirty="0">
                <a:solidFill>
                  <a:srgbClr val="71717A"/>
                </a:solidFill>
                <a:latin typeface="Courier New" pitchFamily="34" charset="0"/>
                <a:ea typeface="Courier New" pitchFamily="34" charset="-122"/>
                <a:cs typeface="Courier New" pitchFamily="34" charset="-120"/>
              </a:rPr>
              <a:t>LIVE DEMO · 550+ VERIFIED TRANSACTIONS</a:t>
            </a:r>
            <a:endParaRPr lang="en-US" sz="800" dirty="0"/>
          </a:p>
        </p:txBody>
      </p:sp>
      <p:sp>
        <p:nvSpPr>
          <p:cNvPr id="9" name="Text 6"/>
          <p:cNvSpPr/>
          <p:nvPr/>
        </p:nvSpPr>
        <p:spPr>
          <a:xfrm>
            <a:off x="460772" y="1075134"/>
            <a:ext cx="2113434" cy="192881"/>
          </a:xfrm>
          <a:prstGeom prst="roundRect">
            <a:avLst>
              <a:gd name="adj" fmla="val 4933340"/>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10" name="Text 7"/>
          <p:cNvSpPr/>
          <p:nvPr/>
        </p:nvSpPr>
        <p:spPr>
          <a:xfrm>
            <a:off x="457200" y="1071563"/>
            <a:ext cx="2163440" cy="256032"/>
          </a:xfrm>
          <a:prstGeom prst="rect">
            <a:avLst/>
          </a:prstGeom>
          <a:noFill/>
          <a:ln/>
        </p:spPr>
        <p:txBody>
          <a:bodyPr wrap="none" lIns="71438" tIns="28575" rIns="71438" bIns="28575" rtlCol="0" anchor="t"/>
          <a:lstStyle/>
          <a:p>
            <a:pPr algn="l"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COMPETITION DECK · DELIVERABLE 02</a:t>
            </a:r>
            <a:endParaRPr lang="en-US" sz="800" dirty="0"/>
          </a:p>
        </p:txBody>
      </p:sp>
      <p:sp>
        <p:nvSpPr>
          <p:cNvPr id="11" name="Text 8"/>
          <p:cNvSpPr/>
          <p:nvPr/>
        </p:nvSpPr>
        <p:spPr>
          <a:xfrm>
            <a:off x="2663503" y="1059561"/>
            <a:ext cx="1321929" cy="224028"/>
          </a:xfrm>
          <a:prstGeom prst="roundRect">
            <a:avLst>
              <a:gd name="adj" fmla="val 4247449"/>
            </a:avLst>
          </a:prstGeom>
          <a:solidFill>
            <a:srgbClr val="10B981">
              <a:alpha val="12000"/>
            </a:srgbClr>
          </a:solidFill>
          <a:ln w="7144">
            <a:solidFill>
              <a:srgbClr val="10B981"/>
            </a:solidFill>
            <a:prstDash val="solid"/>
          </a:ln>
        </p:spPr>
        <p:txBody>
          <a:bodyPr wrap="square" rtlCol="0" anchor="ctr"/>
          <a:lstStyle/>
          <a:p>
            <a:pPr indent="0" marL="0">
              <a:buNone/>
            </a:pPr>
            <a:endParaRPr lang="en-US" dirty="0"/>
          </a:p>
        </p:txBody>
      </p:sp>
      <p:sp>
        <p:nvSpPr>
          <p:cNvPr id="12" name="Text 9"/>
          <p:cNvSpPr/>
          <p:nvPr/>
        </p:nvSpPr>
        <p:spPr>
          <a:xfrm>
            <a:off x="2663503" y="1071563"/>
            <a:ext cx="1321929"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34D399"/>
                </a:solidFill>
                <a:latin typeface="Liberation Sans Narrow" pitchFamily="34" charset="0"/>
                <a:ea typeface="Liberation Sans Narrow" pitchFamily="34" charset="-122"/>
                <a:cs typeface="Liberation Sans Narrow" pitchFamily="34" charset="-120"/>
              </a:rPr>
              <a:t>10-MIN PRESENTATION</a:t>
            </a:r>
            <a:endParaRPr lang="en-US" sz="800" dirty="0"/>
          </a:p>
        </p:txBody>
      </p:sp>
      <p:sp>
        <p:nvSpPr>
          <p:cNvPr id="13" name="Text 10"/>
          <p:cNvSpPr/>
          <p:nvPr/>
        </p:nvSpPr>
        <p:spPr>
          <a:xfrm>
            <a:off x="457200" y="1443038"/>
            <a:ext cx="8636000" cy="1836712"/>
          </a:xfrm>
          <a:prstGeom prst="rect">
            <a:avLst/>
          </a:prstGeom>
          <a:noFill/>
          <a:ln/>
        </p:spPr>
        <p:txBody>
          <a:bodyPr wrap="square" lIns="0" tIns="0" rIns="0" bIns="0" rtlCol="0" anchor="t"/>
          <a:lstStyle/>
          <a:p>
            <a:pPr algn="l" indent="0" marL="0">
              <a:lnSpc>
                <a:spcPts val="6696"/>
              </a:lnSpc>
              <a:buNone/>
            </a:pPr>
            <a:r>
              <a:rPr lang="en-US" sz="6975" b="1" spc="-314" kern="0" dirty="0">
                <a:solidFill>
                  <a:srgbClr val="FFFFFF"/>
                </a:solidFill>
                <a:latin typeface="Tinos" pitchFamily="34" charset="0"/>
                <a:ea typeface="Tinos" pitchFamily="34" charset="-122"/>
                <a:cs typeface="Tinos" pitchFamily="34" charset="-120"/>
              </a:rPr>
              <a:t>Personal Finance,</a:t>
            </a:r>
            <a:endParaRPr lang="en-US" sz="6975" dirty="0"/>
          </a:p>
          <a:p>
            <a:pPr algn="l" indent="0" marL="0">
              <a:lnSpc>
                <a:spcPts val="6696"/>
              </a:lnSpc>
              <a:buNone/>
            </a:pPr>
            <a:r>
              <a:rPr lang="en-US" sz="6975" b="1" i="1" spc="-314" kern="0" dirty="0">
                <a:solidFill>
                  <a:srgbClr val="818CF8"/>
                </a:solidFill>
                <a:latin typeface="Tinos" pitchFamily="34" charset="0"/>
                <a:ea typeface="Tinos" pitchFamily="34" charset="-122"/>
                <a:cs typeface="Tinos" pitchFamily="34" charset="-120"/>
              </a:rPr>
              <a:t>Intelligently</a:t>
            </a:r>
            <a:pPr algn="l" indent="0" marL="0">
              <a:lnSpc>
                <a:spcPts val="6696"/>
              </a:lnSpc>
              <a:buNone/>
            </a:pPr>
            <a:r>
              <a:rPr lang="en-US" sz="6975" b="1" spc="-314" kern="0" dirty="0">
                <a:solidFill>
                  <a:srgbClr val="FFFFFF"/>
                </a:solidFill>
                <a:latin typeface="Tinos" pitchFamily="34" charset="0"/>
                <a:ea typeface="Tinos" pitchFamily="34" charset="-122"/>
                <a:cs typeface="Tinos" pitchFamily="34" charset="-120"/>
              </a:rPr>
              <a:t> Yours.</a:t>
            </a:r>
            <a:endParaRPr lang="en-US" sz="6975" dirty="0"/>
          </a:p>
        </p:txBody>
      </p:sp>
      <p:pic>
        <p:nvPicPr>
          <p:cNvPr id="14" name="Image 1" descr="preencoded.png">    </p:cNvPr>
          <p:cNvPicPr>
            <a:picLocks noChangeAspect="1"/>
          </p:cNvPicPr>
          <p:nvPr/>
        </p:nvPicPr>
        <p:blipFill>
          <a:blip r:embed="rId2"/>
          <a:stretch>
            <a:fillRect/>
          </a:stretch>
        </p:blipFill>
        <p:spPr>
          <a:xfrm>
            <a:off x="457200" y="3458021"/>
            <a:ext cx="154260" cy="21431"/>
          </a:xfrm>
          <a:prstGeom prst="rect">
            <a:avLst/>
          </a:prstGeom>
        </p:spPr>
      </p:pic>
      <p:sp>
        <p:nvSpPr>
          <p:cNvPr id="15" name="Text 11"/>
          <p:cNvSpPr/>
          <p:nvPr/>
        </p:nvSpPr>
        <p:spPr>
          <a:xfrm>
            <a:off x="782910" y="3372296"/>
            <a:ext cx="5817915" cy="681353"/>
          </a:xfrm>
          <a:prstGeom prst="rect">
            <a:avLst/>
          </a:prstGeom>
          <a:noFill/>
          <a:ln/>
        </p:spPr>
        <p:txBody>
          <a:bodyPr wrap="square" lIns="0" tIns="0" rIns="0" bIns="0" rtlCol="0" anchor="t"/>
          <a:lstStyle/>
          <a:p>
            <a:pPr algn="l" indent="0" marL="0">
              <a:lnSpc>
                <a:spcPts val="1657"/>
              </a:lnSpc>
              <a:buNone/>
            </a:pPr>
            <a:r>
              <a:rPr lang="en-US" sz="1069" dirty="0">
                <a:solidFill>
                  <a:srgbClr val="A1A1AA"/>
                </a:solidFill>
                <a:latin typeface="Carlito" pitchFamily="34" charset="0"/>
                <a:ea typeface="Carlito" pitchFamily="34" charset="-122"/>
                <a:cs typeface="Carlito" pitchFamily="34" charset="-120"/>
              </a:rPr>
              <a:t>FinWise is an </a:t>
            </a:r>
            <a:pPr algn="l" indent="0" marL="0">
              <a:lnSpc>
                <a:spcPts val="1657"/>
              </a:lnSpc>
              <a:buNone/>
            </a:pPr>
            <a:r>
              <a:rPr lang="en-US" sz="1069" dirty="0">
                <a:solidFill>
                  <a:srgbClr val="F5F5F7"/>
                </a:solidFill>
                <a:latin typeface="Carlito" pitchFamily="34" charset="0"/>
                <a:ea typeface="Carlito" pitchFamily="34" charset="-122"/>
                <a:cs typeface="Carlito" pitchFamily="34" charset="-120"/>
              </a:rPr>
              <a:t>agentic AI copilot</a:t>
            </a:r>
            <a:pPr algn="l" indent="0" marL="0">
              <a:lnSpc>
                <a:spcPts val="1657"/>
              </a:lnSpc>
              <a:buNone/>
            </a:pPr>
            <a:r>
              <a:rPr lang="en-US" sz="1069" dirty="0">
                <a:solidFill>
                  <a:srgbClr val="A1A1AA"/>
                </a:solidFill>
                <a:latin typeface="Carlito" pitchFamily="34" charset="0"/>
                <a:ea typeface="Carlito" pitchFamily="34" charset="-122"/>
                <a:cs typeface="Carlito" pitchFamily="34" charset="-120"/>
              </a:rPr>
              <a:t> that doesn't just display your money — it reasons about it. Add transactions, build budgets, plan goals, and forecast your future through plain conversation.</a:t>
            </a:r>
            <a:endParaRPr lang="en-US" sz="1069" dirty="0"/>
          </a:p>
        </p:txBody>
      </p:sp>
      <p:sp>
        <p:nvSpPr>
          <p:cNvPr id="16" name="Text 12"/>
          <p:cNvSpPr/>
          <p:nvPr/>
        </p:nvSpPr>
        <p:spPr>
          <a:xfrm>
            <a:off x="460772" y="3986213"/>
            <a:ext cx="1964531" cy="696516"/>
          </a:xfrm>
          <a:prstGeom prst="roundRect">
            <a:avLst>
              <a:gd name="adj" fmla="val 21880"/>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7" name="Text 13"/>
          <p:cNvSpPr/>
          <p:nvPr/>
        </p:nvSpPr>
        <p:spPr>
          <a:xfrm>
            <a:off x="578644" y="4104084"/>
            <a:ext cx="1728788" cy="119015"/>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71717A"/>
                </a:solidFill>
                <a:latin typeface="Carlito" pitchFamily="34" charset="0"/>
                <a:ea typeface="Carlito" pitchFamily="34" charset="-122"/>
                <a:cs typeface="Carlito" pitchFamily="34" charset="-120"/>
              </a:rPr>
              <a:t>TEAM</a:t>
            </a:r>
            <a:endParaRPr lang="en-US" sz="800" dirty="0"/>
          </a:p>
        </p:txBody>
      </p:sp>
      <p:sp>
        <p:nvSpPr>
          <p:cNvPr id="18" name="Text 14"/>
          <p:cNvSpPr/>
          <p:nvPr/>
        </p:nvSpPr>
        <p:spPr>
          <a:xfrm>
            <a:off x="578644" y="4250531"/>
            <a:ext cx="1728787" cy="158306"/>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5F5F7"/>
                </a:solidFill>
                <a:latin typeface="Carlito" pitchFamily="34" charset="0"/>
                <a:ea typeface="Carlito" pitchFamily="34" charset="-122"/>
                <a:cs typeface="Carlito" pitchFamily="34" charset="-120"/>
              </a:rPr>
              <a:t>FinWise Builders</a:t>
            </a:r>
            <a:endParaRPr lang="en-US" sz="900" dirty="0"/>
          </a:p>
        </p:txBody>
      </p:sp>
      <p:sp>
        <p:nvSpPr>
          <p:cNvPr id="19" name="Text 15"/>
          <p:cNvSpPr/>
          <p:nvPr/>
        </p:nvSpPr>
        <p:spPr>
          <a:xfrm>
            <a:off x="578644" y="4436269"/>
            <a:ext cx="1728787" cy="128588"/>
          </a:xfrm>
          <a:prstGeom prst="rect">
            <a:avLst/>
          </a:prstGeom>
          <a:noFill/>
          <a:ln/>
        </p:spPr>
        <p:txBody>
          <a:bodyPr wrap="none" lIns="0" tIns="0" rIns="0" bIns="0" rtlCol="0" anchor="t"/>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Full-stack · AI · Design</a:t>
            </a:r>
            <a:endParaRPr lang="en-US" sz="800" dirty="0"/>
          </a:p>
        </p:txBody>
      </p:sp>
      <p:sp>
        <p:nvSpPr>
          <p:cNvPr id="20" name="Text 16"/>
          <p:cNvSpPr/>
          <p:nvPr/>
        </p:nvSpPr>
        <p:spPr>
          <a:xfrm>
            <a:off x="2546747" y="3986213"/>
            <a:ext cx="1964531" cy="696516"/>
          </a:xfrm>
          <a:prstGeom prst="roundRect">
            <a:avLst>
              <a:gd name="adj" fmla="val 21880"/>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21" name="Text 17"/>
          <p:cNvSpPr/>
          <p:nvPr/>
        </p:nvSpPr>
        <p:spPr>
          <a:xfrm>
            <a:off x="2664619" y="4104084"/>
            <a:ext cx="1728787" cy="119015"/>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71717A"/>
                </a:solidFill>
                <a:latin typeface="Carlito" pitchFamily="34" charset="0"/>
                <a:ea typeface="Carlito" pitchFamily="34" charset="-122"/>
                <a:cs typeface="Carlito" pitchFamily="34" charset="-120"/>
              </a:rPr>
              <a:t>STACK</a:t>
            </a:r>
            <a:endParaRPr lang="en-US" sz="800" dirty="0"/>
          </a:p>
        </p:txBody>
      </p:sp>
      <p:sp>
        <p:nvSpPr>
          <p:cNvPr id="22" name="Text 18"/>
          <p:cNvSpPr/>
          <p:nvPr/>
        </p:nvSpPr>
        <p:spPr>
          <a:xfrm>
            <a:off x="2664619" y="4250531"/>
            <a:ext cx="1728787" cy="158306"/>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5F5F7"/>
                </a:solidFill>
                <a:latin typeface="Liberation Sans Narrow" pitchFamily="34" charset="0"/>
                <a:ea typeface="Liberation Sans Narrow" pitchFamily="34" charset="-122"/>
                <a:cs typeface="Liberation Sans Narrow" pitchFamily="34" charset="-120"/>
              </a:rPr>
              <a:t>Next.js 16 · Prisma</a:t>
            </a:r>
            <a:endParaRPr lang="en-US" sz="900" dirty="0"/>
          </a:p>
        </p:txBody>
      </p:sp>
      <p:sp>
        <p:nvSpPr>
          <p:cNvPr id="23" name="Text 19"/>
          <p:cNvSpPr/>
          <p:nvPr/>
        </p:nvSpPr>
        <p:spPr>
          <a:xfrm>
            <a:off x="2664619" y="4436269"/>
            <a:ext cx="1728787" cy="128588"/>
          </a:xfrm>
          <a:prstGeom prst="rect">
            <a:avLst/>
          </a:prstGeom>
          <a:noFill/>
          <a:ln/>
        </p:spPr>
        <p:txBody>
          <a:bodyPr wrap="none" lIns="0" tIns="0" rIns="0" bIns="0" rtlCol="0" anchor="t"/>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TypeScript · Z.ai LLM</a:t>
            </a:r>
            <a:endParaRPr lang="en-US" sz="800" dirty="0"/>
          </a:p>
        </p:txBody>
      </p:sp>
      <p:sp>
        <p:nvSpPr>
          <p:cNvPr id="24" name="Text 20"/>
          <p:cNvSpPr/>
          <p:nvPr/>
        </p:nvSpPr>
        <p:spPr>
          <a:xfrm>
            <a:off x="4632722" y="3986213"/>
            <a:ext cx="1964531" cy="696516"/>
          </a:xfrm>
          <a:prstGeom prst="roundRect">
            <a:avLst>
              <a:gd name="adj" fmla="val 21880"/>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25" name="Text 21"/>
          <p:cNvSpPr/>
          <p:nvPr/>
        </p:nvSpPr>
        <p:spPr>
          <a:xfrm>
            <a:off x="4750594" y="4104084"/>
            <a:ext cx="1728787" cy="119015"/>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71717A"/>
                </a:solidFill>
                <a:latin typeface="Carlito" pitchFamily="34" charset="0"/>
                <a:ea typeface="Carlito" pitchFamily="34" charset="-122"/>
                <a:cs typeface="Carlito" pitchFamily="34" charset="-120"/>
              </a:rPr>
              <a:t>TRACK</a:t>
            </a:r>
            <a:endParaRPr lang="en-US" sz="800" dirty="0"/>
          </a:p>
        </p:txBody>
      </p:sp>
      <p:sp>
        <p:nvSpPr>
          <p:cNvPr id="26" name="Text 22"/>
          <p:cNvSpPr/>
          <p:nvPr/>
        </p:nvSpPr>
        <p:spPr>
          <a:xfrm>
            <a:off x="4750594" y="4250531"/>
            <a:ext cx="1728787" cy="158306"/>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5F5F7"/>
                </a:solidFill>
                <a:latin typeface="Carlito" pitchFamily="34" charset="0"/>
                <a:ea typeface="Carlito" pitchFamily="34" charset="-122"/>
                <a:cs typeface="Carlito" pitchFamily="34" charset="-120"/>
              </a:rPr>
              <a:t>PBCSF International</a:t>
            </a:r>
            <a:endParaRPr lang="en-US" sz="900" dirty="0"/>
          </a:p>
        </p:txBody>
      </p:sp>
      <p:sp>
        <p:nvSpPr>
          <p:cNvPr id="27" name="Text 23"/>
          <p:cNvSpPr/>
          <p:nvPr/>
        </p:nvSpPr>
        <p:spPr>
          <a:xfrm>
            <a:off x="4750594" y="4436269"/>
            <a:ext cx="1728787" cy="128588"/>
          </a:xfrm>
          <a:prstGeom prst="rect">
            <a:avLst/>
          </a:prstGeom>
          <a:noFill/>
          <a:ln/>
        </p:spPr>
        <p:txBody>
          <a:bodyPr wrap="none" lIns="0" tIns="0" rIns="0" bIns="0" rtlCol="0" anchor="t"/>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Topic A — Finance Agent</a:t>
            </a:r>
            <a:endParaRPr lang="en-US" sz="800" dirty="0"/>
          </a:p>
        </p:txBody>
      </p:sp>
      <p:pic>
        <p:nvPicPr>
          <p:cNvPr id="28" name="Image 2" descr="preencoded.png">    </p:cNvPr>
          <p:cNvPicPr>
            <a:picLocks noChangeAspect="1"/>
          </p:cNvPicPr>
          <p:nvPr/>
        </p:nvPicPr>
        <p:blipFill>
          <a:blip r:embed="rId3"/>
          <a:stretch>
            <a:fillRect/>
          </a:stretch>
        </p:blipFill>
        <p:spPr>
          <a:xfrm>
            <a:off x="6715125" y="3982641"/>
            <a:ext cx="1971675" cy="703659"/>
          </a:xfrm>
          <a:prstGeom prst="rect">
            <a:avLst/>
          </a:prstGeom>
        </p:spPr>
      </p:pic>
      <p:sp>
        <p:nvSpPr>
          <p:cNvPr id="29" name="Text 24"/>
          <p:cNvSpPr/>
          <p:nvPr/>
        </p:nvSpPr>
        <p:spPr>
          <a:xfrm>
            <a:off x="6718697" y="3986213"/>
            <a:ext cx="1964531" cy="696516"/>
          </a:xfrm>
          <a:prstGeom prst="roundRect">
            <a:avLst>
              <a:gd name="adj" fmla="val 21880"/>
            </a:avLst>
          </a:prstGeom>
          <a:noFill/>
          <a:ln w="7144">
            <a:solidFill>
              <a:srgbClr val="6366F1"/>
            </a:solidFill>
            <a:prstDash val="solid"/>
          </a:ln>
        </p:spPr>
        <p:txBody>
          <a:bodyPr wrap="square" rtlCol="0" anchor="ctr"/>
          <a:lstStyle/>
          <a:p>
            <a:pPr indent="0" marL="0">
              <a:buNone/>
            </a:pPr>
            <a:endParaRPr lang="en-US" dirty="0"/>
          </a:p>
        </p:txBody>
      </p:sp>
      <p:sp>
        <p:nvSpPr>
          <p:cNvPr id="30" name="Text 25"/>
          <p:cNvSpPr/>
          <p:nvPr/>
        </p:nvSpPr>
        <p:spPr>
          <a:xfrm>
            <a:off x="6836569" y="4104084"/>
            <a:ext cx="1728788" cy="119015"/>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818CF8"/>
                </a:solidFill>
                <a:latin typeface="Carlito" pitchFamily="34" charset="0"/>
                <a:ea typeface="Carlito" pitchFamily="34" charset="-122"/>
                <a:cs typeface="Carlito" pitchFamily="34" charset="-120"/>
              </a:rPr>
              <a:t>STATUS</a:t>
            </a:r>
            <a:endParaRPr lang="en-US" sz="800" dirty="0"/>
          </a:p>
        </p:txBody>
      </p:sp>
      <p:sp>
        <p:nvSpPr>
          <p:cNvPr id="31" name="Text 26"/>
          <p:cNvSpPr/>
          <p:nvPr/>
        </p:nvSpPr>
        <p:spPr>
          <a:xfrm>
            <a:off x="6836569" y="4250531"/>
            <a:ext cx="1728788" cy="158306"/>
          </a:xfrm>
          <a:prstGeom prst="rect">
            <a:avLst/>
          </a:prstGeom>
          <a:noFill/>
          <a:ln/>
        </p:spPr>
        <p:txBody>
          <a:bodyPr wrap="none" lIns="0" tIns="0" rIns="0" bIns="0" rtlCol="0" anchor="t">
            <a:normAutofit/>
          </a:bodyPr>
          <a:lstStyle/>
          <a:p>
            <a:pPr algn="l" indent="0" marL="0">
              <a:lnSpc>
                <a:spcPts val="1350"/>
              </a:lnSpc>
              <a:buNone/>
            </a:pPr>
            <a:r>
              <a:rPr lang="en-US" sz="900" b="1" dirty="0">
                <a:solidFill>
                  <a:srgbClr val="F5F5F7"/>
                </a:solidFill>
                <a:latin typeface="Carlito" pitchFamily="34" charset="0"/>
                <a:ea typeface="Carlito" pitchFamily="34" charset="-122"/>
                <a:cs typeface="Carlito" pitchFamily="34" charset="-120"/>
              </a:rPr>
              <a:t>Live &amp; Verified</a:t>
            </a:r>
            <a:endParaRPr lang="en-US" sz="900" dirty="0"/>
          </a:p>
        </p:txBody>
      </p:sp>
      <p:sp>
        <p:nvSpPr>
          <p:cNvPr id="32" name="Text 27"/>
          <p:cNvSpPr/>
          <p:nvPr/>
        </p:nvSpPr>
        <p:spPr>
          <a:xfrm>
            <a:off x="6836569" y="4436269"/>
            <a:ext cx="1728788" cy="128588"/>
          </a:xfrm>
          <a:prstGeom prst="rect">
            <a:avLst/>
          </a:prstGeom>
          <a:noFill/>
          <a:ln/>
        </p:spPr>
        <p:txBody>
          <a:bodyPr wrap="none" lIns="0" tIns="0" rIns="0" bIns="0" rtlCol="0" anchor="t"/>
          <a:lstStyle/>
          <a:p>
            <a:pPr algn="l" indent="0" marL="0">
              <a:lnSpc>
                <a:spcPts val="1013"/>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14 endpoints · 11 tools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302324"/>
            <a:ext cx="875444" cy="224028"/>
          </a:xfrm>
          <a:prstGeom prst="roundRect">
            <a:avLst>
              <a:gd name="adj" fmla="val 4247449"/>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3" name="Text 1"/>
          <p:cNvSpPr/>
          <p:nvPr/>
        </p:nvSpPr>
        <p:spPr>
          <a:xfrm>
            <a:off x="457200" y="314325"/>
            <a:ext cx="875444"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02 · PROBLEM</a:t>
            </a:r>
            <a:endParaRPr lang="en-US" sz="800" dirty="0"/>
          </a:p>
        </p:txBody>
      </p:sp>
      <p:sp>
        <p:nvSpPr>
          <p:cNvPr id="4" name="Text 2"/>
          <p:cNvSpPr/>
          <p:nvPr/>
        </p:nvSpPr>
        <p:spPr>
          <a:xfrm>
            <a:off x="1418369" y="350044"/>
            <a:ext cx="2039077"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WHY PERSONAL FINANCE IS HARD</a:t>
            </a:r>
            <a:endParaRPr lang="en-US" sz="800" dirty="0"/>
          </a:p>
        </p:txBody>
      </p:sp>
      <p:sp>
        <p:nvSpPr>
          <p:cNvPr id="5" name="Text 3"/>
          <p:cNvSpPr/>
          <p:nvPr/>
        </p:nvSpPr>
        <p:spPr>
          <a:xfrm>
            <a:off x="6276231" y="350044"/>
            <a:ext cx="2788573"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FINWISE · PERSONAL FINANCE INTELLIGENCE</a:t>
            </a:r>
            <a:endParaRPr lang="en-US" sz="800" dirty="0"/>
          </a:p>
        </p:txBody>
      </p:sp>
      <p:sp>
        <p:nvSpPr>
          <p:cNvPr id="6" name="Text 4"/>
          <p:cNvSpPr/>
          <p:nvPr/>
        </p:nvSpPr>
        <p:spPr>
          <a:xfrm>
            <a:off x="457200" y="785813"/>
            <a:ext cx="5728216" cy="164592"/>
          </a:xfrm>
          <a:prstGeom prst="rect">
            <a:avLst/>
          </a:prstGeom>
          <a:noFill/>
          <a:ln/>
        </p:spPr>
        <p:txBody>
          <a:bodyPr wrap="none" lIns="0" tIns="0" rIns="0" bIns="0" rtlCol="0" anchor="t"/>
          <a:lstStyle/>
          <a:p>
            <a:pPr algn="l" indent="0" marL="0">
              <a:lnSpc>
                <a:spcPts val="1013"/>
              </a:lnSpc>
              <a:buNone/>
            </a:pPr>
            <a:r>
              <a:rPr lang="en-US" sz="800" spc="122" kern="0" dirty="0">
                <a:solidFill>
                  <a:srgbClr val="818CF8"/>
                </a:solidFill>
                <a:latin typeface="Courier New" pitchFamily="34" charset="0"/>
                <a:ea typeface="Courier New" pitchFamily="34" charset="-122"/>
                <a:cs typeface="Courier New" pitchFamily="34" charset="-120"/>
              </a:rPr>
              <a:t>THE GAP</a:t>
            </a:r>
            <a:endParaRPr lang="en-US" sz="800" dirty="0"/>
          </a:p>
        </p:txBody>
      </p:sp>
      <p:sp>
        <p:nvSpPr>
          <p:cNvPr id="7" name="Text 5"/>
          <p:cNvSpPr/>
          <p:nvPr/>
        </p:nvSpPr>
        <p:spPr>
          <a:xfrm>
            <a:off x="457200" y="1000125"/>
            <a:ext cx="4400550" cy="907265"/>
          </a:xfrm>
          <a:prstGeom prst="rect">
            <a:avLst/>
          </a:prstGeom>
          <a:noFill/>
          <a:ln/>
        </p:spPr>
        <p:txBody>
          <a:bodyPr wrap="none" lIns="0" tIns="0" rIns="0" bIns="0" rtlCol="0" anchor="t"/>
          <a:lstStyle/>
          <a:p>
            <a:pPr algn="l" indent="0" marL="0">
              <a:lnSpc>
                <a:spcPts val="3307"/>
              </a:lnSpc>
              <a:buNone/>
            </a:pPr>
            <a:r>
              <a:rPr lang="en-US" sz="3150" b="1" spc="-79" kern="0" dirty="0">
                <a:solidFill>
                  <a:srgbClr val="FFFFFF"/>
                </a:solidFill>
                <a:latin typeface="Tinos" pitchFamily="34" charset="0"/>
                <a:ea typeface="Tinos" pitchFamily="34" charset="-122"/>
                <a:cs typeface="Tinos" pitchFamily="34" charset="-120"/>
              </a:rPr>
              <a:t>Money is easy to </a:t>
            </a:r>
            <a:pPr algn="l" indent="0" marL="0">
              <a:lnSpc>
                <a:spcPts val="3307"/>
              </a:lnSpc>
              <a:buNone/>
            </a:pPr>
            <a:r>
              <a:rPr lang="en-US" sz="3150" b="1" i="1" spc="-79" kern="0" dirty="0">
                <a:solidFill>
                  <a:srgbClr val="818CF8"/>
                </a:solidFill>
                <a:latin typeface="Tinos" pitchFamily="34" charset="0"/>
                <a:ea typeface="Tinos" pitchFamily="34" charset="-122"/>
                <a:cs typeface="Tinos" pitchFamily="34" charset="-120"/>
              </a:rPr>
              <a:t>track.</a:t>
            </a:r>
            <a:endParaRPr lang="en-US" sz="3150" dirty="0"/>
          </a:p>
          <a:p>
            <a:pPr algn="l" indent="0" marL="0">
              <a:lnSpc>
                <a:spcPts val="3307"/>
              </a:lnSpc>
              <a:buNone/>
            </a:pPr>
            <a:r>
              <a:rPr lang="en-US" sz="3150" b="1" spc="-79" kern="0" dirty="0">
                <a:solidFill>
                  <a:srgbClr val="FFFFFF"/>
                </a:solidFill>
                <a:latin typeface="Tinos" pitchFamily="34" charset="0"/>
                <a:ea typeface="Tinos" pitchFamily="34" charset="-122"/>
                <a:cs typeface="Tinos" pitchFamily="34" charset="-120"/>
              </a:rPr>
              <a:t>Hard to </a:t>
            </a:r>
            <a:pPr algn="l" indent="0" marL="0">
              <a:lnSpc>
                <a:spcPts val="3307"/>
              </a:lnSpc>
              <a:buNone/>
            </a:pPr>
            <a:r>
              <a:rPr lang="en-US" sz="3150" b="1" i="1" spc="-79" kern="0" dirty="0">
                <a:solidFill>
                  <a:srgbClr val="34D399"/>
                </a:solidFill>
                <a:latin typeface="Tinos" pitchFamily="34" charset="0"/>
                <a:ea typeface="Tinos" pitchFamily="34" charset="-122"/>
                <a:cs typeface="Tinos" pitchFamily="34" charset="-120"/>
              </a:rPr>
              <a:t>manage.</a:t>
            </a:r>
            <a:endParaRPr lang="en-US" sz="3150" dirty="0"/>
          </a:p>
        </p:txBody>
      </p:sp>
      <p:pic>
        <p:nvPicPr>
          <p:cNvPr id="8" name="Image 0" descr="preencoded.png">    </p:cNvPr>
          <p:cNvPicPr>
            <a:picLocks noChangeAspect="1"/>
          </p:cNvPicPr>
          <p:nvPr/>
        </p:nvPicPr>
        <p:blipFill>
          <a:blip r:embed="rId1"/>
          <a:stretch>
            <a:fillRect/>
          </a:stretch>
        </p:blipFill>
        <p:spPr>
          <a:xfrm>
            <a:off x="457200" y="2011635"/>
            <a:ext cx="342900" cy="21431"/>
          </a:xfrm>
          <a:prstGeom prst="rect">
            <a:avLst/>
          </a:prstGeom>
        </p:spPr>
      </p:pic>
      <p:sp>
        <p:nvSpPr>
          <p:cNvPr id="9" name="Text 6"/>
          <p:cNvSpPr/>
          <p:nvPr/>
        </p:nvSpPr>
        <p:spPr>
          <a:xfrm>
            <a:off x="457200" y="2204517"/>
            <a:ext cx="4000500" cy="839033"/>
          </a:xfrm>
          <a:prstGeom prst="rect">
            <a:avLst/>
          </a:prstGeom>
          <a:noFill/>
          <a:ln/>
        </p:spPr>
        <p:txBody>
          <a:bodyPr wrap="square" lIns="0" tIns="0" rIns="0" bIns="0" rtlCol="0" anchor="t"/>
          <a:lstStyle/>
          <a:p>
            <a:pPr algn="l" indent="0" marL="0">
              <a:lnSpc>
                <a:spcPts val="1530"/>
              </a:lnSpc>
              <a:buNone/>
            </a:pPr>
            <a:r>
              <a:rPr lang="en-US" sz="956" dirty="0">
                <a:solidFill>
                  <a:srgbClr val="A1A1AA"/>
                </a:solidFill>
                <a:latin typeface="Carlito" pitchFamily="34" charset="0"/>
                <a:ea typeface="Carlito" pitchFamily="34" charset="-122"/>
                <a:cs typeface="Carlito" pitchFamily="34" charset="-120"/>
              </a:rPr>
              <a:t>Existing apps are </a:t>
            </a:r>
            <a:pPr algn="l" indent="0" marL="0">
              <a:lnSpc>
                <a:spcPts val="1530"/>
              </a:lnSpc>
              <a:buNone/>
            </a:pPr>
            <a:r>
              <a:rPr lang="en-US" sz="956" dirty="0">
                <a:solidFill>
                  <a:srgbClr val="F5F5F7"/>
                </a:solidFill>
                <a:latin typeface="Carlito" pitchFamily="34" charset="0"/>
                <a:ea typeface="Carlito" pitchFamily="34" charset="-122"/>
                <a:cs typeface="Carlito" pitchFamily="34" charset="-120"/>
              </a:rPr>
              <a:t>passive dashboards</a:t>
            </a:r>
            <a:pPr algn="l" indent="0" marL="0">
              <a:lnSpc>
                <a:spcPts val="1530"/>
              </a:lnSpc>
              <a:buNone/>
            </a:pPr>
            <a:r>
              <a:rPr lang="en-US" sz="956" dirty="0">
                <a:solidFill>
                  <a:srgbClr val="A1A1AA"/>
                </a:solidFill>
                <a:latin typeface="Carlito" pitchFamily="34" charset="0"/>
                <a:ea typeface="Carlito" pitchFamily="34" charset="-122"/>
                <a:cs typeface="Carlito" pitchFamily="34" charset="-120"/>
              </a:rPr>
              <a:t>. They render charts of what already happened — they don't reason, don't plan, and don't act. Users are left to do the cognitive work themselves: categorize, forecast, decide, and follow through.</a:t>
            </a:r>
            <a:endParaRPr lang="en-US" sz="956" dirty="0"/>
          </a:p>
        </p:txBody>
      </p:sp>
      <p:sp>
        <p:nvSpPr>
          <p:cNvPr id="10" name="Text 7"/>
          <p:cNvSpPr/>
          <p:nvPr/>
        </p:nvSpPr>
        <p:spPr>
          <a:xfrm>
            <a:off x="457200" y="3167137"/>
            <a:ext cx="142875" cy="142875"/>
          </a:xfrm>
          <a:prstGeom prst="rect">
            <a:avLst/>
          </a:prstGeom>
          <a:noFill/>
          <a:ln/>
        </p:spPr>
        <p:txBody>
          <a:bodyPr wrap="none" lIns="0" tIns="0" rIns="0" bIns="0" rtlCol="0" anchor="ctr"/>
          <a:lstStyle/>
          <a:p>
            <a:pPr algn="ctr" indent="0" marL="0">
              <a:buNone/>
            </a:pPr>
            <a:r>
              <a:rPr lang="en-US" sz="1406" dirty="0">
                <a:solidFill>
                  <a:srgbClr val="F43F5E"/>
                </a:solidFill>
                <a:latin typeface="Segoe UI Symbol" pitchFamily="34" charset="0"/>
                <a:ea typeface="Segoe UI Symbol" pitchFamily="34" charset="-122"/>
                <a:cs typeface="Segoe UI Symbol" pitchFamily="34" charset="-120"/>
              </a:rPr>
              <a:t>⊖</a:t>
            </a:r>
            <a:endParaRPr lang="en-US" sz="1406" dirty="0"/>
          </a:p>
        </p:txBody>
      </p:sp>
      <p:sp>
        <p:nvSpPr>
          <p:cNvPr id="11" name="Text 8"/>
          <p:cNvSpPr/>
          <p:nvPr/>
        </p:nvSpPr>
        <p:spPr>
          <a:xfrm>
            <a:off x="685800" y="3152849"/>
            <a:ext cx="1852504" cy="133302"/>
          </a:xfrm>
          <a:prstGeom prst="rect">
            <a:avLst/>
          </a:prstGeom>
          <a:noFill/>
          <a:ln/>
        </p:spPr>
        <p:txBody>
          <a:bodyPr wrap="square" lIns="0" tIns="0" rIns="0" bIns="0" rtlCol="0" anchor="t">
            <a:normAutofit/>
          </a:bodyPr>
          <a:lstStyle/>
          <a:p>
            <a:pPr algn="l" indent="0" marL="0">
              <a:lnSpc>
                <a:spcPts val="1266"/>
              </a:lnSpc>
              <a:buNone/>
            </a:pPr>
            <a:r>
              <a:rPr lang="en-US" sz="844" dirty="0">
                <a:solidFill>
                  <a:srgbClr val="F5F5F7"/>
                </a:solidFill>
                <a:latin typeface="Carlito" pitchFamily="34" charset="0"/>
                <a:ea typeface="Carlito" pitchFamily="34" charset="-122"/>
                <a:cs typeface="Carlito" pitchFamily="34" charset="-120"/>
              </a:rPr>
              <a:t>Manual categorization drifts</a:t>
            </a:r>
            <a:endParaRPr lang="en-US" sz="844" dirty="0"/>
          </a:p>
        </p:txBody>
      </p:sp>
      <p:sp>
        <p:nvSpPr>
          <p:cNvPr id="12" name="Text 9"/>
          <p:cNvSpPr/>
          <p:nvPr/>
        </p:nvSpPr>
        <p:spPr>
          <a:xfrm>
            <a:off x="685800" y="3313584"/>
            <a:ext cx="1852504" cy="164592"/>
          </a:xfrm>
          <a:prstGeom prst="rect">
            <a:avLst/>
          </a:prstGeom>
          <a:noFill/>
          <a:ln/>
        </p:spPr>
        <p:txBody>
          <a:bodyPr wrap="square" lIns="0" tIns="0" rIns="0" bIns="0" rtlCol="0" anchor="t"/>
          <a:lstStyle/>
          <a:p>
            <a:pPr algn="l" indent="0" marL="0">
              <a:lnSpc>
                <a:spcPts val="1097"/>
              </a:lnSpc>
              <a:buNone/>
            </a:pPr>
            <a:r>
              <a:rPr lang="en-US" sz="731" dirty="0">
                <a:solidFill>
                  <a:srgbClr val="A1A1AA"/>
                </a:solidFill>
                <a:latin typeface="Carlito" pitchFamily="34" charset="0"/>
                <a:ea typeface="Carlito" pitchFamily="34" charset="-122"/>
                <a:cs typeface="Carlito" pitchFamily="34" charset="-120"/>
              </a:rPr>
              <a:t>Rules break; budgets silently leak.</a:t>
            </a:r>
            <a:endParaRPr lang="en-US" sz="731" dirty="0"/>
          </a:p>
        </p:txBody>
      </p:sp>
      <p:sp>
        <p:nvSpPr>
          <p:cNvPr id="13" name="Text 10"/>
          <p:cNvSpPr/>
          <p:nvPr/>
        </p:nvSpPr>
        <p:spPr>
          <a:xfrm>
            <a:off x="457200" y="3552899"/>
            <a:ext cx="142875" cy="142875"/>
          </a:xfrm>
          <a:prstGeom prst="rect">
            <a:avLst/>
          </a:prstGeom>
          <a:noFill/>
          <a:ln/>
        </p:spPr>
        <p:txBody>
          <a:bodyPr wrap="none" lIns="0" tIns="0" rIns="0" bIns="0" rtlCol="0" anchor="ctr"/>
          <a:lstStyle/>
          <a:p>
            <a:pPr algn="ctr" indent="0" marL="0">
              <a:buNone/>
            </a:pPr>
            <a:r>
              <a:rPr lang="en-US" sz="1406" dirty="0">
                <a:solidFill>
                  <a:srgbClr val="F43F5E"/>
                </a:solidFill>
                <a:latin typeface="Segoe UI Symbol" pitchFamily="34" charset="0"/>
                <a:ea typeface="Segoe UI Symbol" pitchFamily="34" charset="-122"/>
                <a:cs typeface="Segoe UI Symbol" pitchFamily="34" charset="-120"/>
              </a:rPr>
              <a:t>⊖</a:t>
            </a:r>
            <a:endParaRPr lang="en-US" sz="1406" dirty="0"/>
          </a:p>
        </p:txBody>
      </p:sp>
      <p:sp>
        <p:nvSpPr>
          <p:cNvPr id="14" name="Text 11"/>
          <p:cNvSpPr/>
          <p:nvPr/>
        </p:nvSpPr>
        <p:spPr>
          <a:xfrm>
            <a:off x="685800" y="3538612"/>
            <a:ext cx="2232962" cy="133302"/>
          </a:xfrm>
          <a:prstGeom prst="rect">
            <a:avLst/>
          </a:prstGeom>
          <a:noFill/>
          <a:ln/>
        </p:spPr>
        <p:txBody>
          <a:bodyPr wrap="square" lIns="0" tIns="0" rIns="0" bIns="0" rtlCol="0" anchor="t">
            <a:normAutofit/>
          </a:bodyPr>
          <a:lstStyle/>
          <a:p>
            <a:pPr algn="l" indent="0" marL="0">
              <a:lnSpc>
                <a:spcPts val="1266"/>
              </a:lnSpc>
              <a:buNone/>
            </a:pPr>
            <a:r>
              <a:rPr lang="en-US" sz="844" dirty="0">
                <a:solidFill>
                  <a:srgbClr val="F5F5F7"/>
                </a:solidFill>
                <a:latin typeface="Carlito" pitchFamily="34" charset="0"/>
                <a:ea typeface="Carlito" pitchFamily="34" charset="-122"/>
                <a:cs typeface="Carlito" pitchFamily="34" charset="-120"/>
              </a:rPr>
              <a:t>Forecasts are absent or naive</a:t>
            </a:r>
            <a:endParaRPr lang="en-US" sz="844" dirty="0"/>
          </a:p>
        </p:txBody>
      </p:sp>
      <p:sp>
        <p:nvSpPr>
          <p:cNvPr id="15" name="Text 12"/>
          <p:cNvSpPr/>
          <p:nvPr/>
        </p:nvSpPr>
        <p:spPr>
          <a:xfrm>
            <a:off x="685800" y="3699346"/>
            <a:ext cx="2232962" cy="164592"/>
          </a:xfrm>
          <a:prstGeom prst="rect">
            <a:avLst/>
          </a:prstGeom>
          <a:noFill/>
          <a:ln/>
        </p:spPr>
        <p:txBody>
          <a:bodyPr wrap="square" lIns="0" tIns="0" rIns="0" bIns="0" rtlCol="0" anchor="t"/>
          <a:lstStyle/>
          <a:p>
            <a:pPr algn="l" indent="0" marL="0">
              <a:lnSpc>
                <a:spcPts val="1097"/>
              </a:lnSpc>
              <a:buNone/>
            </a:pPr>
            <a:r>
              <a:rPr lang="en-US" sz="731" dirty="0">
                <a:solidFill>
                  <a:srgbClr val="A1A1AA"/>
                </a:solidFill>
                <a:latin typeface="Carlito" pitchFamily="34" charset="0"/>
                <a:ea typeface="Carlito" pitchFamily="34" charset="-122"/>
                <a:cs typeface="Carlito" pitchFamily="34" charset="-120"/>
              </a:rPr>
              <a:t>No cash-flow projection, no scenario testing.</a:t>
            </a:r>
            <a:endParaRPr lang="en-US" sz="731" dirty="0"/>
          </a:p>
        </p:txBody>
      </p:sp>
      <p:sp>
        <p:nvSpPr>
          <p:cNvPr id="16" name="Text 13"/>
          <p:cNvSpPr/>
          <p:nvPr/>
        </p:nvSpPr>
        <p:spPr>
          <a:xfrm>
            <a:off x="457200" y="3938662"/>
            <a:ext cx="142875" cy="142875"/>
          </a:xfrm>
          <a:prstGeom prst="rect">
            <a:avLst/>
          </a:prstGeom>
          <a:noFill/>
          <a:ln/>
        </p:spPr>
        <p:txBody>
          <a:bodyPr wrap="none" lIns="0" tIns="0" rIns="0" bIns="0" rtlCol="0" anchor="ctr"/>
          <a:lstStyle/>
          <a:p>
            <a:pPr algn="ctr" indent="0" marL="0">
              <a:buNone/>
            </a:pPr>
            <a:r>
              <a:rPr lang="en-US" sz="1406" dirty="0">
                <a:solidFill>
                  <a:srgbClr val="F43F5E"/>
                </a:solidFill>
                <a:latin typeface="Segoe UI Symbol" pitchFamily="34" charset="0"/>
                <a:ea typeface="Segoe UI Symbol" pitchFamily="34" charset="-122"/>
                <a:cs typeface="Segoe UI Symbol" pitchFamily="34" charset="-120"/>
              </a:rPr>
              <a:t>⊖</a:t>
            </a:r>
            <a:endParaRPr lang="en-US" sz="1406" dirty="0"/>
          </a:p>
        </p:txBody>
      </p:sp>
      <p:sp>
        <p:nvSpPr>
          <p:cNvPr id="17" name="Text 14"/>
          <p:cNvSpPr/>
          <p:nvPr/>
        </p:nvSpPr>
        <p:spPr>
          <a:xfrm>
            <a:off x="685800" y="3924374"/>
            <a:ext cx="2196917" cy="133302"/>
          </a:xfrm>
          <a:prstGeom prst="rect">
            <a:avLst/>
          </a:prstGeom>
          <a:noFill/>
          <a:ln/>
        </p:spPr>
        <p:txBody>
          <a:bodyPr wrap="square" lIns="0" tIns="0" rIns="0" bIns="0" rtlCol="0" anchor="t">
            <a:normAutofit/>
          </a:bodyPr>
          <a:lstStyle/>
          <a:p>
            <a:pPr algn="l" indent="0" marL="0">
              <a:lnSpc>
                <a:spcPts val="1266"/>
              </a:lnSpc>
              <a:buNone/>
            </a:pPr>
            <a:r>
              <a:rPr lang="en-US" sz="844" dirty="0">
                <a:solidFill>
                  <a:srgbClr val="F5F5F7"/>
                </a:solidFill>
                <a:latin typeface="Carlito" pitchFamily="34" charset="0"/>
                <a:ea typeface="Carlito" pitchFamily="34" charset="-122"/>
                <a:cs typeface="Carlito" pitchFamily="34" charset="-120"/>
              </a:rPr>
              <a:t>No safe actions, only suggestions</a:t>
            </a:r>
            <a:endParaRPr lang="en-US" sz="844" dirty="0"/>
          </a:p>
        </p:txBody>
      </p:sp>
      <p:sp>
        <p:nvSpPr>
          <p:cNvPr id="18" name="Text 15"/>
          <p:cNvSpPr/>
          <p:nvPr/>
        </p:nvSpPr>
        <p:spPr>
          <a:xfrm>
            <a:off x="685800" y="4085109"/>
            <a:ext cx="2196917" cy="164592"/>
          </a:xfrm>
          <a:prstGeom prst="rect">
            <a:avLst/>
          </a:prstGeom>
          <a:noFill/>
          <a:ln/>
        </p:spPr>
        <p:txBody>
          <a:bodyPr wrap="square" lIns="0" tIns="0" rIns="0" bIns="0" rtlCol="0" anchor="t"/>
          <a:lstStyle/>
          <a:p>
            <a:pPr algn="l" indent="0" marL="0">
              <a:lnSpc>
                <a:spcPts val="1097"/>
              </a:lnSpc>
              <a:buNone/>
            </a:pPr>
            <a:r>
              <a:rPr lang="en-US" sz="731" dirty="0">
                <a:solidFill>
                  <a:srgbClr val="A1A1AA"/>
                </a:solidFill>
                <a:latin typeface="Carlito" pitchFamily="34" charset="0"/>
                <a:ea typeface="Carlito" pitchFamily="34" charset="-122"/>
                <a:cs typeface="Carlito" pitchFamily="34" charset="-120"/>
              </a:rPr>
              <a:t>You read advice. Then you do all the work.</a:t>
            </a:r>
            <a:endParaRPr lang="en-US" sz="731" dirty="0"/>
          </a:p>
        </p:txBody>
      </p:sp>
      <p:pic>
        <p:nvPicPr>
          <p:cNvPr id="19" name="Image 1" descr="preencoded.png">    </p:cNvPr>
          <p:cNvPicPr>
            <a:picLocks noChangeAspect="1"/>
          </p:cNvPicPr>
          <p:nvPr/>
        </p:nvPicPr>
        <p:blipFill>
          <a:blip r:embed="rId2"/>
          <a:stretch>
            <a:fillRect/>
          </a:stretch>
        </p:blipFill>
        <p:spPr>
          <a:xfrm>
            <a:off x="4686300" y="785813"/>
            <a:ext cx="4000500" cy="2014538"/>
          </a:xfrm>
          <a:prstGeom prst="rect">
            <a:avLst/>
          </a:prstGeom>
        </p:spPr>
      </p:pic>
      <p:sp>
        <p:nvSpPr>
          <p:cNvPr id="20" name="Text 16"/>
          <p:cNvSpPr/>
          <p:nvPr/>
        </p:nvSpPr>
        <p:spPr>
          <a:xfrm>
            <a:off x="4689872" y="789384"/>
            <a:ext cx="3993356" cy="2007394"/>
          </a:xfrm>
          <a:prstGeom prst="roundRect">
            <a:avLst>
              <a:gd name="adj" fmla="val 8541"/>
            </a:avLst>
          </a:prstGeom>
          <a:noFill/>
          <a:ln w="7144">
            <a:solidFill>
              <a:srgbClr val="F43F5E"/>
            </a:solidFill>
            <a:prstDash val="solid"/>
          </a:ln>
        </p:spPr>
        <p:txBody>
          <a:bodyPr wrap="square" rtlCol="0" anchor="ctr"/>
          <a:lstStyle/>
          <a:p>
            <a:pPr indent="0" marL="0">
              <a:buNone/>
            </a:pPr>
            <a:endParaRPr lang="en-US" dirty="0"/>
          </a:p>
        </p:txBody>
      </p:sp>
      <p:sp>
        <p:nvSpPr>
          <p:cNvPr id="21" name="Text 17"/>
          <p:cNvSpPr/>
          <p:nvPr/>
        </p:nvSpPr>
        <p:spPr>
          <a:xfrm>
            <a:off x="4864894" y="964406"/>
            <a:ext cx="3471863" cy="164592"/>
          </a:xfrm>
          <a:prstGeom prst="rect">
            <a:avLst/>
          </a:prstGeom>
          <a:noFill/>
          <a:ln/>
        </p:spPr>
        <p:txBody>
          <a:bodyPr wrap="square" lIns="0" tIns="0" rIns="0" bIns="0" rtlCol="0" anchor="t"/>
          <a:lstStyle/>
          <a:p>
            <a:pPr algn="l" indent="0" marL="0">
              <a:lnSpc>
                <a:spcPts val="928"/>
              </a:lnSpc>
              <a:buNone/>
            </a:pPr>
            <a:r>
              <a:rPr lang="en-US" sz="800" spc="99" kern="0" dirty="0">
                <a:solidFill>
                  <a:srgbClr val="71717A"/>
                </a:solidFill>
                <a:latin typeface="Carlito" pitchFamily="34" charset="0"/>
                <a:ea typeface="Carlito" pitchFamily="34" charset="-122"/>
                <a:cs typeface="Carlito" pitchFamily="34" charset="-120"/>
              </a:rPr>
              <a:t>LIVING PAYCHECK TO PAYCHECK</a:t>
            </a:r>
            <a:endParaRPr lang="en-US" sz="800" dirty="0"/>
          </a:p>
        </p:txBody>
      </p:sp>
      <p:sp>
        <p:nvSpPr>
          <p:cNvPr id="22" name="Text 18"/>
          <p:cNvSpPr/>
          <p:nvPr/>
        </p:nvSpPr>
        <p:spPr>
          <a:xfrm>
            <a:off x="8351044" y="964406"/>
            <a:ext cx="157163" cy="157163"/>
          </a:xfrm>
          <a:prstGeom prst="rect">
            <a:avLst/>
          </a:prstGeom>
          <a:noFill/>
          <a:ln/>
        </p:spPr>
        <p:txBody>
          <a:bodyPr wrap="none" lIns="0" tIns="0" rIns="0" bIns="0" rtlCol="0" anchor="ctr"/>
          <a:lstStyle/>
          <a:p>
            <a:pPr algn="ctr" indent="0" marL="0">
              <a:buNone/>
            </a:pPr>
            <a:r>
              <a:rPr lang="en-US" sz="1547" dirty="0">
                <a:solidFill>
                  <a:srgbClr val="F43F5E"/>
                </a:solidFill>
                <a:latin typeface="Segoe UI Symbol" pitchFamily="34" charset="0"/>
                <a:ea typeface="Segoe UI Symbol" pitchFamily="34" charset="-122"/>
                <a:cs typeface="Segoe UI Symbol" pitchFamily="34" charset="-120"/>
              </a:rPr>
              <a:t>↘</a:t>
            </a:r>
            <a:endParaRPr lang="en-US" sz="1547" dirty="0"/>
          </a:p>
        </p:txBody>
      </p:sp>
      <p:sp>
        <p:nvSpPr>
          <p:cNvPr id="23" name="Text 19"/>
          <p:cNvSpPr/>
          <p:nvPr/>
        </p:nvSpPr>
        <p:spPr>
          <a:xfrm>
            <a:off x="4864894" y="1395933"/>
            <a:ext cx="3643313" cy="666851"/>
          </a:xfrm>
          <a:prstGeom prst="rect">
            <a:avLst/>
          </a:prstGeom>
          <a:noFill/>
          <a:ln/>
        </p:spPr>
        <p:txBody>
          <a:bodyPr wrap="none" lIns="0" tIns="0" rIns="0" bIns="0" rtlCol="0" anchor="t">
            <a:normAutofit/>
          </a:bodyPr>
          <a:lstStyle/>
          <a:p>
            <a:pPr algn="l" indent="0" marL="0">
              <a:lnSpc>
                <a:spcPts val="5130"/>
              </a:lnSpc>
              <a:buNone/>
            </a:pPr>
            <a:r>
              <a:rPr lang="en-US" sz="5400" b="1" spc="-216" kern="0" dirty="0">
                <a:solidFill>
                  <a:srgbClr val="F43F5E"/>
                </a:solidFill>
                <a:latin typeface="Liberation Sans Narrow" pitchFamily="34" charset="0"/>
                <a:ea typeface="Liberation Sans Narrow" pitchFamily="34" charset="-122"/>
                <a:cs typeface="Liberation Sans Narrow" pitchFamily="34" charset="-120"/>
              </a:rPr>
              <a:t>70</a:t>
            </a:r>
            <a:pPr algn="l" indent="0" marL="0">
              <a:lnSpc>
                <a:spcPts val="5130"/>
              </a:lnSpc>
              <a:buNone/>
            </a:pPr>
            <a:r>
              <a:rPr lang="en-US" sz="3150" b="1" spc="-216" kern="0" dirty="0">
                <a:solidFill>
                  <a:srgbClr val="A1A1AA"/>
                </a:solidFill>
                <a:latin typeface="Carlito" pitchFamily="34" charset="0"/>
                <a:ea typeface="Carlito" pitchFamily="34" charset="-122"/>
                <a:cs typeface="Carlito" pitchFamily="34" charset="-120"/>
              </a:rPr>
              <a:t>%</a:t>
            </a:r>
            <a:endParaRPr lang="en-US" sz="5400" dirty="0"/>
          </a:p>
        </p:txBody>
      </p:sp>
      <p:sp>
        <p:nvSpPr>
          <p:cNvPr id="24" name="Text 20"/>
          <p:cNvSpPr/>
          <p:nvPr/>
        </p:nvSpPr>
        <p:spPr>
          <a:xfrm>
            <a:off x="4864894" y="2090217"/>
            <a:ext cx="3643313" cy="164592"/>
          </a:xfrm>
          <a:prstGeom prst="rect">
            <a:avLst/>
          </a:prstGeom>
          <a:noFill/>
          <a:ln/>
        </p:spPr>
        <p:txBody>
          <a:bodyPr wrap="square" lIns="0" tIns="0" rIns="0" bIns="0" rtlCol="0" anchor="t"/>
          <a:lstStyle/>
          <a:p>
            <a:pPr algn="l" indent="0" marL="0">
              <a:lnSpc>
                <a:spcPts val="1097"/>
              </a:lnSpc>
              <a:buNone/>
            </a:pPr>
            <a:r>
              <a:rPr lang="en-US" sz="800" dirty="0">
                <a:solidFill>
                  <a:srgbClr val="A1A1AA"/>
                </a:solidFill>
                <a:latin typeface="Carlito" pitchFamily="34" charset="0"/>
                <a:ea typeface="Carlito" pitchFamily="34" charset="-122"/>
                <a:cs typeface="Carlito" pitchFamily="34" charset="-120"/>
              </a:rPr>
              <a:t>of Americans — including many in higher income brackets.</a:t>
            </a:r>
            <a:endParaRPr lang="en-US" sz="800" dirty="0"/>
          </a:p>
        </p:txBody>
      </p:sp>
      <p:sp>
        <p:nvSpPr>
          <p:cNvPr id="25" name="Text 21"/>
          <p:cNvSpPr/>
          <p:nvPr/>
        </p:nvSpPr>
        <p:spPr>
          <a:xfrm>
            <a:off x="4864894" y="2503884"/>
            <a:ext cx="3753040" cy="117872"/>
          </a:xfrm>
          <a:prstGeom prst="rect">
            <a:avLst/>
          </a:prstGeom>
          <a:noFill/>
          <a:ln/>
        </p:spPr>
        <p:txBody>
          <a:bodyPr wrap="square" lIns="0" tIns="0" rIns="0" bIns="0" rtlCol="0" anchor="t"/>
          <a:lstStyle/>
          <a:p>
            <a:pPr algn="l" indent="0" marL="0">
              <a:lnSpc>
                <a:spcPts val="928"/>
              </a:lnSpc>
              <a:buNone/>
            </a:pPr>
            <a:r>
              <a:rPr lang="en-US" sz="800" dirty="0">
                <a:solidFill>
                  <a:srgbClr val="52525B"/>
                </a:solidFill>
                <a:latin typeface="Courier New" pitchFamily="34" charset="0"/>
                <a:ea typeface="Courier New" pitchFamily="34" charset="-122"/>
                <a:cs typeface="Courier New" pitchFamily="34" charset="-120"/>
              </a:rPr>
              <a:t>Source: LendingClub · PYMNTS report, 2024</a:t>
            </a:r>
            <a:endParaRPr lang="en-US" sz="800" dirty="0"/>
          </a:p>
        </p:txBody>
      </p:sp>
      <p:pic>
        <p:nvPicPr>
          <p:cNvPr id="26" name="Image 2" descr="preencoded.png">    </p:cNvPr>
          <p:cNvPicPr>
            <a:picLocks noChangeAspect="1"/>
          </p:cNvPicPr>
          <p:nvPr/>
        </p:nvPicPr>
        <p:blipFill>
          <a:blip r:embed="rId3"/>
          <a:stretch>
            <a:fillRect/>
          </a:stretch>
        </p:blipFill>
        <p:spPr>
          <a:xfrm>
            <a:off x="4686300" y="2914650"/>
            <a:ext cx="1943100" cy="1657350"/>
          </a:xfrm>
          <a:prstGeom prst="rect">
            <a:avLst/>
          </a:prstGeom>
        </p:spPr>
      </p:pic>
      <p:sp>
        <p:nvSpPr>
          <p:cNvPr id="27" name="Text 22"/>
          <p:cNvSpPr/>
          <p:nvPr/>
        </p:nvSpPr>
        <p:spPr>
          <a:xfrm>
            <a:off x="4689872" y="2918222"/>
            <a:ext cx="1935956" cy="1650206"/>
          </a:xfrm>
          <a:prstGeom prst="roundRect">
            <a:avLst>
              <a:gd name="adj" fmla="val 10390"/>
            </a:avLst>
          </a:prstGeom>
          <a:noFill/>
          <a:ln w="7144">
            <a:solidFill>
              <a:srgbClr val="FFFFFF"/>
            </a:solidFill>
            <a:prstDash val="solid"/>
          </a:ln>
        </p:spPr>
        <p:txBody>
          <a:bodyPr wrap="square" rtlCol="0" anchor="ctr"/>
          <a:lstStyle/>
          <a:p>
            <a:pPr indent="0" marL="0">
              <a:buNone/>
            </a:pPr>
            <a:endParaRPr lang="en-US" dirty="0"/>
          </a:p>
        </p:txBody>
      </p:sp>
      <p:sp>
        <p:nvSpPr>
          <p:cNvPr id="28" name="Text 23"/>
          <p:cNvSpPr/>
          <p:nvPr/>
        </p:nvSpPr>
        <p:spPr>
          <a:xfrm>
            <a:off x="4836319" y="3064669"/>
            <a:ext cx="164306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Carlito" pitchFamily="34" charset="0"/>
                <a:ea typeface="Carlito" pitchFamily="34" charset="-122"/>
                <a:cs typeface="Carlito" pitchFamily="34" charset="-120"/>
              </a:rPr>
              <a:t>CITE FINANCE STRESS</a:t>
            </a:r>
            <a:endParaRPr lang="en-US" sz="800" dirty="0"/>
          </a:p>
        </p:txBody>
      </p:sp>
      <p:sp>
        <p:nvSpPr>
          <p:cNvPr id="29" name="Text 24"/>
          <p:cNvSpPr/>
          <p:nvPr/>
        </p:nvSpPr>
        <p:spPr>
          <a:xfrm>
            <a:off x="4836319" y="3482243"/>
            <a:ext cx="1643063" cy="432054"/>
          </a:xfrm>
          <a:prstGeom prst="rect">
            <a:avLst/>
          </a:prstGeom>
          <a:noFill/>
          <a:ln/>
        </p:spPr>
        <p:txBody>
          <a:bodyPr wrap="none" lIns="0" tIns="0" rIns="0" bIns="0" rtlCol="0" anchor="t"/>
          <a:lstStyle/>
          <a:p>
            <a:pPr algn="l" indent="0" marL="0">
              <a:lnSpc>
                <a:spcPts val="3150"/>
              </a:lnSpc>
              <a:buNone/>
            </a:pPr>
            <a:r>
              <a:rPr lang="en-US" sz="3150" b="1" spc="-94" kern="0" dirty="0">
                <a:solidFill>
                  <a:srgbClr val="F59E0B"/>
                </a:solidFill>
                <a:latin typeface="Liberation Sans Narrow" pitchFamily="34" charset="0"/>
                <a:ea typeface="Liberation Sans Narrow" pitchFamily="34" charset="-122"/>
                <a:cs typeface="Liberation Sans Narrow" pitchFamily="34" charset="-120"/>
              </a:rPr>
              <a:t>72</a:t>
            </a:r>
            <a:pPr algn="l" indent="0" marL="0">
              <a:lnSpc>
                <a:spcPts val="3150"/>
              </a:lnSpc>
              <a:buNone/>
            </a:pPr>
            <a:r>
              <a:rPr lang="en-US" sz="1800" b="1" spc="-94" kern="0" dirty="0">
                <a:solidFill>
                  <a:srgbClr val="A1A1AA"/>
                </a:solidFill>
                <a:latin typeface="Carlito" pitchFamily="34" charset="0"/>
                <a:ea typeface="Carlito" pitchFamily="34" charset="-122"/>
                <a:cs typeface="Carlito" pitchFamily="34" charset="-120"/>
              </a:rPr>
              <a:t>%</a:t>
            </a:r>
            <a:endParaRPr lang="en-US" sz="3150" dirty="0"/>
          </a:p>
        </p:txBody>
      </p:sp>
      <p:sp>
        <p:nvSpPr>
          <p:cNvPr id="30" name="Text 25"/>
          <p:cNvSpPr/>
          <p:nvPr/>
        </p:nvSpPr>
        <p:spPr>
          <a:xfrm>
            <a:off x="4836319" y="4181996"/>
            <a:ext cx="1643063" cy="239985"/>
          </a:xfrm>
          <a:prstGeom prst="rect">
            <a:avLst/>
          </a:prstGeom>
          <a:noFill/>
          <a:ln/>
        </p:spPr>
        <p:txBody>
          <a:bodyPr wrap="square" lIns="0" tIns="0" rIns="0" bIns="0" rtlCol="0" anchor="t"/>
          <a:lstStyle/>
          <a:p>
            <a:pPr algn="l" indent="0" marL="0">
              <a:lnSpc>
                <a:spcPts val="945"/>
              </a:lnSpc>
              <a:buNone/>
            </a:pPr>
            <a:r>
              <a:rPr lang="en-US" sz="800" dirty="0">
                <a:solidFill>
                  <a:srgbClr val="A1A1AA"/>
                </a:solidFill>
                <a:latin typeface="Carlito" pitchFamily="34" charset="0"/>
                <a:ea typeface="Carlito" pitchFamily="34" charset="-122"/>
                <a:cs typeface="Carlito" pitchFamily="34" charset="-120"/>
              </a:rPr>
              <a:t>of adults say money is a significant stressor.</a:t>
            </a:r>
            <a:endParaRPr lang="en-US" sz="800" dirty="0"/>
          </a:p>
        </p:txBody>
      </p:sp>
      <p:pic>
        <p:nvPicPr>
          <p:cNvPr id="31" name="Image 3" descr="preencoded.png">    </p:cNvPr>
          <p:cNvPicPr>
            <a:picLocks noChangeAspect="1"/>
          </p:cNvPicPr>
          <p:nvPr/>
        </p:nvPicPr>
        <p:blipFill>
          <a:blip r:embed="rId4"/>
          <a:stretch>
            <a:fillRect/>
          </a:stretch>
        </p:blipFill>
        <p:spPr>
          <a:xfrm>
            <a:off x="6743700" y="2914650"/>
            <a:ext cx="1943100" cy="1657350"/>
          </a:xfrm>
          <a:prstGeom prst="rect">
            <a:avLst/>
          </a:prstGeom>
        </p:spPr>
      </p:pic>
      <p:sp>
        <p:nvSpPr>
          <p:cNvPr id="32" name="Text 26"/>
          <p:cNvSpPr/>
          <p:nvPr/>
        </p:nvSpPr>
        <p:spPr>
          <a:xfrm>
            <a:off x="6747272" y="2918222"/>
            <a:ext cx="1935956" cy="1650206"/>
          </a:xfrm>
          <a:prstGeom prst="roundRect">
            <a:avLst>
              <a:gd name="adj" fmla="val 10390"/>
            </a:avLst>
          </a:prstGeom>
          <a:noFill/>
          <a:ln w="7144">
            <a:solidFill>
              <a:srgbClr val="FFFFFF"/>
            </a:solidFill>
            <a:prstDash val="solid"/>
          </a:ln>
        </p:spPr>
        <p:txBody>
          <a:bodyPr wrap="square" rtlCol="0" anchor="ctr"/>
          <a:lstStyle/>
          <a:p>
            <a:pPr indent="0" marL="0">
              <a:buNone/>
            </a:pPr>
            <a:endParaRPr lang="en-US" dirty="0"/>
          </a:p>
        </p:txBody>
      </p:sp>
      <p:sp>
        <p:nvSpPr>
          <p:cNvPr id="33" name="Text 27"/>
          <p:cNvSpPr/>
          <p:nvPr/>
        </p:nvSpPr>
        <p:spPr>
          <a:xfrm>
            <a:off x="6893719" y="3064669"/>
            <a:ext cx="164306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Carlito" pitchFamily="34" charset="0"/>
                <a:ea typeface="Carlito" pitchFamily="34" charset="-122"/>
                <a:cs typeface="Carlito" pitchFamily="34" charset="-120"/>
              </a:rPr>
              <a:t>USE A BUDGET</a:t>
            </a:r>
            <a:endParaRPr lang="en-US" sz="800" dirty="0"/>
          </a:p>
        </p:txBody>
      </p:sp>
      <p:sp>
        <p:nvSpPr>
          <p:cNvPr id="34" name="Text 28"/>
          <p:cNvSpPr/>
          <p:nvPr/>
        </p:nvSpPr>
        <p:spPr>
          <a:xfrm>
            <a:off x="6893719" y="3542184"/>
            <a:ext cx="1643063" cy="432054"/>
          </a:xfrm>
          <a:prstGeom prst="rect">
            <a:avLst/>
          </a:prstGeom>
          <a:noFill/>
          <a:ln/>
        </p:spPr>
        <p:txBody>
          <a:bodyPr wrap="none" lIns="0" tIns="0" rIns="0" bIns="0" rtlCol="0" anchor="t"/>
          <a:lstStyle/>
          <a:p>
            <a:pPr algn="l" indent="0" marL="0">
              <a:lnSpc>
                <a:spcPts val="3150"/>
              </a:lnSpc>
              <a:buNone/>
            </a:pPr>
            <a:r>
              <a:rPr lang="en-US" sz="3150" b="1" spc="-94" kern="0" dirty="0">
                <a:solidFill>
                  <a:srgbClr val="818CF8"/>
                </a:solidFill>
                <a:latin typeface="Liberation Sans Narrow" pitchFamily="34" charset="0"/>
                <a:ea typeface="Liberation Sans Narrow" pitchFamily="34" charset="-122"/>
                <a:cs typeface="Liberation Sans Narrow" pitchFamily="34" charset="-120"/>
              </a:rPr>
              <a:t>32</a:t>
            </a:r>
            <a:pPr algn="l" indent="0" marL="0">
              <a:lnSpc>
                <a:spcPts val="3150"/>
              </a:lnSpc>
              <a:buNone/>
            </a:pPr>
            <a:r>
              <a:rPr lang="en-US" sz="1800" b="1" spc="-94" kern="0" dirty="0">
                <a:solidFill>
                  <a:srgbClr val="A1A1AA"/>
                </a:solidFill>
                <a:latin typeface="Carlito" pitchFamily="34" charset="0"/>
                <a:ea typeface="Carlito" pitchFamily="34" charset="-122"/>
                <a:cs typeface="Carlito" pitchFamily="34" charset="-120"/>
              </a:rPr>
              <a:t>%</a:t>
            </a:r>
            <a:endParaRPr lang="en-US" sz="3150" dirty="0"/>
          </a:p>
        </p:txBody>
      </p:sp>
      <p:sp>
        <p:nvSpPr>
          <p:cNvPr id="35" name="Text 29"/>
          <p:cNvSpPr/>
          <p:nvPr/>
        </p:nvSpPr>
        <p:spPr>
          <a:xfrm>
            <a:off x="6893719" y="4301877"/>
            <a:ext cx="1741646" cy="120104"/>
          </a:xfrm>
          <a:prstGeom prst="rect">
            <a:avLst/>
          </a:prstGeom>
          <a:noFill/>
          <a:ln/>
        </p:spPr>
        <p:txBody>
          <a:bodyPr wrap="square" lIns="0" tIns="0" rIns="0" bIns="0" rtlCol="0" anchor="t"/>
          <a:lstStyle/>
          <a:p>
            <a:pPr algn="l" indent="0" marL="0">
              <a:lnSpc>
                <a:spcPts val="945"/>
              </a:lnSpc>
              <a:buNone/>
            </a:pPr>
            <a:r>
              <a:rPr lang="en-US" sz="675" dirty="0">
                <a:solidFill>
                  <a:srgbClr val="A1A1AA"/>
                </a:solidFill>
                <a:latin typeface="Carlito" pitchFamily="34" charset="0"/>
                <a:ea typeface="Carlito" pitchFamily="34" charset="-122"/>
                <a:cs typeface="Carlito" pitchFamily="34" charset="-120"/>
              </a:rPr>
              <a:t>maintain a household budget at all.</a:t>
            </a:r>
            <a:endParaRPr lang="en-US" sz="675" dirty="0"/>
          </a:p>
        </p:txBody>
      </p:sp>
      <p:sp>
        <p:nvSpPr>
          <p:cNvPr id="36" name="Text 30"/>
          <p:cNvSpPr/>
          <p:nvPr/>
        </p:nvSpPr>
        <p:spPr>
          <a:xfrm>
            <a:off x="457200" y="4861322"/>
            <a:ext cx="42863" cy="42863"/>
          </a:xfrm>
          <a:prstGeom prst="roundRect">
            <a:avLst>
              <a:gd name="adj" fmla="val 22199741"/>
            </a:avLst>
          </a:prstGeom>
          <a:solidFill>
            <a:srgbClr val="6366F1"/>
          </a:solidFill>
          <a:ln/>
        </p:spPr>
        <p:txBody>
          <a:bodyPr wrap="square" rtlCol="0" anchor="ctr"/>
          <a:lstStyle/>
          <a:p>
            <a:pPr indent="0" marL="0">
              <a:buNone/>
            </a:pPr>
            <a:endParaRPr lang="en-US" dirty="0"/>
          </a:p>
        </p:txBody>
      </p:sp>
      <p:sp>
        <p:nvSpPr>
          <p:cNvPr id="37" name="Text 31"/>
          <p:cNvSpPr/>
          <p:nvPr/>
        </p:nvSpPr>
        <p:spPr>
          <a:xfrm>
            <a:off x="457200" y="4814888"/>
            <a:ext cx="786571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Carlito" pitchFamily="34" charset="0"/>
                <a:ea typeface="Carlito" pitchFamily="34" charset="-122"/>
                <a:cs typeface="Carlito" pitchFamily="34" charset="-120"/>
              </a:rPr>
              <a:t>FINWISE · TOPIC A</a:t>
            </a:r>
            <a:endParaRPr lang="en-US" sz="800" dirty="0"/>
          </a:p>
        </p:txBody>
      </p:sp>
      <p:sp>
        <p:nvSpPr>
          <p:cNvPr id="38" name="Text 32"/>
          <p:cNvSpPr/>
          <p:nvPr/>
        </p:nvSpPr>
        <p:spPr>
          <a:xfrm>
            <a:off x="8337203" y="4814888"/>
            <a:ext cx="499050"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Liberation Sans Narrow" pitchFamily="34" charset="0"/>
                <a:ea typeface="Liberation Sans Narrow" pitchFamily="34" charset="-122"/>
                <a:cs typeface="Liberation Sans Narrow" pitchFamily="34" charset="-120"/>
              </a:rPr>
              <a:t>02 /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302324"/>
            <a:ext cx="904131" cy="224028"/>
          </a:xfrm>
          <a:prstGeom prst="roundRect">
            <a:avLst>
              <a:gd name="adj" fmla="val 4247449"/>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3" name="Text 1"/>
          <p:cNvSpPr/>
          <p:nvPr/>
        </p:nvSpPr>
        <p:spPr>
          <a:xfrm>
            <a:off x="457200" y="314325"/>
            <a:ext cx="904131"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03 · SOLUTION</a:t>
            </a:r>
            <a:endParaRPr lang="en-US" sz="800" dirty="0"/>
          </a:p>
        </p:txBody>
      </p:sp>
      <p:sp>
        <p:nvSpPr>
          <p:cNvPr id="4" name="Text 2"/>
          <p:cNvSpPr/>
          <p:nvPr/>
        </p:nvSpPr>
        <p:spPr>
          <a:xfrm>
            <a:off x="1447056" y="350044"/>
            <a:ext cx="2034632" cy="164592"/>
          </a:xfrm>
          <a:prstGeom prst="rect">
            <a:avLst/>
          </a:prstGeom>
          <a:noFill/>
          <a:ln/>
        </p:spPr>
        <p:txBody>
          <a:bodyPr wrap="non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FROM DASHBOARD TO COPILOT</a:t>
            </a:r>
            <a:endParaRPr lang="en-US" sz="800" dirty="0"/>
          </a:p>
        </p:txBody>
      </p:sp>
      <p:sp>
        <p:nvSpPr>
          <p:cNvPr id="5" name="Text 3"/>
          <p:cNvSpPr/>
          <p:nvPr/>
        </p:nvSpPr>
        <p:spPr>
          <a:xfrm>
            <a:off x="6276231" y="350044"/>
            <a:ext cx="2788573"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FINWISE · PERSONAL FINANCE INTELLIGENCE</a:t>
            </a:r>
            <a:endParaRPr lang="en-US" sz="800" dirty="0"/>
          </a:p>
        </p:txBody>
      </p:sp>
      <p:sp>
        <p:nvSpPr>
          <p:cNvPr id="6" name="Text 4"/>
          <p:cNvSpPr/>
          <p:nvPr/>
        </p:nvSpPr>
        <p:spPr>
          <a:xfrm>
            <a:off x="457200" y="865287"/>
            <a:ext cx="6229197" cy="164592"/>
          </a:xfrm>
          <a:prstGeom prst="rect">
            <a:avLst/>
          </a:prstGeom>
          <a:noFill/>
          <a:ln/>
        </p:spPr>
        <p:txBody>
          <a:bodyPr wrap="none" lIns="0" tIns="0" rIns="0" bIns="0" rtlCol="0" anchor="t"/>
          <a:lstStyle/>
          <a:p>
            <a:pPr algn="l" indent="0" marL="0">
              <a:lnSpc>
                <a:spcPts val="1013"/>
              </a:lnSpc>
              <a:buNone/>
            </a:pPr>
            <a:r>
              <a:rPr lang="en-US" sz="800" spc="122" kern="0" dirty="0">
                <a:solidFill>
                  <a:srgbClr val="818CF8"/>
                </a:solidFill>
                <a:latin typeface="Courier New" pitchFamily="34" charset="0"/>
                <a:ea typeface="Courier New" pitchFamily="34" charset="-122"/>
                <a:cs typeface="Courier New" pitchFamily="34" charset="-120"/>
              </a:rPr>
              <a:t>THE SOLUTION</a:t>
            </a:r>
            <a:endParaRPr lang="en-US" sz="800" dirty="0"/>
          </a:p>
        </p:txBody>
      </p:sp>
      <p:sp>
        <p:nvSpPr>
          <p:cNvPr id="7" name="Text 5"/>
          <p:cNvSpPr/>
          <p:nvPr/>
        </p:nvSpPr>
        <p:spPr>
          <a:xfrm>
            <a:off x="457200" y="1079599"/>
            <a:ext cx="5175803" cy="1444078"/>
          </a:xfrm>
          <a:prstGeom prst="rect">
            <a:avLst/>
          </a:prstGeom>
          <a:noFill/>
          <a:ln/>
        </p:spPr>
        <p:txBody>
          <a:bodyPr wrap="none" lIns="0" tIns="0" rIns="0" bIns="0" rtlCol="0" anchor="t"/>
          <a:lstStyle/>
          <a:p>
            <a:pPr algn="l" indent="0" marL="0">
              <a:lnSpc>
                <a:spcPts val="3510"/>
              </a:lnSpc>
              <a:buNone/>
            </a:pPr>
            <a:r>
              <a:rPr lang="en-US" sz="3375" b="1" spc="-94" kern="0" dirty="0">
                <a:solidFill>
                  <a:srgbClr val="FFFFFF"/>
                </a:solidFill>
                <a:latin typeface="Tinos" pitchFamily="34" charset="0"/>
                <a:ea typeface="Tinos" pitchFamily="34" charset="-122"/>
                <a:cs typeface="Tinos" pitchFamily="34" charset="-120"/>
              </a:rPr>
              <a:t>An </a:t>
            </a:r>
            <a:pPr algn="l" indent="0" marL="0">
              <a:lnSpc>
                <a:spcPts val="3510"/>
              </a:lnSpc>
              <a:buNone/>
            </a:pPr>
            <a:r>
              <a:rPr lang="en-US" sz="3375" b="1" i="1" spc="-94" kern="0" dirty="0">
                <a:solidFill>
                  <a:srgbClr val="818CF8"/>
                </a:solidFill>
                <a:latin typeface="Tinos" pitchFamily="34" charset="0"/>
                <a:ea typeface="Tinos" pitchFamily="34" charset="-122"/>
                <a:cs typeface="Tinos" pitchFamily="34" charset="-120"/>
              </a:rPr>
              <a:t>agentic</a:t>
            </a:r>
            <a:pPr algn="l" indent="0" marL="0">
              <a:lnSpc>
                <a:spcPts val="3510"/>
              </a:lnSpc>
              <a:buNone/>
            </a:pPr>
            <a:r>
              <a:rPr lang="en-US" sz="3375" b="1" spc="-94" kern="0" dirty="0">
                <a:solidFill>
                  <a:srgbClr val="FFFFFF"/>
                </a:solidFill>
                <a:latin typeface="Tinos" pitchFamily="34" charset="0"/>
                <a:ea typeface="Tinos" pitchFamily="34" charset="-122"/>
                <a:cs typeface="Tinos" pitchFamily="34" charset="-120"/>
              </a:rPr>
              <a:t> copilot</a:t>
            </a:r>
            <a:endParaRPr lang="en-US" sz="3375" dirty="0"/>
          </a:p>
          <a:p>
            <a:pPr algn="l" indent="0" marL="0">
              <a:lnSpc>
                <a:spcPts val="3510"/>
              </a:lnSpc>
              <a:buNone/>
            </a:pPr>
            <a:r>
              <a:rPr lang="en-US" sz="3375" b="1" spc="-94" kern="0" dirty="0">
                <a:solidFill>
                  <a:srgbClr val="FFFFFF"/>
                </a:solidFill>
                <a:latin typeface="Tinos" pitchFamily="34" charset="0"/>
                <a:ea typeface="Tinos" pitchFamily="34" charset="-122"/>
                <a:cs typeface="Tinos" pitchFamily="34" charset="-120"/>
              </a:rPr>
              <a:t>that </a:t>
            </a:r>
            <a:pPr algn="l" indent="0" marL="0">
              <a:lnSpc>
                <a:spcPts val="3510"/>
              </a:lnSpc>
              <a:buNone/>
            </a:pPr>
            <a:r>
              <a:rPr lang="en-US" sz="3375" b="1" i="1" spc="-94" kern="0" dirty="0">
                <a:solidFill>
                  <a:srgbClr val="34D399"/>
                </a:solidFill>
                <a:latin typeface="Tinos" pitchFamily="34" charset="0"/>
                <a:ea typeface="Tinos" pitchFamily="34" charset="-122"/>
                <a:cs typeface="Tinos" pitchFamily="34" charset="-120"/>
              </a:rPr>
              <a:t>reasons</a:t>
            </a:r>
            <a:pPr algn="l" indent="0" marL="0">
              <a:lnSpc>
                <a:spcPts val="3510"/>
              </a:lnSpc>
              <a:buNone/>
            </a:pPr>
            <a:r>
              <a:rPr lang="en-US" sz="3375" b="1" spc="-94" kern="0" dirty="0">
                <a:solidFill>
                  <a:srgbClr val="FFFFFF"/>
                </a:solidFill>
                <a:latin typeface="Tinos" pitchFamily="34" charset="0"/>
                <a:ea typeface="Tinos" pitchFamily="34" charset="-122"/>
                <a:cs typeface="Tinos" pitchFamily="34" charset="-120"/>
              </a:rPr>
              <a:t>,</a:t>
            </a:r>
            <a:endParaRPr lang="en-US" sz="3375" dirty="0"/>
          </a:p>
          <a:p>
            <a:pPr algn="l" indent="0" marL="0">
              <a:lnSpc>
                <a:spcPts val="3510"/>
              </a:lnSpc>
              <a:buNone/>
            </a:pPr>
            <a:r>
              <a:rPr lang="en-US" sz="3375" b="1" spc="-94" kern="0" dirty="0">
                <a:solidFill>
                  <a:srgbClr val="FFFFFF"/>
                </a:solidFill>
                <a:latin typeface="Tinos" pitchFamily="34" charset="0"/>
                <a:ea typeface="Tinos" pitchFamily="34" charset="-122"/>
                <a:cs typeface="Tinos" pitchFamily="34" charset="-120"/>
              </a:rPr>
              <a:t>not just records.</a:t>
            </a:r>
            <a:endParaRPr lang="en-US" sz="3375" dirty="0"/>
          </a:p>
        </p:txBody>
      </p:sp>
      <p:pic>
        <p:nvPicPr>
          <p:cNvPr id="8" name="Image 0" descr="preencoded.png">    </p:cNvPr>
          <p:cNvPicPr>
            <a:picLocks noChangeAspect="1"/>
          </p:cNvPicPr>
          <p:nvPr/>
        </p:nvPicPr>
        <p:blipFill>
          <a:blip r:embed="rId1"/>
          <a:stretch>
            <a:fillRect/>
          </a:stretch>
        </p:blipFill>
        <p:spPr>
          <a:xfrm>
            <a:off x="457200" y="2616733"/>
            <a:ext cx="342900" cy="21431"/>
          </a:xfrm>
          <a:prstGeom prst="rect">
            <a:avLst/>
          </a:prstGeom>
        </p:spPr>
      </p:pic>
      <p:sp>
        <p:nvSpPr>
          <p:cNvPr id="9" name="Text 6"/>
          <p:cNvSpPr/>
          <p:nvPr/>
        </p:nvSpPr>
        <p:spPr>
          <a:xfrm>
            <a:off x="457200" y="2809615"/>
            <a:ext cx="4572000" cy="888700"/>
          </a:xfrm>
          <a:prstGeom prst="rect">
            <a:avLst/>
          </a:prstGeom>
          <a:noFill/>
          <a:ln/>
        </p:spPr>
        <p:txBody>
          <a:bodyPr wrap="square" lIns="0" tIns="0" rIns="0" bIns="0" rtlCol="0" anchor="t"/>
          <a:lstStyle/>
          <a:p>
            <a:pPr algn="l" indent="0" marL="0">
              <a:lnSpc>
                <a:spcPts val="1620"/>
              </a:lnSpc>
              <a:buNone/>
            </a:pPr>
            <a:r>
              <a:rPr lang="en-US" sz="1013" dirty="0">
                <a:solidFill>
                  <a:srgbClr val="A1A1AA"/>
                </a:solidFill>
                <a:latin typeface="Carlito" pitchFamily="34" charset="0"/>
                <a:ea typeface="Carlito" pitchFamily="34" charset="-122"/>
                <a:cs typeface="Carlito" pitchFamily="34" charset="-120"/>
              </a:rPr>
              <a:t>FinWise pairs an LLM-driven agent with a four-layer finance engine. You speak in plain English; it understands intent, calls </a:t>
            </a:r>
            <a:pPr algn="l" indent="0" marL="0">
              <a:lnSpc>
                <a:spcPts val="1620"/>
              </a:lnSpc>
              <a:buNone/>
            </a:pPr>
            <a:r>
              <a:rPr lang="en-US" sz="1013" dirty="0">
                <a:solidFill>
                  <a:srgbClr val="F5F5F7"/>
                </a:solidFill>
                <a:latin typeface="Liberation Sans Narrow" pitchFamily="34" charset="0"/>
                <a:ea typeface="Liberation Sans Narrow" pitchFamily="34" charset="-122"/>
                <a:cs typeface="Liberation Sans Narrow" pitchFamily="34" charset="-120"/>
              </a:rPr>
              <a:t>11 verified tools</a:t>
            </a:r>
            <a:pPr algn="l" indent="0" marL="0">
              <a:lnSpc>
                <a:spcPts val="1620"/>
              </a:lnSpc>
              <a:buNone/>
            </a:pPr>
            <a:r>
              <a:rPr lang="en-US" sz="1013" dirty="0">
                <a:solidFill>
                  <a:srgbClr val="A1A1AA"/>
                </a:solidFill>
                <a:latin typeface="Carlito" pitchFamily="34" charset="0"/>
                <a:ea typeface="Carlito" pitchFamily="34" charset="-122"/>
                <a:cs typeface="Carlito" pitchFamily="34" charset="-120"/>
              </a:rPr>
              <a:t> across read and write surfaces, and acts inside a permissioned, audited sandbox.</a:t>
            </a:r>
            <a:endParaRPr lang="en-US" sz="1013" dirty="0"/>
          </a:p>
        </p:txBody>
      </p:sp>
      <p:sp>
        <p:nvSpPr>
          <p:cNvPr id="10" name="Text 7"/>
          <p:cNvSpPr/>
          <p:nvPr/>
        </p:nvSpPr>
        <p:spPr>
          <a:xfrm>
            <a:off x="460772" y="3836082"/>
            <a:ext cx="1504094" cy="652760"/>
          </a:xfrm>
          <a:prstGeom prst="roundRect">
            <a:avLst>
              <a:gd name="adj" fmla="val 23347"/>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1" name="Text 8"/>
          <p:cNvSpPr/>
          <p:nvPr/>
        </p:nvSpPr>
        <p:spPr>
          <a:xfrm>
            <a:off x="578644" y="3953954"/>
            <a:ext cx="128588" cy="128588"/>
          </a:xfrm>
          <a:prstGeom prst="rect">
            <a:avLst/>
          </a:prstGeom>
          <a:noFill/>
          <a:ln/>
        </p:spPr>
        <p:txBody>
          <a:bodyPr wrap="none" lIns="0" tIns="0" rIns="0" bIns="0" rtlCol="0" anchor="ctr"/>
          <a:lstStyle/>
          <a:p>
            <a:pPr algn="ctr" indent="0" marL="0">
              <a:buNone/>
            </a:pPr>
            <a:r>
              <a:rPr lang="en-US" sz="1266" dirty="0">
                <a:solidFill>
                  <a:srgbClr val="818CF8"/>
                </a:solidFill>
                <a:latin typeface="Segoe UI Symbol" pitchFamily="34" charset="0"/>
                <a:ea typeface="Segoe UI Symbol" pitchFamily="34" charset="-122"/>
                <a:cs typeface="Segoe UI Symbol" pitchFamily="34" charset="-120"/>
              </a:rPr>
              <a:t>◌</a:t>
            </a:r>
            <a:endParaRPr lang="en-US" sz="1266" dirty="0"/>
          </a:p>
        </p:txBody>
      </p:sp>
      <p:sp>
        <p:nvSpPr>
          <p:cNvPr id="12" name="Text 9"/>
          <p:cNvSpPr/>
          <p:nvPr/>
        </p:nvSpPr>
        <p:spPr>
          <a:xfrm>
            <a:off x="764381" y="3959312"/>
            <a:ext cx="1082613"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71717A"/>
                </a:solidFill>
                <a:latin typeface="Carlito" pitchFamily="34" charset="0"/>
                <a:ea typeface="Carlito" pitchFamily="34" charset="-122"/>
                <a:cs typeface="Carlito" pitchFamily="34" charset="-120"/>
              </a:rPr>
              <a:t>CONVERSE</a:t>
            </a:r>
            <a:endParaRPr lang="en-US" sz="800" dirty="0"/>
          </a:p>
        </p:txBody>
      </p:sp>
      <p:sp>
        <p:nvSpPr>
          <p:cNvPr id="13" name="Text 10"/>
          <p:cNvSpPr/>
          <p:nvPr/>
        </p:nvSpPr>
        <p:spPr>
          <a:xfrm>
            <a:off x="578644" y="4111117"/>
            <a:ext cx="1344452" cy="259854"/>
          </a:xfrm>
          <a:prstGeom prst="rect">
            <a:avLst/>
          </a:prstGeom>
          <a:noFill/>
          <a:ln/>
        </p:spPr>
        <p:txBody>
          <a:bodyPr wrap="square" lIns="0" tIns="0" rIns="0" bIns="0" rtlCol="0" anchor="t"/>
          <a:lstStyle/>
          <a:p>
            <a:pPr algn="l" indent="0" marL="0">
              <a:lnSpc>
                <a:spcPts val="1024"/>
              </a:lnSpc>
              <a:buNone/>
            </a:pPr>
            <a:r>
              <a:rPr lang="en-US" sz="800" dirty="0">
                <a:solidFill>
                  <a:srgbClr val="F5F5F7"/>
                </a:solidFill>
                <a:latin typeface="Carlito" pitchFamily="34" charset="0"/>
                <a:ea typeface="Carlito" pitchFamily="34" charset="-122"/>
                <a:cs typeface="Carlito" pitchFamily="34" charset="-120"/>
              </a:rPr>
              <a:t>Natural language in, structured finance out.</a:t>
            </a:r>
            <a:endParaRPr lang="en-US" sz="800" dirty="0"/>
          </a:p>
        </p:txBody>
      </p:sp>
      <p:sp>
        <p:nvSpPr>
          <p:cNvPr id="14" name="Text 11"/>
          <p:cNvSpPr/>
          <p:nvPr/>
        </p:nvSpPr>
        <p:spPr>
          <a:xfrm>
            <a:off x="2057735" y="3836082"/>
            <a:ext cx="1504094" cy="652760"/>
          </a:xfrm>
          <a:prstGeom prst="roundRect">
            <a:avLst>
              <a:gd name="adj" fmla="val 23347"/>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5" name="Text 12"/>
          <p:cNvSpPr/>
          <p:nvPr/>
        </p:nvSpPr>
        <p:spPr>
          <a:xfrm>
            <a:off x="2175607" y="3953954"/>
            <a:ext cx="128588" cy="128588"/>
          </a:xfrm>
          <a:prstGeom prst="rect">
            <a:avLst/>
          </a:prstGeom>
          <a:noFill/>
          <a:ln/>
        </p:spPr>
        <p:txBody>
          <a:bodyPr wrap="none" lIns="0" tIns="0" rIns="0" bIns="0" rtlCol="0" anchor="ctr"/>
          <a:lstStyle/>
          <a:p>
            <a:pPr algn="ctr" indent="0" marL="0">
              <a:buNone/>
            </a:pPr>
            <a:r>
              <a:rPr lang="en-US" sz="1266" dirty="0">
                <a:solidFill>
                  <a:srgbClr val="818CF8"/>
                </a:solidFill>
                <a:latin typeface="Segoe UI Symbol" pitchFamily="34" charset="0"/>
                <a:ea typeface="Segoe UI Symbol" pitchFamily="34" charset="-122"/>
                <a:cs typeface="Segoe UI Symbol" pitchFamily="34" charset="-120"/>
              </a:rPr>
              <a:t>✦</a:t>
            </a:r>
            <a:endParaRPr lang="en-US" sz="1266" dirty="0"/>
          </a:p>
        </p:txBody>
      </p:sp>
      <p:sp>
        <p:nvSpPr>
          <p:cNvPr id="16" name="Text 13"/>
          <p:cNvSpPr/>
          <p:nvPr/>
        </p:nvSpPr>
        <p:spPr>
          <a:xfrm>
            <a:off x="2361344" y="3959312"/>
            <a:ext cx="1082613"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71717A"/>
                </a:solidFill>
                <a:latin typeface="Carlito" pitchFamily="34" charset="0"/>
                <a:ea typeface="Carlito" pitchFamily="34" charset="-122"/>
                <a:cs typeface="Carlito" pitchFamily="34" charset="-120"/>
              </a:rPr>
              <a:t>REASON</a:t>
            </a:r>
            <a:endParaRPr lang="en-US" sz="800" dirty="0"/>
          </a:p>
        </p:txBody>
      </p:sp>
      <p:sp>
        <p:nvSpPr>
          <p:cNvPr id="17" name="Text 14"/>
          <p:cNvSpPr/>
          <p:nvPr/>
        </p:nvSpPr>
        <p:spPr>
          <a:xfrm>
            <a:off x="2175607" y="4111117"/>
            <a:ext cx="1344452" cy="259854"/>
          </a:xfrm>
          <a:prstGeom prst="rect">
            <a:avLst/>
          </a:prstGeom>
          <a:noFill/>
          <a:ln/>
        </p:spPr>
        <p:txBody>
          <a:bodyPr wrap="square" lIns="0" tIns="0" rIns="0" bIns="0" rtlCol="0" anchor="t"/>
          <a:lstStyle/>
          <a:p>
            <a:pPr algn="l" indent="0" marL="0">
              <a:lnSpc>
                <a:spcPts val="1024"/>
              </a:lnSpc>
              <a:buNone/>
            </a:pPr>
            <a:r>
              <a:rPr lang="en-US" sz="800" dirty="0">
                <a:solidFill>
                  <a:srgbClr val="F5F5F7"/>
                </a:solidFill>
                <a:latin typeface="Carlito" pitchFamily="34" charset="0"/>
                <a:ea typeface="Carlito" pitchFamily="34" charset="-122"/>
                <a:cs typeface="Carlito" pitchFamily="34" charset="-120"/>
              </a:rPr>
              <a:t>Supervisor routes; workers call tools.</a:t>
            </a:r>
            <a:endParaRPr lang="en-US" sz="800" dirty="0"/>
          </a:p>
        </p:txBody>
      </p:sp>
      <p:sp>
        <p:nvSpPr>
          <p:cNvPr id="18" name="Text 15"/>
          <p:cNvSpPr/>
          <p:nvPr/>
        </p:nvSpPr>
        <p:spPr>
          <a:xfrm>
            <a:off x="3654698" y="3836082"/>
            <a:ext cx="1504094" cy="652760"/>
          </a:xfrm>
          <a:prstGeom prst="roundRect">
            <a:avLst>
              <a:gd name="adj" fmla="val 23347"/>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9" name="Text 16"/>
          <p:cNvSpPr/>
          <p:nvPr/>
        </p:nvSpPr>
        <p:spPr>
          <a:xfrm>
            <a:off x="3772570" y="3953954"/>
            <a:ext cx="128588" cy="128588"/>
          </a:xfrm>
          <a:prstGeom prst="rect">
            <a:avLst/>
          </a:prstGeom>
          <a:noFill/>
          <a:ln/>
        </p:spPr>
        <p:txBody>
          <a:bodyPr wrap="none" lIns="0" tIns="0" rIns="0" bIns="0" rtlCol="0" anchor="ctr"/>
          <a:lstStyle/>
          <a:p>
            <a:pPr algn="ctr" indent="0" marL="0">
              <a:buNone/>
            </a:pPr>
            <a:r>
              <a:rPr lang="en-US" sz="1266" dirty="0">
                <a:solidFill>
                  <a:srgbClr val="34D399"/>
                </a:solidFill>
                <a:latin typeface="Segoe UI Symbol" pitchFamily="34" charset="0"/>
                <a:ea typeface="Segoe UI Symbol" pitchFamily="34" charset="-122"/>
                <a:cs typeface="Segoe UI Symbol" pitchFamily="34" charset="-120"/>
              </a:rPr>
              <a:t>⚡</a:t>
            </a:r>
            <a:endParaRPr lang="en-US" sz="1266" dirty="0"/>
          </a:p>
        </p:txBody>
      </p:sp>
      <p:sp>
        <p:nvSpPr>
          <p:cNvPr id="20" name="Text 17"/>
          <p:cNvSpPr/>
          <p:nvPr/>
        </p:nvSpPr>
        <p:spPr>
          <a:xfrm>
            <a:off x="3958307" y="3959312"/>
            <a:ext cx="1082613"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71717A"/>
                </a:solidFill>
                <a:latin typeface="Carlito" pitchFamily="34" charset="0"/>
                <a:ea typeface="Carlito" pitchFamily="34" charset="-122"/>
                <a:cs typeface="Carlito" pitchFamily="34" charset="-120"/>
              </a:rPr>
              <a:t>ACT</a:t>
            </a:r>
            <a:endParaRPr lang="en-US" sz="800" dirty="0"/>
          </a:p>
        </p:txBody>
      </p:sp>
      <p:sp>
        <p:nvSpPr>
          <p:cNvPr id="21" name="Text 18"/>
          <p:cNvSpPr/>
          <p:nvPr/>
        </p:nvSpPr>
        <p:spPr>
          <a:xfrm>
            <a:off x="3772570" y="4111117"/>
            <a:ext cx="1268350" cy="259854"/>
          </a:xfrm>
          <a:prstGeom prst="rect">
            <a:avLst/>
          </a:prstGeom>
          <a:noFill/>
          <a:ln/>
        </p:spPr>
        <p:txBody>
          <a:bodyPr wrap="square" lIns="0" tIns="0" rIns="0" bIns="0" rtlCol="0" anchor="t"/>
          <a:lstStyle/>
          <a:p>
            <a:pPr algn="l" indent="0" marL="0">
              <a:lnSpc>
                <a:spcPts val="1024"/>
              </a:lnSpc>
              <a:buNone/>
            </a:pPr>
            <a:r>
              <a:rPr lang="en-US" sz="800" dirty="0">
                <a:solidFill>
                  <a:srgbClr val="F5F5F7"/>
                </a:solidFill>
                <a:latin typeface="Carlito" pitchFamily="34" charset="0"/>
                <a:ea typeface="Carlito" pitchFamily="34" charset="-122"/>
                <a:cs typeface="Carlito" pitchFamily="34" charset="-120"/>
              </a:rPr>
              <a:t>Write tools mutate state safely.</a:t>
            </a:r>
            <a:endParaRPr lang="en-US" sz="800" dirty="0"/>
          </a:p>
        </p:txBody>
      </p:sp>
      <p:pic>
        <p:nvPicPr>
          <p:cNvPr id="22" name="Image 1" descr="preencoded.png">    </p:cNvPr>
          <p:cNvPicPr>
            <a:picLocks noChangeAspect="1"/>
          </p:cNvPicPr>
          <p:nvPr/>
        </p:nvPicPr>
        <p:blipFill>
          <a:blip r:embed="rId2"/>
          <a:stretch>
            <a:fillRect/>
          </a:stretch>
        </p:blipFill>
        <p:spPr>
          <a:xfrm>
            <a:off x="5391076" y="866180"/>
            <a:ext cx="3295613" cy="3625453"/>
          </a:xfrm>
          <a:prstGeom prst="rect">
            <a:avLst/>
          </a:prstGeom>
        </p:spPr>
      </p:pic>
      <p:sp>
        <p:nvSpPr>
          <p:cNvPr id="23" name="Text 19"/>
          <p:cNvSpPr/>
          <p:nvPr/>
        </p:nvSpPr>
        <p:spPr>
          <a:xfrm>
            <a:off x="5394647" y="869752"/>
            <a:ext cx="3288469" cy="3618309"/>
          </a:xfrm>
          <a:prstGeom prst="roundRect">
            <a:avLst>
              <a:gd name="adj" fmla="val 5214"/>
            </a:avLst>
          </a:prstGeom>
          <a:noFill/>
          <a:ln w="7144">
            <a:solidFill>
              <a:srgbClr val="FFFFFF"/>
            </a:solidFill>
            <a:prstDash val="solid"/>
          </a:ln>
        </p:spPr>
        <p:txBody>
          <a:bodyPr wrap="square" rtlCol="0" anchor="ctr"/>
          <a:lstStyle/>
          <a:p>
            <a:pPr indent="0" marL="0">
              <a:buNone/>
            </a:pPr>
            <a:endParaRPr lang="en-US" dirty="0"/>
          </a:p>
        </p:txBody>
      </p:sp>
      <p:sp>
        <p:nvSpPr>
          <p:cNvPr id="24" name="Text 20"/>
          <p:cNvSpPr/>
          <p:nvPr/>
        </p:nvSpPr>
        <p:spPr>
          <a:xfrm>
            <a:off x="5569669" y="1044773"/>
            <a:ext cx="1518502" cy="104727"/>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71717A"/>
                </a:solidFill>
                <a:latin typeface="Carlito" pitchFamily="34" charset="0"/>
                <a:ea typeface="Carlito" pitchFamily="34" charset="-122"/>
                <a:cs typeface="Carlito" pitchFamily="34" charset="-120"/>
              </a:rPr>
              <a:t>OLD WORLD → FINWISE</a:t>
            </a:r>
            <a:endParaRPr lang="en-US" sz="800" dirty="0"/>
          </a:p>
        </p:txBody>
      </p:sp>
      <p:sp>
        <p:nvSpPr>
          <p:cNvPr id="25" name="Text 21"/>
          <p:cNvSpPr/>
          <p:nvPr/>
        </p:nvSpPr>
        <p:spPr>
          <a:xfrm>
            <a:off x="5569669" y="1176933"/>
            <a:ext cx="1373478" cy="254603"/>
          </a:xfrm>
          <a:prstGeom prst="rect">
            <a:avLst/>
          </a:prstGeom>
          <a:noFill/>
          <a:ln/>
        </p:spPr>
        <p:txBody>
          <a:bodyPr wrap="none" lIns="0" tIns="0" rIns="0" bIns="0" rtlCol="0" anchor="t"/>
          <a:lstStyle/>
          <a:p>
            <a:pPr algn="l" indent="0" marL="0">
              <a:lnSpc>
                <a:spcPts val="1856"/>
              </a:lnSpc>
              <a:buNone/>
            </a:pPr>
            <a:r>
              <a:rPr lang="en-US" sz="1238" b="1" dirty="0">
                <a:solidFill>
                  <a:srgbClr val="F5F5F7"/>
                </a:solidFill>
                <a:latin typeface="Tinos" pitchFamily="34" charset="0"/>
                <a:ea typeface="Tinos" pitchFamily="34" charset="-122"/>
                <a:cs typeface="Tinos" pitchFamily="34" charset="-120"/>
              </a:rPr>
              <a:t>Passive → Active</a:t>
            </a:r>
            <a:endParaRPr lang="en-US" sz="1238" dirty="0"/>
          </a:p>
        </p:txBody>
      </p:sp>
      <p:sp>
        <p:nvSpPr>
          <p:cNvPr id="26" name="Text 22"/>
          <p:cNvSpPr/>
          <p:nvPr/>
        </p:nvSpPr>
        <p:spPr>
          <a:xfrm>
            <a:off x="8279495" y="1114425"/>
            <a:ext cx="228600" cy="228600"/>
          </a:xfrm>
          <a:prstGeom prst="rect">
            <a:avLst/>
          </a:prstGeom>
          <a:noFill/>
          <a:ln/>
        </p:spPr>
        <p:txBody>
          <a:bodyPr wrap="none" lIns="0" tIns="0" rIns="0" bIns="0" rtlCol="0" anchor="ctr"/>
          <a:lstStyle/>
          <a:p>
            <a:pPr algn="ctr" indent="0" marL="0">
              <a:buNone/>
            </a:pPr>
            <a:r>
              <a:rPr lang="en-US" sz="2250" dirty="0">
                <a:solidFill>
                  <a:srgbClr val="10B981"/>
                </a:solidFill>
                <a:latin typeface="Segoe UI Symbol" pitchFamily="34" charset="0"/>
                <a:ea typeface="Segoe UI Symbol" pitchFamily="34" charset="-122"/>
                <a:cs typeface="Segoe UI Symbol" pitchFamily="34" charset="-120"/>
              </a:rPr>
              <a:t>✦</a:t>
            </a:r>
            <a:endParaRPr lang="en-US" sz="2250" dirty="0"/>
          </a:p>
        </p:txBody>
      </p:sp>
      <p:sp>
        <p:nvSpPr>
          <p:cNvPr id="27" name="Shape 23"/>
          <p:cNvSpPr/>
          <p:nvPr/>
        </p:nvSpPr>
        <p:spPr>
          <a:xfrm>
            <a:off x="5569669" y="2159198"/>
            <a:ext cx="2938425" cy="0"/>
          </a:xfrm>
          <a:prstGeom prst="line">
            <a:avLst/>
          </a:prstGeom>
          <a:noFill/>
          <a:ln w="7144">
            <a:solidFill>
              <a:srgbClr val="FFFFFF"/>
            </a:solidFill>
            <a:prstDash val="solid"/>
          </a:ln>
        </p:spPr>
      </p:sp>
      <p:sp>
        <p:nvSpPr>
          <p:cNvPr id="28" name="Text 24"/>
          <p:cNvSpPr/>
          <p:nvPr/>
        </p:nvSpPr>
        <p:spPr>
          <a:xfrm>
            <a:off x="5569669" y="1626989"/>
            <a:ext cx="1652305" cy="101156"/>
          </a:xfrm>
          <a:prstGeom prst="rect">
            <a:avLst/>
          </a:prstGeom>
          <a:noFill/>
          <a:ln/>
        </p:spPr>
        <p:txBody>
          <a:bodyPr wrap="none" lIns="0" tIns="0" rIns="0" bIns="0" rtlCol="0" anchor="t">
            <a:normAutofit/>
          </a:bodyPr>
          <a:lstStyle/>
          <a:p>
            <a:pPr algn="l" indent="0" marL="0">
              <a:lnSpc>
                <a:spcPts val="1013"/>
              </a:lnSpc>
              <a:buNone/>
            </a:pPr>
            <a:r>
              <a:rPr lang="en-US" sz="800" spc="81" kern="0" dirty="0">
                <a:solidFill>
                  <a:srgbClr val="71717A"/>
                </a:solidFill>
                <a:latin typeface="Carlito" pitchFamily="34" charset="0"/>
                <a:ea typeface="Carlito" pitchFamily="34" charset="-122"/>
                <a:cs typeface="Carlito" pitchFamily="34" charset="-120"/>
              </a:rPr>
              <a:t>LOGS A TRANSACTION</a:t>
            </a:r>
            <a:endParaRPr lang="en-US" sz="800" dirty="0"/>
          </a:p>
        </p:txBody>
      </p:sp>
      <p:sp>
        <p:nvSpPr>
          <p:cNvPr id="29" name="Text 25"/>
          <p:cNvSpPr/>
          <p:nvPr/>
        </p:nvSpPr>
        <p:spPr>
          <a:xfrm>
            <a:off x="5569669" y="1755577"/>
            <a:ext cx="1427478" cy="300038"/>
          </a:xfrm>
          <a:prstGeom prst="rect">
            <a:avLst/>
          </a:prstGeom>
          <a:noFill/>
          <a:ln/>
        </p:spPr>
        <p:txBody>
          <a:bodyPr wrap="none" lIns="0" tIns="0" rIns="0" bIns="0" rtlCol="0" anchor="t"/>
          <a:lstStyle/>
          <a:p>
            <a:pPr algn="l" indent="0" marL="0">
              <a:lnSpc>
                <a:spcPts val="1181"/>
              </a:lnSpc>
              <a:buNone/>
            </a:pPr>
            <a:r>
              <a:rPr lang="en-US" sz="800" dirty="0">
                <a:solidFill>
                  <a:srgbClr val="A1A1AA"/>
                </a:solidFill>
                <a:latin typeface="Courier New" pitchFamily="34" charset="0"/>
                <a:ea typeface="Courier New" pitchFamily="34" charset="-122"/>
                <a:cs typeface="Courier New" pitchFamily="34" charset="-120"/>
              </a:rPr>
              <a:t>You type it into a form</a:t>
            </a:r>
            <a:endParaRPr lang="en-US" sz="800" dirty="0"/>
          </a:p>
        </p:txBody>
      </p:sp>
      <p:sp>
        <p:nvSpPr>
          <p:cNvPr id="30" name="Text 26"/>
          <p:cNvSpPr/>
          <p:nvPr/>
        </p:nvSpPr>
        <p:spPr>
          <a:xfrm>
            <a:off x="6953101" y="1777008"/>
            <a:ext cx="128588" cy="128588"/>
          </a:xfrm>
          <a:prstGeom prst="rect">
            <a:avLst/>
          </a:prstGeom>
          <a:noFill/>
          <a:ln/>
        </p:spPr>
        <p:txBody>
          <a:bodyPr wrap="none" lIns="0" tIns="0" rIns="0" bIns="0" rtlCol="0" anchor="ctr"/>
          <a:lstStyle/>
          <a:p>
            <a:pPr algn="ctr" indent="0" marL="0">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31" name="Text 27"/>
          <p:cNvSpPr/>
          <p:nvPr/>
        </p:nvSpPr>
        <p:spPr>
          <a:xfrm>
            <a:off x="7210276" y="1691283"/>
            <a:ext cx="1297818" cy="329184"/>
          </a:xfrm>
          <a:prstGeom prst="rect">
            <a:avLst/>
          </a:prstGeom>
          <a:noFill/>
          <a:ln/>
        </p:spPr>
        <p:txBody>
          <a:bodyPr wrap="square" lIns="0" tIns="0" rIns="0" bIns="0" rtlCol="0" anchor="t"/>
          <a:lstStyle/>
          <a:p>
            <a:pPr algn="l" indent="0" marL="0">
              <a:lnSpc>
                <a:spcPts val="1181"/>
              </a:lnSpc>
              <a:buNone/>
            </a:pPr>
            <a:r>
              <a:rPr lang="en-US" sz="800" dirty="0">
                <a:solidFill>
                  <a:srgbClr val="F5F5F7"/>
                </a:solidFill>
                <a:latin typeface="Liberation Sans Narrow" pitchFamily="34" charset="0"/>
                <a:ea typeface="Liberation Sans Narrow" pitchFamily="34" charset="-122"/>
                <a:cs typeface="Liberation Sans Narrow" pitchFamily="34" charset="-120"/>
              </a:rPr>
              <a:t>"I spent $42 at Trader Joe's"</a:t>
            </a:r>
            <a:endParaRPr lang="en-US" sz="800" dirty="0"/>
          </a:p>
        </p:txBody>
      </p:sp>
      <p:sp>
        <p:nvSpPr>
          <p:cNvPr id="32" name="Shape 28"/>
          <p:cNvSpPr/>
          <p:nvPr/>
        </p:nvSpPr>
        <p:spPr>
          <a:xfrm>
            <a:off x="5569669" y="2794992"/>
            <a:ext cx="2938425" cy="0"/>
          </a:xfrm>
          <a:prstGeom prst="line">
            <a:avLst/>
          </a:prstGeom>
          <a:noFill/>
          <a:ln w="7144">
            <a:solidFill>
              <a:srgbClr val="FFFFFF"/>
            </a:solidFill>
            <a:prstDash val="solid"/>
          </a:ln>
        </p:spPr>
      </p:sp>
      <p:sp>
        <p:nvSpPr>
          <p:cNvPr id="33" name="Text 29"/>
          <p:cNvSpPr/>
          <p:nvPr/>
        </p:nvSpPr>
        <p:spPr>
          <a:xfrm>
            <a:off x="5569669" y="2262783"/>
            <a:ext cx="1652305" cy="101156"/>
          </a:xfrm>
          <a:prstGeom prst="rect">
            <a:avLst/>
          </a:prstGeom>
          <a:noFill/>
          <a:ln/>
        </p:spPr>
        <p:txBody>
          <a:bodyPr wrap="none" lIns="0" tIns="0" rIns="0" bIns="0" rtlCol="0" anchor="t">
            <a:normAutofit/>
          </a:bodyPr>
          <a:lstStyle/>
          <a:p>
            <a:pPr algn="l" indent="0" marL="0">
              <a:lnSpc>
                <a:spcPts val="1013"/>
              </a:lnSpc>
              <a:buNone/>
            </a:pPr>
            <a:r>
              <a:rPr lang="en-US" sz="800" spc="81" kern="0" dirty="0">
                <a:solidFill>
                  <a:srgbClr val="71717A"/>
                </a:solidFill>
                <a:latin typeface="Carlito" pitchFamily="34" charset="0"/>
                <a:ea typeface="Carlito" pitchFamily="34" charset="-122"/>
                <a:cs typeface="Carlito" pitchFamily="34" charset="-120"/>
              </a:rPr>
              <a:t>BUILDS A BUDGET</a:t>
            </a:r>
            <a:endParaRPr lang="en-US" sz="800" dirty="0"/>
          </a:p>
        </p:txBody>
      </p:sp>
      <p:sp>
        <p:nvSpPr>
          <p:cNvPr id="34" name="Text 30"/>
          <p:cNvSpPr/>
          <p:nvPr/>
        </p:nvSpPr>
        <p:spPr>
          <a:xfrm>
            <a:off x="5569669" y="2391370"/>
            <a:ext cx="1427478" cy="300038"/>
          </a:xfrm>
          <a:prstGeom prst="rect">
            <a:avLst/>
          </a:prstGeom>
          <a:noFill/>
          <a:ln/>
        </p:spPr>
        <p:txBody>
          <a:bodyPr wrap="none" lIns="0" tIns="0" rIns="0" bIns="0" rtlCol="0" anchor="t"/>
          <a:lstStyle/>
          <a:p>
            <a:pPr algn="l" indent="0" marL="0">
              <a:lnSpc>
                <a:spcPts val="1181"/>
              </a:lnSpc>
              <a:buNone/>
            </a:pPr>
            <a:r>
              <a:rPr lang="en-US" sz="800" dirty="0">
                <a:solidFill>
                  <a:srgbClr val="A1A1AA"/>
                </a:solidFill>
                <a:latin typeface="Courier New" pitchFamily="34" charset="0"/>
                <a:ea typeface="Courier New" pitchFamily="34" charset="-122"/>
                <a:cs typeface="Courier New" pitchFamily="34" charset="-120"/>
              </a:rPr>
              <a:t>You estimate categories</a:t>
            </a:r>
            <a:endParaRPr lang="en-US" sz="800" dirty="0"/>
          </a:p>
        </p:txBody>
      </p:sp>
      <p:sp>
        <p:nvSpPr>
          <p:cNvPr id="35" name="Text 31"/>
          <p:cNvSpPr/>
          <p:nvPr/>
        </p:nvSpPr>
        <p:spPr>
          <a:xfrm>
            <a:off x="6953101" y="2412802"/>
            <a:ext cx="128588" cy="128588"/>
          </a:xfrm>
          <a:prstGeom prst="rect">
            <a:avLst/>
          </a:prstGeom>
          <a:noFill/>
          <a:ln/>
        </p:spPr>
        <p:txBody>
          <a:bodyPr wrap="none" lIns="0" tIns="0" rIns="0" bIns="0" rtlCol="0" anchor="ctr"/>
          <a:lstStyle/>
          <a:p>
            <a:pPr algn="ctr" indent="0" marL="0">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36" name="Text 32"/>
          <p:cNvSpPr/>
          <p:nvPr/>
        </p:nvSpPr>
        <p:spPr>
          <a:xfrm>
            <a:off x="7210276" y="2327077"/>
            <a:ext cx="1297818" cy="329184"/>
          </a:xfrm>
          <a:prstGeom prst="rect">
            <a:avLst/>
          </a:prstGeom>
          <a:noFill/>
          <a:ln/>
        </p:spPr>
        <p:txBody>
          <a:bodyPr wrap="square" lIns="0" tIns="0" rIns="0" bIns="0" rtlCol="0" anchor="t"/>
          <a:lstStyle/>
          <a:p>
            <a:pPr algn="l" indent="0" marL="0">
              <a:lnSpc>
                <a:spcPts val="1181"/>
              </a:lnSpc>
              <a:buNone/>
            </a:pPr>
            <a:r>
              <a:rPr lang="en-US" sz="800" dirty="0">
                <a:solidFill>
                  <a:srgbClr val="F5F5F7"/>
                </a:solidFill>
                <a:latin typeface="Liberation Sans Narrow" pitchFamily="34" charset="0"/>
                <a:ea typeface="Liberation Sans Narrow" pitchFamily="34" charset="-122"/>
                <a:cs typeface="Liberation Sans Narrow" pitchFamily="34" charset="-120"/>
              </a:rPr>
              <a:t>Inferred from 550+ transactions</a:t>
            </a:r>
            <a:endParaRPr lang="en-US" sz="800" dirty="0"/>
          </a:p>
        </p:txBody>
      </p:sp>
      <p:sp>
        <p:nvSpPr>
          <p:cNvPr id="37" name="Shape 33"/>
          <p:cNvSpPr/>
          <p:nvPr/>
        </p:nvSpPr>
        <p:spPr>
          <a:xfrm>
            <a:off x="5569669" y="3302198"/>
            <a:ext cx="2938425" cy="0"/>
          </a:xfrm>
          <a:prstGeom prst="line">
            <a:avLst/>
          </a:prstGeom>
          <a:noFill/>
          <a:ln w="7144">
            <a:solidFill>
              <a:srgbClr val="FFFFFF"/>
            </a:solidFill>
            <a:prstDash val="solid"/>
          </a:ln>
        </p:spPr>
      </p:sp>
      <p:sp>
        <p:nvSpPr>
          <p:cNvPr id="38" name="Text 34"/>
          <p:cNvSpPr/>
          <p:nvPr/>
        </p:nvSpPr>
        <p:spPr>
          <a:xfrm>
            <a:off x="5569669" y="2909292"/>
            <a:ext cx="1652305" cy="101156"/>
          </a:xfrm>
          <a:prstGeom prst="rect">
            <a:avLst/>
          </a:prstGeom>
          <a:noFill/>
          <a:ln/>
        </p:spPr>
        <p:txBody>
          <a:bodyPr wrap="none" lIns="0" tIns="0" rIns="0" bIns="0" rtlCol="0" anchor="t">
            <a:normAutofit/>
          </a:bodyPr>
          <a:lstStyle/>
          <a:p>
            <a:pPr algn="l" indent="0" marL="0">
              <a:lnSpc>
                <a:spcPts val="1013"/>
              </a:lnSpc>
              <a:buNone/>
            </a:pPr>
            <a:r>
              <a:rPr lang="en-US" sz="800" spc="81" kern="0" dirty="0">
                <a:solidFill>
                  <a:srgbClr val="71717A"/>
                </a:solidFill>
                <a:latin typeface="Carlito" pitchFamily="34" charset="0"/>
                <a:ea typeface="Carlito" pitchFamily="34" charset="-122"/>
                <a:cs typeface="Carlito" pitchFamily="34" charset="-120"/>
              </a:rPr>
              <a:t>FORECASTS CASH FLOW</a:t>
            </a:r>
            <a:endParaRPr lang="en-US" sz="800" dirty="0"/>
          </a:p>
        </p:txBody>
      </p:sp>
      <p:sp>
        <p:nvSpPr>
          <p:cNvPr id="39" name="Text 35"/>
          <p:cNvSpPr/>
          <p:nvPr/>
        </p:nvSpPr>
        <p:spPr>
          <a:xfrm>
            <a:off x="5569669" y="3037880"/>
            <a:ext cx="1520912" cy="160734"/>
          </a:xfrm>
          <a:prstGeom prst="rect">
            <a:avLst/>
          </a:prstGeom>
          <a:noFill/>
          <a:ln/>
        </p:spPr>
        <p:txBody>
          <a:bodyPr wrap="none" lIns="0" tIns="0" rIns="0" bIns="0" rtlCol="0" anchor="t"/>
          <a:lstStyle/>
          <a:p>
            <a:pPr algn="l" indent="0" marL="0">
              <a:lnSpc>
                <a:spcPts val="1181"/>
              </a:lnSpc>
              <a:buNone/>
            </a:pPr>
            <a:r>
              <a:rPr lang="en-US" sz="800" dirty="0">
                <a:solidFill>
                  <a:srgbClr val="A1A1AA"/>
                </a:solidFill>
                <a:latin typeface="Courier New" pitchFamily="34" charset="0"/>
                <a:ea typeface="Courier New" pitchFamily="34" charset="-122"/>
                <a:cs typeface="Courier New" pitchFamily="34" charset="-120"/>
              </a:rPr>
              <a:t>Not available</a:t>
            </a:r>
            <a:endParaRPr lang="en-US" sz="800" dirty="0"/>
          </a:p>
        </p:txBody>
      </p:sp>
      <p:sp>
        <p:nvSpPr>
          <p:cNvPr id="40" name="Text 36"/>
          <p:cNvSpPr/>
          <p:nvPr/>
        </p:nvSpPr>
        <p:spPr>
          <a:xfrm>
            <a:off x="6953101" y="2984302"/>
            <a:ext cx="128588" cy="128588"/>
          </a:xfrm>
          <a:prstGeom prst="rect">
            <a:avLst/>
          </a:prstGeom>
          <a:noFill/>
          <a:ln/>
        </p:spPr>
        <p:txBody>
          <a:bodyPr wrap="none" lIns="0" tIns="0" rIns="0" bIns="0" rtlCol="0" anchor="ctr"/>
          <a:lstStyle/>
          <a:p>
            <a:pPr algn="ctr" indent="0" marL="0">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41" name="Text 37"/>
          <p:cNvSpPr/>
          <p:nvPr/>
        </p:nvSpPr>
        <p:spPr>
          <a:xfrm>
            <a:off x="7210276" y="2898577"/>
            <a:ext cx="1297818" cy="300038"/>
          </a:xfrm>
          <a:prstGeom prst="rect">
            <a:avLst/>
          </a:prstGeom>
          <a:noFill/>
          <a:ln/>
        </p:spPr>
        <p:txBody>
          <a:bodyPr wrap="square" lIns="0" tIns="0" rIns="0" bIns="0" rtlCol="0" anchor="t"/>
          <a:lstStyle/>
          <a:p>
            <a:pPr algn="l" indent="0" marL="0">
              <a:lnSpc>
                <a:spcPts val="1181"/>
              </a:lnSpc>
              <a:buNone/>
            </a:pPr>
            <a:r>
              <a:rPr lang="en-US" sz="800" dirty="0">
                <a:solidFill>
                  <a:srgbClr val="F5F5F7"/>
                </a:solidFill>
                <a:latin typeface="Liberation Sans Narrow" pitchFamily="34" charset="0"/>
                <a:ea typeface="Liberation Sans Narrow" pitchFamily="34" charset="-122"/>
                <a:cs typeface="Liberation Sans Narrow" pitchFamily="34" charset="-120"/>
              </a:rPr>
              <a:t>Holt-Winters · 90-day outlook</a:t>
            </a:r>
            <a:endParaRPr lang="en-US" sz="800" dirty="0"/>
          </a:p>
        </p:txBody>
      </p:sp>
      <p:sp>
        <p:nvSpPr>
          <p:cNvPr id="42" name="Shape 38"/>
          <p:cNvSpPr/>
          <p:nvPr/>
        </p:nvSpPr>
        <p:spPr>
          <a:xfrm>
            <a:off x="5569669" y="3809405"/>
            <a:ext cx="2938425" cy="0"/>
          </a:xfrm>
          <a:prstGeom prst="line">
            <a:avLst/>
          </a:prstGeom>
          <a:noFill/>
          <a:ln w="7144">
            <a:solidFill>
              <a:srgbClr val="FFFFFF"/>
            </a:solidFill>
            <a:prstDash val="solid"/>
          </a:ln>
        </p:spPr>
      </p:sp>
      <p:sp>
        <p:nvSpPr>
          <p:cNvPr id="43" name="Text 39"/>
          <p:cNvSpPr/>
          <p:nvPr/>
        </p:nvSpPr>
        <p:spPr>
          <a:xfrm>
            <a:off x="5569669" y="3416498"/>
            <a:ext cx="1652305" cy="101156"/>
          </a:xfrm>
          <a:prstGeom prst="rect">
            <a:avLst/>
          </a:prstGeom>
          <a:noFill/>
          <a:ln/>
        </p:spPr>
        <p:txBody>
          <a:bodyPr wrap="none" lIns="0" tIns="0" rIns="0" bIns="0" rtlCol="0" anchor="t">
            <a:normAutofit/>
          </a:bodyPr>
          <a:lstStyle/>
          <a:p>
            <a:pPr algn="l" indent="0" marL="0">
              <a:lnSpc>
                <a:spcPts val="1013"/>
              </a:lnSpc>
              <a:buNone/>
            </a:pPr>
            <a:r>
              <a:rPr lang="en-US" sz="800" spc="81" kern="0" dirty="0">
                <a:solidFill>
                  <a:srgbClr val="71717A"/>
                </a:solidFill>
                <a:latin typeface="Carlito" pitchFamily="34" charset="0"/>
                <a:ea typeface="Carlito" pitchFamily="34" charset="-122"/>
                <a:cs typeface="Carlito" pitchFamily="34" charset="-120"/>
              </a:rPr>
              <a:t>TESTS A WHAT-IF</a:t>
            </a:r>
            <a:endParaRPr lang="en-US" sz="800" dirty="0"/>
          </a:p>
        </p:txBody>
      </p:sp>
      <p:sp>
        <p:nvSpPr>
          <p:cNvPr id="44" name="Text 40"/>
          <p:cNvSpPr/>
          <p:nvPr/>
        </p:nvSpPr>
        <p:spPr>
          <a:xfrm>
            <a:off x="5569669" y="3545086"/>
            <a:ext cx="1520912" cy="160734"/>
          </a:xfrm>
          <a:prstGeom prst="rect">
            <a:avLst/>
          </a:prstGeom>
          <a:noFill/>
          <a:ln/>
        </p:spPr>
        <p:txBody>
          <a:bodyPr wrap="none" lIns="0" tIns="0" rIns="0" bIns="0" rtlCol="0" anchor="t"/>
          <a:lstStyle/>
          <a:p>
            <a:pPr algn="l" indent="0" marL="0">
              <a:lnSpc>
                <a:spcPts val="1181"/>
              </a:lnSpc>
              <a:buNone/>
            </a:pPr>
            <a:r>
              <a:rPr lang="en-US" sz="800" dirty="0">
                <a:solidFill>
                  <a:srgbClr val="A1A1AA"/>
                </a:solidFill>
                <a:latin typeface="Courier New" pitchFamily="34" charset="0"/>
                <a:ea typeface="Courier New" pitchFamily="34" charset="-122"/>
                <a:cs typeface="Courier New" pitchFamily="34" charset="-120"/>
              </a:rPr>
              <a:t>Spreadsheet modeling</a:t>
            </a:r>
            <a:endParaRPr lang="en-US" sz="800" dirty="0"/>
          </a:p>
        </p:txBody>
      </p:sp>
      <p:sp>
        <p:nvSpPr>
          <p:cNvPr id="45" name="Text 41"/>
          <p:cNvSpPr/>
          <p:nvPr/>
        </p:nvSpPr>
        <p:spPr>
          <a:xfrm>
            <a:off x="6953101" y="3491508"/>
            <a:ext cx="128588" cy="128588"/>
          </a:xfrm>
          <a:prstGeom prst="rect">
            <a:avLst/>
          </a:prstGeom>
          <a:noFill/>
          <a:ln/>
        </p:spPr>
        <p:txBody>
          <a:bodyPr wrap="none" lIns="0" tIns="0" rIns="0" bIns="0" rtlCol="0" anchor="ctr"/>
          <a:lstStyle/>
          <a:p>
            <a:pPr algn="ctr" indent="0" marL="0">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46" name="Text 42"/>
          <p:cNvSpPr/>
          <p:nvPr/>
        </p:nvSpPr>
        <p:spPr>
          <a:xfrm>
            <a:off x="7210276" y="3405783"/>
            <a:ext cx="1297818" cy="300038"/>
          </a:xfrm>
          <a:prstGeom prst="rect">
            <a:avLst/>
          </a:prstGeom>
          <a:noFill/>
          <a:ln/>
        </p:spPr>
        <p:txBody>
          <a:bodyPr wrap="none" lIns="0" tIns="0" rIns="0" bIns="0" rtlCol="0" anchor="t"/>
          <a:lstStyle/>
          <a:p>
            <a:pPr algn="l" indent="0" marL="0">
              <a:lnSpc>
                <a:spcPts val="1181"/>
              </a:lnSpc>
              <a:buNone/>
            </a:pPr>
            <a:r>
              <a:rPr lang="en-US" sz="800" dirty="0">
                <a:solidFill>
                  <a:srgbClr val="F5F5F7"/>
                </a:solidFill>
                <a:latin typeface="Liberation Sans Narrow" pitchFamily="34" charset="0"/>
                <a:ea typeface="Liberation Sans Narrow" pitchFamily="34" charset="-122"/>
                <a:cs typeface="Liberation Sans Narrow" pitchFamily="34" charset="-120"/>
              </a:rPr>
              <a:t>5,000 Monte Carlo paths</a:t>
            </a:r>
            <a:endParaRPr lang="en-US" sz="800" dirty="0"/>
          </a:p>
        </p:txBody>
      </p:sp>
      <p:sp>
        <p:nvSpPr>
          <p:cNvPr id="47" name="Text 43"/>
          <p:cNvSpPr/>
          <p:nvPr/>
        </p:nvSpPr>
        <p:spPr>
          <a:xfrm>
            <a:off x="5569669" y="3923705"/>
            <a:ext cx="1652305" cy="101156"/>
          </a:xfrm>
          <a:prstGeom prst="rect">
            <a:avLst/>
          </a:prstGeom>
          <a:noFill/>
          <a:ln/>
        </p:spPr>
        <p:txBody>
          <a:bodyPr wrap="none" lIns="0" tIns="0" rIns="0" bIns="0" rtlCol="0" anchor="t">
            <a:normAutofit/>
          </a:bodyPr>
          <a:lstStyle/>
          <a:p>
            <a:pPr algn="l" indent="0" marL="0">
              <a:lnSpc>
                <a:spcPts val="1013"/>
              </a:lnSpc>
              <a:buNone/>
            </a:pPr>
            <a:r>
              <a:rPr lang="en-US" sz="800" spc="81" kern="0" dirty="0">
                <a:solidFill>
                  <a:srgbClr val="71717A"/>
                </a:solidFill>
                <a:latin typeface="Carlito" pitchFamily="34" charset="0"/>
                <a:ea typeface="Carlito" pitchFamily="34" charset="-122"/>
                <a:cs typeface="Carlito" pitchFamily="34" charset="-120"/>
              </a:rPr>
              <a:t>ACTS ON ADVICE</a:t>
            </a:r>
            <a:endParaRPr lang="en-US" sz="800" dirty="0"/>
          </a:p>
        </p:txBody>
      </p:sp>
      <p:sp>
        <p:nvSpPr>
          <p:cNvPr id="48" name="Text 44"/>
          <p:cNvSpPr/>
          <p:nvPr/>
        </p:nvSpPr>
        <p:spPr>
          <a:xfrm>
            <a:off x="5569669" y="4052292"/>
            <a:ext cx="1520912" cy="164592"/>
          </a:xfrm>
          <a:prstGeom prst="rect">
            <a:avLst/>
          </a:prstGeom>
          <a:noFill/>
          <a:ln/>
        </p:spPr>
        <p:txBody>
          <a:bodyPr wrap="none" lIns="0" tIns="0" rIns="0" bIns="0" rtlCol="0" anchor="t"/>
          <a:lstStyle/>
          <a:p>
            <a:pPr algn="l" indent="0" marL="0">
              <a:lnSpc>
                <a:spcPts val="1181"/>
              </a:lnSpc>
              <a:buNone/>
            </a:pPr>
            <a:r>
              <a:rPr lang="en-US" sz="800" dirty="0">
                <a:solidFill>
                  <a:srgbClr val="A1A1AA"/>
                </a:solidFill>
                <a:latin typeface="Courier New" pitchFamily="34" charset="0"/>
                <a:ea typeface="Courier New" pitchFamily="34" charset="-122"/>
                <a:cs typeface="Courier New" pitchFamily="34" charset="-120"/>
              </a:rPr>
              <a:t>You do all the work</a:t>
            </a:r>
            <a:endParaRPr lang="en-US" sz="800" dirty="0"/>
          </a:p>
        </p:txBody>
      </p:sp>
      <p:sp>
        <p:nvSpPr>
          <p:cNvPr id="49" name="Text 45"/>
          <p:cNvSpPr/>
          <p:nvPr/>
        </p:nvSpPr>
        <p:spPr>
          <a:xfrm>
            <a:off x="6953101" y="3998714"/>
            <a:ext cx="128588" cy="128588"/>
          </a:xfrm>
          <a:prstGeom prst="rect">
            <a:avLst/>
          </a:prstGeom>
          <a:noFill/>
          <a:ln/>
        </p:spPr>
        <p:txBody>
          <a:bodyPr wrap="none" lIns="0" tIns="0" rIns="0" bIns="0" rtlCol="0" anchor="ctr"/>
          <a:lstStyle/>
          <a:p>
            <a:pPr algn="ctr" indent="0" marL="0">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50" name="Text 46"/>
          <p:cNvSpPr/>
          <p:nvPr/>
        </p:nvSpPr>
        <p:spPr>
          <a:xfrm>
            <a:off x="7210276" y="3912989"/>
            <a:ext cx="1297818" cy="329184"/>
          </a:xfrm>
          <a:prstGeom prst="rect">
            <a:avLst/>
          </a:prstGeom>
          <a:noFill/>
          <a:ln/>
        </p:spPr>
        <p:txBody>
          <a:bodyPr wrap="square" lIns="0" tIns="0" rIns="0" bIns="0" rtlCol="0" anchor="t"/>
          <a:lstStyle/>
          <a:p>
            <a:pPr algn="l" indent="0" marL="0">
              <a:lnSpc>
                <a:spcPts val="1181"/>
              </a:lnSpc>
              <a:buNone/>
            </a:pPr>
            <a:r>
              <a:rPr lang="en-US" sz="800" dirty="0">
                <a:solidFill>
                  <a:srgbClr val="F5F5F7"/>
                </a:solidFill>
                <a:latin typeface="Carlito" pitchFamily="34" charset="0"/>
                <a:ea typeface="Carlito" pitchFamily="34" charset="-122"/>
                <a:cs typeface="Carlito" pitchFamily="34" charset="-120"/>
              </a:rPr>
              <a:t>Agent writes inside audit trail</a:t>
            </a:r>
            <a:endParaRPr lang="en-US" sz="800" dirty="0"/>
          </a:p>
        </p:txBody>
      </p:sp>
      <p:sp>
        <p:nvSpPr>
          <p:cNvPr id="51" name="Text 47"/>
          <p:cNvSpPr/>
          <p:nvPr/>
        </p:nvSpPr>
        <p:spPr>
          <a:xfrm>
            <a:off x="457200" y="4861322"/>
            <a:ext cx="42863" cy="42863"/>
          </a:xfrm>
          <a:prstGeom prst="roundRect">
            <a:avLst>
              <a:gd name="adj" fmla="val 22199741"/>
            </a:avLst>
          </a:prstGeom>
          <a:solidFill>
            <a:srgbClr val="6366F1"/>
          </a:solidFill>
          <a:ln/>
        </p:spPr>
        <p:txBody>
          <a:bodyPr wrap="square" rtlCol="0" anchor="ctr"/>
          <a:lstStyle/>
          <a:p>
            <a:pPr indent="0" marL="0">
              <a:buNone/>
            </a:pPr>
            <a:endParaRPr lang="en-US" dirty="0"/>
          </a:p>
        </p:txBody>
      </p:sp>
      <p:sp>
        <p:nvSpPr>
          <p:cNvPr id="52" name="Text 48"/>
          <p:cNvSpPr/>
          <p:nvPr/>
        </p:nvSpPr>
        <p:spPr>
          <a:xfrm>
            <a:off x="457200" y="4814888"/>
            <a:ext cx="786571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Carlito" pitchFamily="34" charset="0"/>
                <a:ea typeface="Carlito" pitchFamily="34" charset="-122"/>
                <a:cs typeface="Carlito" pitchFamily="34" charset="-120"/>
              </a:rPr>
              <a:t>FINWISE · TOPIC A</a:t>
            </a:r>
            <a:endParaRPr lang="en-US" sz="800" dirty="0"/>
          </a:p>
        </p:txBody>
      </p:sp>
      <p:sp>
        <p:nvSpPr>
          <p:cNvPr id="53" name="Text 49"/>
          <p:cNvSpPr/>
          <p:nvPr/>
        </p:nvSpPr>
        <p:spPr>
          <a:xfrm>
            <a:off x="8337203" y="4814888"/>
            <a:ext cx="499050"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Liberation Sans Narrow" pitchFamily="34" charset="0"/>
                <a:ea typeface="Liberation Sans Narrow" pitchFamily="34" charset="-122"/>
                <a:cs typeface="Liberation Sans Narrow" pitchFamily="34" charset="-120"/>
              </a:rPr>
              <a:t>03 / 12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45174"/>
            <a:ext cx="1158515" cy="224028"/>
          </a:xfrm>
          <a:prstGeom prst="roundRect">
            <a:avLst>
              <a:gd name="adj" fmla="val 4247449"/>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3" name="Text 1"/>
          <p:cNvSpPr/>
          <p:nvPr/>
        </p:nvSpPr>
        <p:spPr>
          <a:xfrm>
            <a:off x="457200" y="257175"/>
            <a:ext cx="1158515"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04 · ARCHITECTURE</a:t>
            </a:r>
            <a:endParaRPr lang="en-US" sz="800" dirty="0"/>
          </a:p>
        </p:txBody>
      </p:sp>
      <p:sp>
        <p:nvSpPr>
          <p:cNvPr id="4" name="Text 2"/>
          <p:cNvSpPr/>
          <p:nvPr/>
        </p:nvSpPr>
        <p:spPr>
          <a:xfrm>
            <a:off x="1701440" y="292894"/>
            <a:ext cx="2485704"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Liberation Sans Narrow" pitchFamily="34" charset="0"/>
                <a:ea typeface="Liberation Sans Narrow" pitchFamily="34" charset="-122"/>
                <a:cs typeface="Liberation Sans Narrow" pitchFamily="34" charset="-120"/>
              </a:rPr>
              <a:t>4-LAYER DESIGN · SUPERVISOR–WORKER</a:t>
            </a:r>
            <a:endParaRPr lang="en-US" sz="800" dirty="0"/>
          </a:p>
        </p:txBody>
      </p:sp>
      <p:sp>
        <p:nvSpPr>
          <p:cNvPr id="5" name="Text 3"/>
          <p:cNvSpPr/>
          <p:nvPr/>
        </p:nvSpPr>
        <p:spPr>
          <a:xfrm>
            <a:off x="6276231" y="292894"/>
            <a:ext cx="2788573"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FINWISE · PERSONAL FINANCE INTELLIGENCE</a:t>
            </a:r>
            <a:endParaRPr lang="en-US" sz="800" dirty="0"/>
          </a:p>
        </p:txBody>
      </p:sp>
      <p:sp>
        <p:nvSpPr>
          <p:cNvPr id="6" name="Text 4"/>
          <p:cNvSpPr/>
          <p:nvPr/>
        </p:nvSpPr>
        <p:spPr>
          <a:xfrm>
            <a:off x="457200" y="571500"/>
            <a:ext cx="8636000" cy="158306"/>
          </a:xfrm>
          <a:prstGeom prst="rect">
            <a:avLst/>
          </a:prstGeom>
          <a:noFill/>
          <a:ln/>
        </p:spPr>
        <p:txBody>
          <a:bodyPr wrap="none" lIns="0" tIns="0" rIns="0" bIns="0" rtlCol="0" anchor="t">
            <a:normAutofit/>
          </a:bodyPr>
          <a:lstStyle/>
          <a:p>
            <a:pPr algn="l" indent="0" marL="0">
              <a:lnSpc>
                <a:spcPts val="1013"/>
              </a:lnSpc>
              <a:buNone/>
            </a:pPr>
            <a:r>
              <a:rPr lang="en-US" sz="800" spc="122" kern="0" dirty="0">
                <a:solidFill>
                  <a:srgbClr val="818CF8"/>
                </a:solidFill>
                <a:latin typeface="Courier New" pitchFamily="34" charset="0"/>
                <a:ea typeface="Courier New" pitchFamily="34" charset="-122"/>
                <a:cs typeface="Courier New" pitchFamily="34" charset="-120"/>
              </a:rPr>
              <a:t>SYSTEM ARCHITECTURE</a:t>
            </a:r>
            <a:endParaRPr lang="en-US" sz="800" dirty="0"/>
          </a:p>
        </p:txBody>
      </p:sp>
      <p:sp>
        <p:nvSpPr>
          <p:cNvPr id="7" name="Text 5"/>
          <p:cNvSpPr/>
          <p:nvPr/>
        </p:nvSpPr>
        <p:spPr>
          <a:xfrm>
            <a:off x="457200" y="757238"/>
            <a:ext cx="8636000" cy="356348"/>
          </a:xfrm>
          <a:prstGeom prst="rect">
            <a:avLst/>
          </a:prstGeom>
          <a:noFill/>
          <a:ln/>
        </p:spPr>
        <p:txBody>
          <a:bodyPr wrap="square" lIns="0" tIns="0" rIns="0" bIns="0" rtlCol="0" anchor="t"/>
          <a:lstStyle/>
          <a:p>
            <a:pPr algn="l" indent="0" marL="0">
              <a:lnSpc>
                <a:spcPts val="2599"/>
              </a:lnSpc>
              <a:buNone/>
            </a:pPr>
            <a:r>
              <a:rPr lang="en-US" sz="2475" b="1" spc="-62" kern="0" dirty="0">
                <a:solidFill>
                  <a:srgbClr val="FFFFFF"/>
                </a:solidFill>
                <a:latin typeface="Tinos" pitchFamily="34" charset="0"/>
                <a:ea typeface="Tinos" pitchFamily="34" charset="-122"/>
                <a:cs typeface="Tinos" pitchFamily="34" charset="-120"/>
              </a:rPr>
              <a:t>A four-layer pipeline, governed by an </a:t>
            </a:r>
            <a:pPr algn="l" indent="0" marL="0">
              <a:lnSpc>
                <a:spcPts val="2599"/>
              </a:lnSpc>
              <a:buNone/>
            </a:pPr>
            <a:r>
              <a:rPr lang="en-US" sz="2475" b="1" i="1" spc="-62" kern="0" dirty="0">
                <a:solidFill>
                  <a:srgbClr val="818CF8"/>
                </a:solidFill>
                <a:latin typeface="Tinos" pitchFamily="34" charset="0"/>
                <a:ea typeface="Tinos" pitchFamily="34" charset="-122"/>
                <a:cs typeface="Tinos" pitchFamily="34" charset="-120"/>
              </a:rPr>
              <a:t>LLM supervisor.</a:t>
            </a:r>
            <a:endParaRPr lang="en-US" sz="2475" dirty="0"/>
          </a:p>
        </p:txBody>
      </p:sp>
      <p:pic>
        <p:nvPicPr>
          <p:cNvPr id="8" name="Image 0" descr="preencoded.png">    </p:cNvPr>
          <p:cNvPicPr>
            <a:picLocks noChangeAspect="1"/>
          </p:cNvPicPr>
          <p:nvPr/>
        </p:nvPicPr>
        <p:blipFill>
          <a:blip r:embed="rId1"/>
          <a:stretch>
            <a:fillRect/>
          </a:stretch>
        </p:blipFill>
        <p:spPr>
          <a:xfrm>
            <a:off x="457200" y="1428750"/>
            <a:ext cx="8229600" cy="532209"/>
          </a:xfrm>
          <a:prstGeom prst="rect">
            <a:avLst/>
          </a:prstGeom>
        </p:spPr>
      </p:pic>
      <p:sp>
        <p:nvSpPr>
          <p:cNvPr id="9" name="Text 6"/>
          <p:cNvSpPr/>
          <p:nvPr/>
        </p:nvSpPr>
        <p:spPr>
          <a:xfrm>
            <a:off x="460772" y="1432322"/>
            <a:ext cx="8222456" cy="525066"/>
          </a:xfrm>
          <a:prstGeom prst="roundRect">
            <a:avLst>
              <a:gd name="adj" fmla="val 25397"/>
            </a:avLst>
          </a:prstGeom>
          <a:noFill/>
          <a:ln w="7144">
            <a:solidFill>
              <a:srgbClr val="6366F1"/>
            </a:solidFill>
            <a:prstDash val="solid"/>
          </a:ln>
        </p:spPr>
        <p:txBody>
          <a:bodyPr wrap="square" rtlCol="0" anchor="ctr"/>
          <a:lstStyle/>
          <a:p>
            <a:pPr indent="0" marL="0">
              <a:buNone/>
            </a:pPr>
            <a:endParaRPr lang="en-US" dirty="0"/>
          </a:p>
        </p:txBody>
      </p:sp>
      <p:sp>
        <p:nvSpPr>
          <p:cNvPr id="10" name="Text 7"/>
          <p:cNvSpPr/>
          <p:nvPr/>
        </p:nvSpPr>
        <p:spPr>
          <a:xfrm>
            <a:off x="564356" y="1601986"/>
            <a:ext cx="185738" cy="185738"/>
          </a:xfrm>
          <a:prstGeom prst="rect">
            <a:avLst/>
          </a:prstGeom>
          <a:noFill/>
          <a:ln/>
        </p:spPr>
        <p:txBody>
          <a:bodyPr wrap="none" lIns="0" tIns="0" rIns="0" bIns="0" rtlCol="0" anchor="ctr"/>
          <a:lstStyle/>
          <a:p>
            <a:pPr algn="ctr" indent="0" marL="0">
              <a:buNone/>
            </a:pPr>
            <a:r>
              <a:rPr lang="en-US" sz="1828" dirty="0">
                <a:solidFill>
                  <a:srgbClr val="34D399"/>
                </a:solidFill>
                <a:latin typeface="Segoe UI Symbol" pitchFamily="34" charset="0"/>
                <a:ea typeface="Segoe UI Symbol" pitchFamily="34" charset="-122"/>
                <a:cs typeface="Segoe UI Symbol" pitchFamily="34" charset="-120"/>
              </a:rPr>
              <a:t>✦</a:t>
            </a:r>
            <a:endParaRPr lang="en-US" sz="1828" dirty="0"/>
          </a:p>
        </p:txBody>
      </p:sp>
      <p:sp>
        <p:nvSpPr>
          <p:cNvPr id="11" name="Text 8"/>
          <p:cNvSpPr/>
          <p:nvPr/>
        </p:nvSpPr>
        <p:spPr>
          <a:xfrm>
            <a:off x="835819" y="1535906"/>
            <a:ext cx="4275213" cy="161877"/>
          </a:xfrm>
          <a:prstGeom prst="rect">
            <a:avLst/>
          </a:prstGeom>
          <a:noFill/>
          <a:ln/>
        </p:spPr>
        <p:txBody>
          <a:bodyPr wrap="square" lIns="0" tIns="0" rIns="0" bIns="0" rtlCol="0" anchor="t">
            <a:normAutofit/>
          </a:bodyPr>
          <a:lstStyle/>
          <a:p>
            <a:pPr algn="l" indent="0" marL="0">
              <a:lnSpc>
                <a:spcPts val="1434"/>
              </a:lnSpc>
              <a:buNone/>
            </a:pPr>
            <a:r>
              <a:rPr lang="en-US" sz="956" b="1" dirty="0">
                <a:solidFill>
                  <a:srgbClr val="F5F5F7"/>
                </a:solidFill>
                <a:latin typeface="Tinos" pitchFamily="34" charset="0"/>
                <a:ea typeface="Tinos" pitchFamily="34" charset="-122"/>
                <a:cs typeface="Tinos" pitchFamily="34" charset="-120"/>
              </a:rPr>
              <a:t>LLM Supervisor — Intent → Plan → Route</a:t>
            </a:r>
            <a:endParaRPr lang="en-US" sz="956" dirty="0"/>
          </a:p>
        </p:txBody>
      </p:sp>
      <p:sp>
        <p:nvSpPr>
          <p:cNvPr id="12" name="Text 9"/>
          <p:cNvSpPr/>
          <p:nvPr/>
        </p:nvSpPr>
        <p:spPr>
          <a:xfrm>
            <a:off x="835819" y="1725216"/>
            <a:ext cx="3958530" cy="128588"/>
          </a:xfrm>
          <a:prstGeom prst="rect">
            <a:avLst/>
          </a:prstGeom>
          <a:noFill/>
          <a:ln/>
        </p:spPr>
        <p:txBody>
          <a:bodyPr wrap="square" lIns="0" tIns="0" rIns="0" bIns="0" rtlCol="0" anchor="t"/>
          <a:lstStyle/>
          <a:p>
            <a:pPr algn="l" indent="0" marL="0">
              <a:lnSpc>
                <a:spcPts val="1013"/>
              </a:lnSpc>
              <a:buNone/>
            </a:pPr>
            <a:r>
              <a:rPr lang="en-US" sz="675" dirty="0">
                <a:solidFill>
                  <a:srgbClr val="A1A1AA"/>
                </a:solidFill>
                <a:latin typeface="Carlito" pitchFamily="34" charset="0"/>
                <a:ea typeface="Carlito" pitchFamily="34" charset="-122"/>
                <a:cs typeface="Carlito" pitchFamily="34" charset="-120"/>
              </a:rPr>
              <a:t>Parses user utterance · plans tool sequence · dispatches to worker agents · validates results</a:t>
            </a:r>
            <a:endParaRPr lang="en-US" sz="675" dirty="0"/>
          </a:p>
        </p:txBody>
      </p:sp>
      <p:sp>
        <p:nvSpPr>
          <p:cNvPr id="13" name="Text 10"/>
          <p:cNvSpPr/>
          <p:nvPr/>
        </p:nvSpPr>
        <p:spPr>
          <a:xfrm>
            <a:off x="4913114" y="1588841"/>
            <a:ext cx="885602" cy="212027"/>
          </a:xfrm>
          <a:prstGeom prst="roundRect">
            <a:avLst>
              <a:gd name="adj" fmla="val 26954"/>
            </a:avLst>
          </a:prstGeom>
          <a:solidFill>
            <a:srgbClr val="6366F1">
              <a:alpha val="10000"/>
            </a:srgbClr>
          </a:solidFill>
          <a:ln w="7144">
            <a:solidFill>
              <a:srgbClr val="6366F1"/>
            </a:solidFill>
            <a:prstDash val="solid"/>
          </a:ln>
        </p:spPr>
        <p:txBody>
          <a:bodyPr wrap="square" rtlCol="0" anchor="ctr"/>
          <a:lstStyle/>
          <a:p>
            <a:pPr indent="0" marL="0">
              <a:buNone/>
            </a:pPr>
            <a:endParaRPr lang="en-US" dirty="0"/>
          </a:p>
        </p:txBody>
      </p:sp>
      <p:sp>
        <p:nvSpPr>
          <p:cNvPr id="14" name="Text 11"/>
          <p:cNvSpPr/>
          <p:nvPr/>
        </p:nvSpPr>
        <p:spPr>
          <a:xfrm>
            <a:off x="4913114" y="1600200"/>
            <a:ext cx="885602" cy="189309"/>
          </a:xfrm>
          <a:prstGeom prst="rect">
            <a:avLst/>
          </a:prstGeom>
          <a:noFill/>
          <a:ln/>
        </p:spPr>
        <p:txBody>
          <a:bodyPr wrap="none" lIns="0" tIns="0" rIns="0" bIns="0" rtlCol="0" anchor="ctr"/>
          <a:lstStyle/>
          <a:p>
            <a:pPr algn="ctr" indent="0" marL="0">
              <a:lnSpc>
                <a:spcPts val="928"/>
              </a:lnSpc>
              <a:buNone/>
            </a:pPr>
            <a:r>
              <a:rPr lang="en-US" sz="800" dirty="0">
                <a:solidFill>
                  <a:srgbClr val="818CF8"/>
                </a:solidFill>
                <a:latin typeface="Courier New" pitchFamily="34" charset="0"/>
                <a:ea typeface="Courier New" pitchFamily="34" charset="-122"/>
                <a:cs typeface="Courier New" pitchFamily="34" charset="-120"/>
              </a:rPr>
              <a:t>worker · planner</a:t>
            </a:r>
            <a:endParaRPr lang="en-US" sz="800" dirty="0"/>
          </a:p>
        </p:txBody>
      </p:sp>
      <p:sp>
        <p:nvSpPr>
          <p:cNvPr id="15" name="Text 12"/>
          <p:cNvSpPr/>
          <p:nvPr/>
        </p:nvSpPr>
        <p:spPr>
          <a:xfrm>
            <a:off x="5855866" y="1588841"/>
            <a:ext cx="838274" cy="212027"/>
          </a:xfrm>
          <a:prstGeom prst="roundRect">
            <a:avLst>
              <a:gd name="adj" fmla="val 26954"/>
            </a:avLst>
          </a:prstGeom>
          <a:solidFill>
            <a:srgbClr val="6366F1">
              <a:alpha val="10000"/>
            </a:srgbClr>
          </a:solidFill>
          <a:ln w="7144">
            <a:solidFill>
              <a:srgbClr val="6366F1"/>
            </a:solidFill>
            <a:prstDash val="solid"/>
          </a:ln>
        </p:spPr>
        <p:txBody>
          <a:bodyPr wrap="square" rtlCol="0" anchor="ctr"/>
          <a:lstStyle/>
          <a:p>
            <a:pPr indent="0" marL="0">
              <a:buNone/>
            </a:pPr>
            <a:endParaRPr lang="en-US" dirty="0"/>
          </a:p>
        </p:txBody>
      </p:sp>
      <p:sp>
        <p:nvSpPr>
          <p:cNvPr id="16" name="Text 13"/>
          <p:cNvSpPr/>
          <p:nvPr/>
        </p:nvSpPr>
        <p:spPr>
          <a:xfrm>
            <a:off x="5855866" y="1600200"/>
            <a:ext cx="838274" cy="189309"/>
          </a:xfrm>
          <a:prstGeom prst="rect">
            <a:avLst/>
          </a:prstGeom>
          <a:noFill/>
          <a:ln/>
        </p:spPr>
        <p:txBody>
          <a:bodyPr wrap="none" lIns="0" tIns="0" rIns="0" bIns="0" rtlCol="0" anchor="ctr"/>
          <a:lstStyle/>
          <a:p>
            <a:pPr algn="ctr" indent="0" marL="0">
              <a:lnSpc>
                <a:spcPts val="928"/>
              </a:lnSpc>
              <a:buNone/>
            </a:pPr>
            <a:r>
              <a:rPr lang="en-US" sz="800" dirty="0">
                <a:solidFill>
                  <a:srgbClr val="818CF8"/>
                </a:solidFill>
                <a:latin typeface="Courier New" pitchFamily="34" charset="0"/>
                <a:ea typeface="Courier New" pitchFamily="34" charset="-122"/>
                <a:cs typeface="Courier New" pitchFamily="34" charset="-120"/>
              </a:rPr>
              <a:t>worker · ledger</a:t>
            </a:r>
            <a:endParaRPr lang="en-US" sz="800" dirty="0"/>
          </a:p>
        </p:txBody>
      </p:sp>
      <p:sp>
        <p:nvSpPr>
          <p:cNvPr id="17" name="Text 14"/>
          <p:cNvSpPr/>
          <p:nvPr/>
        </p:nvSpPr>
        <p:spPr>
          <a:xfrm>
            <a:off x="6751290" y="1588841"/>
            <a:ext cx="790947" cy="212027"/>
          </a:xfrm>
          <a:prstGeom prst="roundRect">
            <a:avLst>
              <a:gd name="adj" fmla="val 26954"/>
            </a:avLst>
          </a:prstGeom>
          <a:solidFill>
            <a:srgbClr val="6366F1">
              <a:alpha val="10000"/>
            </a:srgbClr>
          </a:solidFill>
          <a:ln w="7144">
            <a:solidFill>
              <a:srgbClr val="6366F1"/>
            </a:solidFill>
            <a:prstDash val="solid"/>
          </a:ln>
        </p:spPr>
        <p:txBody>
          <a:bodyPr wrap="square" rtlCol="0" anchor="ctr"/>
          <a:lstStyle/>
          <a:p>
            <a:pPr indent="0" marL="0">
              <a:buNone/>
            </a:pPr>
            <a:endParaRPr lang="en-US" dirty="0"/>
          </a:p>
        </p:txBody>
      </p:sp>
      <p:sp>
        <p:nvSpPr>
          <p:cNvPr id="18" name="Text 15"/>
          <p:cNvSpPr/>
          <p:nvPr/>
        </p:nvSpPr>
        <p:spPr>
          <a:xfrm>
            <a:off x="6725561" y="1600200"/>
            <a:ext cx="842406" cy="189309"/>
          </a:xfrm>
          <a:prstGeom prst="rect">
            <a:avLst/>
          </a:prstGeom>
          <a:noFill/>
          <a:ln/>
        </p:spPr>
        <p:txBody>
          <a:bodyPr wrap="none" lIns="0" tIns="0" rIns="0" bIns="0" rtlCol="0" anchor="ctr"/>
          <a:lstStyle/>
          <a:p>
            <a:pPr algn="ctr" indent="0" marL="0">
              <a:lnSpc>
                <a:spcPts val="928"/>
              </a:lnSpc>
              <a:buNone/>
            </a:pPr>
            <a:r>
              <a:rPr lang="en-US" sz="800" dirty="0">
                <a:solidFill>
                  <a:srgbClr val="818CF8"/>
                </a:solidFill>
                <a:latin typeface="Courier New" pitchFamily="34" charset="0"/>
                <a:ea typeface="Courier New" pitchFamily="34" charset="-122"/>
                <a:cs typeface="Courier New" pitchFamily="34" charset="-120"/>
              </a:rPr>
              <a:t>worker · goals</a:t>
            </a:r>
            <a:endParaRPr lang="en-US" sz="800" dirty="0"/>
          </a:p>
        </p:txBody>
      </p:sp>
      <p:sp>
        <p:nvSpPr>
          <p:cNvPr id="19" name="Text 16"/>
          <p:cNvSpPr/>
          <p:nvPr/>
        </p:nvSpPr>
        <p:spPr>
          <a:xfrm>
            <a:off x="7599387" y="1588841"/>
            <a:ext cx="980256" cy="212027"/>
          </a:xfrm>
          <a:prstGeom prst="roundRect">
            <a:avLst>
              <a:gd name="adj" fmla="val 26954"/>
            </a:avLst>
          </a:prstGeom>
          <a:solidFill>
            <a:srgbClr val="6366F1">
              <a:alpha val="10000"/>
            </a:srgbClr>
          </a:solidFill>
          <a:ln w="7144">
            <a:solidFill>
              <a:srgbClr val="6366F1"/>
            </a:solidFill>
            <a:prstDash val="solid"/>
          </a:ln>
        </p:spPr>
        <p:txBody>
          <a:bodyPr wrap="square" rtlCol="0" anchor="ctr"/>
          <a:lstStyle/>
          <a:p>
            <a:pPr indent="0" marL="0">
              <a:buNone/>
            </a:pPr>
            <a:endParaRPr lang="en-US" dirty="0"/>
          </a:p>
        </p:txBody>
      </p:sp>
      <p:sp>
        <p:nvSpPr>
          <p:cNvPr id="20" name="Text 17"/>
          <p:cNvSpPr/>
          <p:nvPr/>
        </p:nvSpPr>
        <p:spPr>
          <a:xfrm>
            <a:off x="7599387" y="1600200"/>
            <a:ext cx="980256" cy="189309"/>
          </a:xfrm>
          <a:prstGeom prst="rect">
            <a:avLst/>
          </a:prstGeom>
          <a:noFill/>
          <a:ln/>
        </p:spPr>
        <p:txBody>
          <a:bodyPr wrap="none" lIns="0" tIns="0" rIns="0" bIns="0" rtlCol="0" anchor="ctr"/>
          <a:lstStyle/>
          <a:p>
            <a:pPr algn="ctr" indent="0" marL="0">
              <a:lnSpc>
                <a:spcPts val="928"/>
              </a:lnSpc>
              <a:buNone/>
            </a:pPr>
            <a:r>
              <a:rPr lang="en-US" sz="800" dirty="0">
                <a:solidFill>
                  <a:srgbClr val="818CF8"/>
                </a:solidFill>
                <a:latin typeface="Courier New" pitchFamily="34" charset="0"/>
                <a:ea typeface="Courier New" pitchFamily="34" charset="-122"/>
                <a:cs typeface="Courier New" pitchFamily="34" charset="-120"/>
              </a:rPr>
              <a:t>worker · analytics</a:t>
            </a:r>
            <a:endParaRPr lang="en-US" sz="800" dirty="0"/>
          </a:p>
        </p:txBody>
      </p:sp>
      <p:sp>
        <p:nvSpPr>
          <p:cNvPr id="21" name="Text 18"/>
          <p:cNvSpPr/>
          <p:nvPr/>
        </p:nvSpPr>
        <p:spPr>
          <a:xfrm>
            <a:off x="460772" y="2854263"/>
            <a:ext cx="1943100" cy="1714165"/>
          </a:xfrm>
          <a:prstGeom prst="roundRect">
            <a:avLst>
              <a:gd name="adj" fmla="val 7779"/>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22" name="Text 19"/>
          <p:cNvSpPr/>
          <p:nvPr/>
        </p:nvSpPr>
        <p:spPr>
          <a:xfrm>
            <a:off x="555784" y="2779325"/>
            <a:ext cx="626596" cy="132017"/>
          </a:xfrm>
          <a:prstGeom prst="rect">
            <a:avLst/>
          </a:prstGeom>
          <a:solidFill>
            <a:srgbClr val="0A0A0A"/>
          </a:solidFill>
          <a:ln/>
        </p:spPr>
        <p:txBody>
          <a:bodyPr wrap="square" rtlCol="0" anchor="ctr"/>
          <a:lstStyle/>
          <a:p>
            <a:pPr indent="0" marL="0">
              <a:buNone/>
            </a:pPr>
            <a:endParaRPr lang="en-US" dirty="0"/>
          </a:p>
        </p:txBody>
      </p:sp>
      <p:sp>
        <p:nvSpPr>
          <p:cNvPr id="23" name="Text 20"/>
          <p:cNvSpPr/>
          <p:nvPr/>
        </p:nvSpPr>
        <p:spPr>
          <a:xfrm>
            <a:off x="574361" y="2786397"/>
            <a:ext cx="589443" cy="164592"/>
          </a:xfrm>
          <a:prstGeom prst="rect">
            <a:avLst/>
          </a:prstGeom>
          <a:noFill/>
          <a:ln/>
        </p:spPr>
        <p:txBody>
          <a:bodyPr wrap="none" lIns="57150" tIns="0" rIns="57150" bIns="0" rtlCol="0" anchor="t"/>
          <a:lstStyle/>
          <a:p>
            <a:pPr algn="l" indent="0" marL="0">
              <a:lnSpc>
                <a:spcPts val="928"/>
              </a:lnSpc>
              <a:buNone/>
            </a:pPr>
            <a:r>
              <a:rPr lang="en-US" sz="800" spc="87" kern="0" dirty="0">
                <a:solidFill>
                  <a:srgbClr val="818CF8"/>
                </a:solidFill>
                <a:latin typeface="Liberation Sans Narrow" pitchFamily="34" charset="0"/>
                <a:ea typeface="Liberation Sans Narrow" pitchFamily="34" charset="-122"/>
                <a:cs typeface="Liberation Sans Narrow" pitchFamily="34" charset="-120"/>
              </a:rPr>
              <a:t>LAYER 01</a:t>
            </a:r>
            <a:endParaRPr lang="en-US" sz="800" dirty="0"/>
          </a:p>
        </p:txBody>
      </p:sp>
      <p:sp>
        <p:nvSpPr>
          <p:cNvPr id="24" name="Text 21"/>
          <p:cNvSpPr/>
          <p:nvPr/>
        </p:nvSpPr>
        <p:spPr>
          <a:xfrm>
            <a:off x="578644" y="2982850"/>
            <a:ext cx="142875" cy="142875"/>
          </a:xfrm>
          <a:prstGeom prst="rect">
            <a:avLst/>
          </a:prstGeom>
          <a:noFill/>
          <a:ln/>
        </p:spPr>
        <p:txBody>
          <a:bodyPr wrap="none" lIns="0" tIns="0" rIns="0" bIns="0" rtlCol="0" anchor="ctr"/>
          <a:lstStyle/>
          <a:p>
            <a:pPr algn="ctr" indent="0" marL="0">
              <a:buNone/>
            </a:pPr>
            <a:r>
              <a:rPr lang="en-US" sz="1406" dirty="0">
                <a:solidFill>
                  <a:srgbClr val="818CF8"/>
                </a:solidFill>
                <a:latin typeface="Segoe UI Symbol" pitchFamily="34" charset="0"/>
                <a:ea typeface="Segoe UI Symbol" pitchFamily="34" charset="-122"/>
                <a:cs typeface="Segoe UI Symbol" pitchFamily="34" charset="-120"/>
              </a:rPr>
              <a:t>✦</a:t>
            </a:r>
            <a:endParaRPr lang="en-US" sz="1406" dirty="0"/>
          </a:p>
        </p:txBody>
      </p:sp>
      <p:sp>
        <p:nvSpPr>
          <p:cNvPr id="25" name="Text 22"/>
          <p:cNvSpPr/>
          <p:nvPr/>
        </p:nvSpPr>
        <p:spPr>
          <a:xfrm>
            <a:off x="778669" y="2957847"/>
            <a:ext cx="1507331" cy="208312"/>
          </a:xfrm>
          <a:prstGeom prst="rect">
            <a:avLst/>
          </a:prstGeom>
          <a:noFill/>
          <a:ln/>
        </p:spPr>
        <p:txBody>
          <a:bodyPr wrap="none" lIns="0" tIns="0" rIns="0" bIns="0" rtlCol="0" anchor="t"/>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Ingestion</a:t>
            </a:r>
            <a:endParaRPr lang="en-US" sz="1013" dirty="0"/>
          </a:p>
        </p:txBody>
      </p:sp>
      <p:sp>
        <p:nvSpPr>
          <p:cNvPr id="26" name="Text 23"/>
          <p:cNvSpPr/>
          <p:nvPr/>
        </p:nvSpPr>
        <p:spPr>
          <a:xfrm>
            <a:off x="578644" y="3165016"/>
            <a:ext cx="1707356" cy="375409"/>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A1A1AA"/>
                </a:solidFill>
                <a:latin typeface="Carlito" pitchFamily="34" charset="0"/>
                <a:ea typeface="Carlito" pitchFamily="34" charset="-122"/>
                <a:cs typeface="Carlito" pitchFamily="34" charset="-120"/>
              </a:rPr>
              <a:t>Receipts, CSV imports, manual entry, merchant sync. Normalizes to a single ledger schema.</a:t>
            </a:r>
            <a:endParaRPr lang="en-US" sz="800" dirty="0"/>
          </a:p>
        </p:txBody>
      </p:sp>
      <p:sp>
        <p:nvSpPr>
          <p:cNvPr id="27" name="Text 24"/>
          <p:cNvSpPr/>
          <p:nvPr/>
        </p:nvSpPr>
        <p:spPr>
          <a:xfrm>
            <a:off x="582216" y="3571429"/>
            <a:ext cx="1700213" cy="142875"/>
          </a:xfrm>
          <a:prstGeom prst="roundRect">
            <a:avLst>
              <a:gd name="adj" fmla="val 26667"/>
            </a:avLst>
          </a:prstGeom>
          <a:solidFill>
            <a:srgbClr val="FFFFFF">
              <a:alpha val="4000"/>
            </a:srgbClr>
          </a:solidFill>
          <a:ln w="7144">
            <a:solidFill>
              <a:srgbClr val="FFFFFF"/>
            </a:solidFill>
            <a:prstDash val="solid"/>
          </a:ln>
        </p:spPr>
        <p:txBody>
          <a:bodyPr wrap="square" rtlCol="0" anchor="ctr"/>
          <a:lstStyle/>
          <a:p>
            <a:pPr indent="0" marL="0">
              <a:buNone/>
            </a:pPr>
            <a:endParaRPr lang="en-US" dirty="0"/>
          </a:p>
        </p:txBody>
      </p:sp>
      <p:sp>
        <p:nvSpPr>
          <p:cNvPr id="28" name="Text 25"/>
          <p:cNvSpPr/>
          <p:nvPr/>
        </p:nvSpPr>
        <p:spPr>
          <a:xfrm>
            <a:off x="578644" y="3567857"/>
            <a:ext cx="1707356" cy="230429"/>
          </a:xfrm>
          <a:prstGeom prst="rect">
            <a:avLst/>
          </a:prstGeom>
          <a:noFill/>
          <a:ln/>
        </p:spPr>
        <p:txBody>
          <a:bodyPr wrap="none" lIns="42863" tIns="14288" rIns="42863" bIns="14288" rtlCol="0" anchor="t"/>
          <a:lstStyle/>
          <a:p>
            <a:pPr algn="l" indent="0" marL="0">
              <a:lnSpc>
                <a:spcPts val="844"/>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Prisma · SQLite · 550+ txns</a:t>
            </a:r>
            <a:endParaRPr lang="en-US" sz="800" dirty="0"/>
          </a:p>
        </p:txBody>
      </p:sp>
      <p:sp>
        <p:nvSpPr>
          <p:cNvPr id="29" name="Text 26"/>
          <p:cNvSpPr/>
          <p:nvPr/>
        </p:nvSpPr>
        <p:spPr>
          <a:xfrm>
            <a:off x="2553891" y="2854263"/>
            <a:ext cx="1943100" cy="1714165"/>
          </a:xfrm>
          <a:prstGeom prst="roundRect">
            <a:avLst>
              <a:gd name="adj" fmla="val 7779"/>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30" name="Text 27"/>
          <p:cNvSpPr/>
          <p:nvPr/>
        </p:nvSpPr>
        <p:spPr>
          <a:xfrm>
            <a:off x="2648903" y="2779325"/>
            <a:ext cx="626596" cy="132017"/>
          </a:xfrm>
          <a:prstGeom prst="rect">
            <a:avLst/>
          </a:prstGeom>
          <a:solidFill>
            <a:srgbClr val="0A0A0A"/>
          </a:solidFill>
          <a:ln/>
        </p:spPr>
        <p:txBody>
          <a:bodyPr wrap="square" rtlCol="0" anchor="ctr"/>
          <a:lstStyle/>
          <a:p>
            <a:pPr indent="0" marL="0">
              <a:buNone/>
            </a:pPr>
            <a:endParaRPr lang="en-US" dirty="0"/>
          </a:p>
        </p:txBody>
      </p:sp>
      <p:sp>
        <p:nvSpPr>
          <p:cNvPr id="31" name="Text 28"/>
          <p:cNvSpPr/>
          <p:nvPr/>
        </p:nvSpPr>
        <p:spPr>
          <a:xfrm>
            <a:off x="2667479" y="2786397"/>
            <a:ext cx="589443" cy="164592"/>
          </a:xfrm>
          <a:prstGeom prst="rect">
            <a:avLst/>
          </a:prstGeom>
          <a:noFill/>
          <a:ln/>
        </p:spPr>
        <p:txBody>
          <a:bodyPr wrap="none" lIns="57150" tIns="0" rIns="57150" bIns="0" rtlCol="0" anchor="t"/>
          <a:lstStyle/>
          <a:p>
            <a:pPr algn="l" indent="0" marL="0">
              <a:lnSpc>
                <a:spcPts val="928"/>
              </a:lnSpc>
              <a:buNone/>
            </a:pPr>
            <a:r>
              <a:rPr lang="en-US" sz="800" spc="87" kern="0" dirty="0">
                <a:solidFill>
                  <a:srgbClr val="818CF8"/>
                </a:solidFill>
                <a:latin typeface="Liberation Sans Narrow" pitchFamily="34" charset="0"/>
                <a:ea typeface="Liberation Sans Narrow" pitchFamily="34" charset="-122"/>
                <a:cs typeface="Liberation Sans Narrow" pitchFamily="34" charset="-120"/>
              </a:rPr>
              <a:t>LAYER 02</a:t>
            </a:r>
            <a:endParaRPr lang="en-US" sz="800" dirty="0"/>
          </a:p>
        </p:txBody>
      </p:sp>
      <p:sp>
        <p:nvSpPr>
          <p:cNvPr id="32" name="Text 29"/>
          <p:cNvSpPr/>
          <p:nvPr/>
        </p:nvSpPr>
        <p:spPr>
          <a:xfrm>
            <a:off x="2671763" y="2982850"/>
            <a:ext cx="142875" cy="142875"/>
          </a:xfrm>
          <a:prstGeom prst="rect">
            <a:avLst/>
          </a:prstGeom>
          <a:noFill/>
          <a:ln/>
        </p:spPr>
        <p:txBody>
          <a:bodyPr wrap="none" lIns="0" tIns="0" rIns="0" bIns="0" rtlCol="0" anchor="ctr"/>
          <a:lstStyle/>
          <a:p>
            <a:pPr algn="ctr" indent="0" marL="0">
              <a:buNone/>
            </a:pPr>
            <a:r>
              <a:rPr lang="en-US" sz="1406" dirty="0">
                <a:solidFill>
                  <a:srgbClr val="818CF8"/>
                </a:solidFill>
                <a:latin typeface="Segoe UI Symbol" pitchFamily="34" charset="0"/>
                <a:ea typeface="Segoe UI Symbol" pitchFamily="34" charset="-122"/>
                <a:cs typeface="Segoe UI Symbol" pitchFamily="34" charset="-120"/>
              </a:rPr>
              <a:t>▣</a:t>
            </a:r>
            <a:endParaRPr lang="en-US" sz="1406" dirty="0"/>
          </a:p>
        </p:txBody>
      </p:sp>
      <p:sp>
        <p:nvSpPr>
          <p:cNvPr id="33" name="Text 30"/>
          <p:cNvSpPr/>
          <p:nvPr/>
        </p:nvSpPr>
        <p:spPr>
          <a:xfrm>
            <a:off x="2871788" y="2957847"/>
            <a:ext cx="1507331" cy="208312"/>
          </a:xfrm>
          <a:prstGeom prst="rect">
            <a:avLst/>
          </a:prstGeom>
          <a:noFill/>
          <a:ln/>
        </p:spPr>
        <p:txBody>
          <a:bodyPr wrap="none" lIns="0" tIns="0" rIns="0" bIns="0" rtlCol="0" anchor="t"/>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Categorization</a:t>
            </a:r>
            <a:endParaRPr lang="en-US" sz="1013" dirty="0"/>
          </a:p>
        </p:txBody>
      </p:sp>
      <p:sp>
        <p:nvSpPr>
          <p:cNvPr id="34" name="Text 31"/>
          <p:cNvSpPr/>
          <p:nvPr/>
        </p:nvSpPr>
        <p:spPr>
          <a:xfrm>
            <a:off x="2671763" y="3165016"/>
            <a:ext cx="1707356" cy="375409"/>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A1A1AA"/>
                </a:solidFill>
                <a:latin typeface="Carlito" pitchFamily="34" charset="0"/>
                <a:ea typeface="Carlito" pitchFamily="34" charset="-122"/>
                <a:cs typeface="Carlito" pitchFamily="34" charset="-120"/>
              </a:rPr>
              <a:t>LLM-assisted + rule fallback. Maps merchants to canonical categories with confidence scores.</a:t>
            </a:r>
            <a:endParaRPr lang="en-US" sz="800" dirty="0"/>
          </a:p>
        </p:txBody>
      </p:sp>
      <p:sp>
        <p:nvSpPr>
          <p:cNvPr id="35" name="Text 32"/>
          <p:cNvSpPr/>
          <p:nvPr/>
        </p:nvSpPr>
        <p:spPr>
          <a:xfrm>
            <a:off x="2675334" y="3571429"/>
            <a:ext cx="1700213" cy="142875"/>
          </a:xfrm>
          <a:prstGeom prst="roundRect">
            <a:avLst>
              <a:gd name="adj" fmla="val 26667"/>
            </a:avLst>
          </a:prstGeom>
          <a:solidFill>
            <a:srgbClr val="FFFFFF">
              <a:alpha val="4000"/>
            </a:srgbClr>
          </a:solidFill>
          <a:ln w="7144">
            <a:solidFill>
              <a:srgbClr val="FFFFFF"/>
            </a:solidFill>
            <a:prstDash val="solid"/>
          </a:ln>
        </p:spPr>
        <p:txBody>
          <a:bodyPr wrap="square" rtlCol="0" anchor="ctr"/>
          <a:lstStyle/>
          <a:p>
            <a:pPr indent="0" marL="0">
              <a:buNone/>
            </a:pPr>
            <a:endParaRPr lang="en-US" dirty="0"/>
          </a:p>
        </p:txBody>
      </p:sp>
      <p:sp>
        <p:nvSpPr>
          <p:cNvPr id="36" name="Text 33"/>
          <p:cNvSpPr/>
          <p:nvPr/>
        </p:nvSpPr>
        <p:spPr>
          <a:xfrm>
            <a:off x="2671763" y="3567857"/>
            <a:ext cx="1707356" cy="230429"/>
          </a:xfrm>
          <a:prstGeom prst="rect">
            <a:avLst/>
          </a:prstGeom>
          <a:noFill/>
          <a:ln/>
        </p:spPr>
        <p:txBody>
          <a:bodyPr wrap="square" lIns="42863" tIns="14288" rIns="42863" bIns="14288" rtlCol="0" anchor="t"/>
          <a:lstStyle/>
          <a:p>
            <a:pPr algn="l" indent="0" marL="0">
              <a:lnSpc>
                <a:spcPts val="844"/>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14 categories · auto-learn</a:t>
            </a:r>
            <a:endParaRPr lang="en-US" sz="800" dirty="0"/>
          </a:p>
        </p:txBody>
      </p:sp>
      <p:sp>
        <p:nvSpPr>
          <p:cNvPr id="37" name="Text 34"/>
          <p:cNvSpPr/>
          <p:nvPr/>
        </p:nvSpPr>
        <p:spPr>
          <a:xfrm>
            <a:off x="4647009" y="2854263"/>
            <a:ext cx="1943100" cy="1714165"/>
          </a:xfrm>
          <a:prstGeom prst="roundRect">
            <a:avLst>
              <a:gd name="adj" fmla="val 7779"/>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38" name="Text 35"/>
          <p:cNvSpPr/>
          <p:nvPr/>
        </p:nvSpPr>
        <p:spPr>
          <a:xfrm>
            <a:off x="4742021" y="2779325"/>
            <a:ext cx="626596" cy="132017"/>
          </a:xfrm>
          <a:prstGeom prst="rect">
            <a:avLst/>
          </a:prstGeom>
          <a:solidFill>
            <a:srgbClr val="0A0A0A"/>
          </a:solidFill>
          <a:ln/>
        </p:spPr>
        <p:txBody>
          <a:bodyPr wrap="square" rtlCol="0" anchor="ctr"/>
          <a:lstStyle/>
          <a:p>
            <a:pPr indent="0" marL="0">
              <a:buNone/>
            </a:pPr>
            <a:endParaRPr lang="en-US" dirty="0"/>
          </a:p>
        </p:txBody>
      </p:sp>
      <p:sp>
        <p:nvSpPr>
          <p:cNvPr id="39" name="Text 36"/>
          <p:cNvSpPr/>
          <p:nvPr/>
        </p:nvSpPr>
        <p:spPr>
          <a:xfrm>
            <a:off x="4760598" y="2786397"/>
            <a:ext cx="589443" cy="164592"/>
          </a:xfrm>
          <a:prstGeom prst="rect">
            <a:avLst/>
          </a:prstGeom>
          <a:noFill/>
          <a:ln/>
        </p:spPr>
        <p:txBody>
          <a:bodyPr wrap="none" lIns="57150" tIns="0" rIns="57150" bIns="0" rtlCol="0" anchor="t"/>
          <a:lstStyle/>
          <a:p>
            <a:pPr algn="l" indent="0" marL="0">
              <a:lnSpc>
                <a:spcPts val="928"/>
              </a:lnSpc>
              <a:buNone/>
            </a:pPr>
            <a:r>
              <a:rPr lang="en-US" sz="800" spc="87" kern="0" dirty="0">
                <a:solidFill>
                  <a:srgbClr val="818CF8"/>
                </a:solidFill>
                <a:latin typeface="Liberation Sans Narrow" pitchFamily="34" charset="0"/>
                <a:ea typeface="Liberation Sans Narrow" pitchFamily="34" charset="-122"/>
                <a:cs typeface="Liberation Sans Narrow" pitchFamily="34" charset="-120"/>
              </a:rPr>
              <a:t>LAYER 03</a:t>
            </a:r>
            <a:endParaRPr lang="en-US" sz="800" dirty="0"/>
          </a:p>
        </p:txBody>
      </p:sp>
      <p:sp>
        <p:nvSpPr>
          <p:cNvPr id="40" name="Text 37"/>
          <p:cNvSpPr/>
          <p:nvPr/>
        </p:nvSpPr>
        <p:spPr>
          <a:xfrm>
            <a:off x="4764881" y="2982850"/>
            <a:ext cx="142875" cy="142875"/>
          </a:xfrm>
          <a:prstGeom prst="rect">
            <a:avLst/>
          </a:prstGeom>
          <a:noFill/>
          <a:ln/>
        </p:spPr>
        <p:txBody>
          <a:bodyPr wrap="none" lIns="0" tIns="0" rIns="0" bIns="0" rtlCol="0" anchor="ctr"/>
          <a:lstStyle/>
          <a:p>
            <a:pPr algn="ctr" indent="0" marL="0">
              <a:buNone/>
            </a:pPr>
            <a:r>
              <a:rPr lang="en-US" sz="1406" dirty="0">
                <a:solidFill>
                  <a:srgbClr val="34D399"/>
                </a:solidFill>
                <a:latin typeface="Segoe UI Symbol" pitchFamily="34" charset="0"/>
                <a:ea typeface="Segoe UI Symbol" pitchFamily="34" charset="-122"/>
                <a:cs typeface="Segoe UI Symbol" pitchFamily="34" charset="-120"/>
              </a:rPr>
              <a:t>✦</a:t>
            </a:r>
            <a:endParaRPr lang="en-US" sz="1406" dirty="0"/>
          </a:p>
        </p:txBody>
      </p:sp>
      <p:sp>
        <p:nvSpPr>
          <p:cNvPr id="41" name="Text 38"/>
          <p:cNvSpPr/>
          <p:nvPr/>
        </p:nvSpPr>
        <p:spPr>
          <a:xfrm>
            <a:off x="4964906" y="2957847"/>
            <a:ext cx="1507331" cy="208312"/>
          </a:xfrm>
          <a:prstGeom prst="rect">
            <a:avLst/>
          </a:prstGeom>
          <a:noFill/>
          <a:ln/>
        </p:spPr>
        <p:txBody>
          <a:bodyPr wrap="none" lIns="0" tIns="0" rIns="0" bIns="0" rtlCol="0" anchor="t"/>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Agent</a:t>
            </a:r>
            <a:endParaRPr lang="en-US" sz="1013" dirty="0"/>
          </a:p>
        </p:txBody>
      </p:sp>
      <p:sp>
        <p:nvSpPr>
          <p:cNvPr id="42" name="Text 39"/>
          <p:cNvSpPr/>
          <p:nvPr/>
        </p:nvSpPr>
        <p:spPr>
          <a:xfrm>
            <a:off x="4764881" y="3165016"/>
            <a:ext cx="1707356" cy="255416"/>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A1A1AA"/>
                </a:solidFill>
                <a:latin typeface="Carlito" pitchFamily="34" charset="0"/>
                <a:ea typeface="Carlito" pitchFamily="34" charset="-122"/>
                <a:cs typeface="Carlito" pitchFamily="34" charset="-120"/>
              </a:rPr>
              <a:t>Supervisor-worker orchestration. 7 read tools + 4 write tools, all permissioned.</a:t>
            </a:r>
            <a:endParaRPr lang="en-US" sz="800" dirty="0"/>
          </a:p>
        </p:txBody>
      </p:sp>
      <p:sp>
        <p:nvSpPr>
          <p:cNvPr id="43" name="Text 40"/>
          <p:cNvSpPr/>
          <p:nvPr/>
        </p:nvSpPr>
        <p:spPr>
          <a:xfrm>
            <a:off x="4742021" y="3438863"/>
            <a:ext cx="1753076" cy="168021"/>
          </a:xfrm>
          <a:prstGeom prst="roundRect">
            <a:avLst>
              <a:gd name="adj" fmla="val 22676"/>
            </a:avLst>
          </a:prstGeom>
          <a:solidFill>
            <a:srgbClr val="FFFFFF">
              <a:alpha val="4000"/>
            </a:srgbClr>
          </a:solidFill>
          <a:ln w="7144">
            <a:solidFill>
              <a:srgbClr val="FFFFFF"/>
            </a:solidFill>
            <a:prstDash val="solid"/>
          </a:ln>
        </p:spPr>
        <p:txBody>
          <a:bodyPr wrap="square" rtlCol="0" anchor="ctr"/>
          <a:lstStyle/>
          <a:p>
            <a:pPr indent="0" marL="0">
              <a:buNone/>
            </a:pPr>
            <a:endParaRPr lang="en-US" dirty="0"/>
          </a:p>
        </p:txBody>
      </p:sp>
      <p:sp>
        <p:nvSpPr>
          <p:cNvPr id="44" name="Text 41"/>
          <p:cNvSpPr/>
          <p:nvPr/>
        </p:nvSpPr>
        <p:spPr>
          <a:xfrm>
            <a:off x="4764881" y="3447864"/>
            <a:ext cx="1707356" cy="150019"/>
          </a:xfrm>
          <a:prstGeom prst="rect">
            <a:avLst/>
          </a:prstGeom>
          <a:noFill/>
          <a:ln/>
        </p:spPr>
        <p:txBody>
          <a:bodyPr wrap="none" lIns="0" tIns="0" rIns="0" bIns="0" rtlCol="0" anchor="ctr"/>
          <a:lstStyle/>
          <a:p>
            <a:pPr algn="ctr" indent="0" marL="0">
              <a:lnSpc>
                <a:spcPts val="844"/>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11 tools · 14 endpoints</a:t>
            </a:r>
            <a:endParaRPr lang="en-US" sz="800" dirty="0"/>
          </a:p>
        </p:txBody>
      </p:sp>
      <p:sp>
        <p:nvSpPr>
          <p:cNvPr id="45" name="Text 42"/>
          <p:cNvSpPr/>
          <p:nvPr/>
        </p:nvSpPr>
        <p:spPr>
          <a:xfrm>
            <a:off x="6740128" y="2854263"/>
            <a:ext cx="1943100" cy="1714165"/>
          </a:xfrm>
          <a:prstGeom prst="roundRect">
            <a:avLst>
              <a:gd name="adj" fmla="val 7779"/>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46" name="Text 43"/>
          <p:cNvSpPr/>
          <p:nvPr/>
        </p:nvSpPr>
        <p:spPr>
          <a:xfrm>
            <a:off x="6835140" y="2779325"/>
            <a:ext cx="626596" cy="132017"/>
          </a:xfrm>
          <a:prstGeom prst="rect">
            <a:avLst/>
          </a:prstGeom>
          <a:solidFill>
            <a:srgbClr val="0A0A0A"/>
          </a:solidFill>
          <a:ln/>
        </p:spPr>
        <p:txBody>
          <a:bodyPr wrap="square" rtlCol="0" anchor="ctr"/>
          <a:lstStyle/>
          <a:p>
            <a:pPr indent="0" marL="0">
              <a:buNone/>
            </a:pPr>
            <a:endParaRPr lang="en-US" dirty="0"/>
          </a:p>
        </p:txBody>
      </p:sp>
      <p:sp>
        <p:nvSpPr>
          <p:cNvPr id="47" name="Text 44"/>
          <p:cNvSpPr/>
          <p:nvPr/>
        </p:nvSpPr>
        <p:spPr>
          <a:xfrm>
            <a:off x="6853717" y="2786397"/>
            <a:ext cx="589443" cy="164592"/>
          </a:xfrm>
          <a:prstGeom prst="rect">
            <a:avLst/>
          </a:prstGeom>
          <a:noFill/>
          <a:ln/>
        </p:spPr>
        <p:txBody>
          <a:bodyPr wrap="none" lIns="57150" tIns="0" rIns="57150" bIns="0" rtlCol="0" anchor="t"/>
          <a:lstStyle/>
          <a:p>
            <a:pPr algn="l" indent="0" marL="0">
              <a:lnSpc>
                <a:spcPts val="928"/>
              </a:lnSpc>
              <a:buNone/>
            </a:pPr>
            <a:r>
              <a:rPr lang="en-US" sz="800" spc="87" kern="0" dirty="0">
                <a:solidFill>
                  <a:srgbClr val="818CF8"/>
                </a:solidFill>
                <a:latin typeface="Liberation Sans Narrow" pitchFamily="34" charset="0"/>
                <a:ea typeface="Liberation Sans Narrow" pitchFamily="34" charset="-122"/>
                <a:cs typeface="Liberation Sans Narrow" pitchFamily="34" charset="-120"/>
              </a:rPr>
              <a:t>LAYER 04</a:t>
            </a:r>
            <a:endParaRPr lang="en-US" sz="800" dirty="0"/>
          </a:p>
        </p:txBody>
      </p:sp>
      <p:sp>
        <p:nvSpPr>
          <p:cNvPr id="48" name="Text 45"/>
          <p:cNvSpPr/>
          <p:nvPr/>
        </p:nvSpPr>
        <p:spPr>
          <a:xfrm>
            <a:off x="6858000" y="2982850"/>
            <a:ext cx="142875" cy="142875"/>
          </a:xfrm>
          <a:prstGeom prst="rect">
            <a:avLst/>
          </a:prstGeom>
          <a:noFill/>
          <a:ln/>
        </p:spPr>
        <p:txBody>
          <a:bodyPr wrap="none" lIns="0" tIns="0" rIns="0" bIns="0" rtlCol="0" anchor="ctr"/>
          <a:lstStyle/>
          <a:p>
            <a:pPr algn="ctr" indent="0" marL="0">
              <a:buNone/>
            </a:pPr>
            <a:r>
              <a:rPr lang="en-US" sz="1406" dirty="0">
                <a:solidFill>
                  <a:srgbClr val="34D399"/>
                </a:solidFill>
                <a:latin typeface="Segoe UI Symbol" pitchFamily="34" charset="0"/>
                <a:ea typeface="Segoe UI Symbol" pitchFamily="34" charset="-122"/>
                <a:cs typeface="Segoe UI Symbol" pitchFamily="34" charset="-120"/>
              </a:rPr>
              <a:t>◆</a:t>
            </a:r>
            <a:endParaRPr lang="en-US" sz="1406" dirty="0"/>
          </a:p>
        </p:txBody>
      </p:sp>
      <p:sp>
        <p:nvSpPr>
          <p:cNvPr id="49" name="Text 46"/>
          <p:cNvSpPr/>
          <p:nvPr/>
        </p:nvSpPr>
        <p:spPr>
          <a:xfrm>
            <a:off x="7058025" y="2957847"/>
            <a:ext cx="1507331" cy="208312"/>
          </a:xfrm>
          <a:prstGeom prst="rect">
            <a:avLst/>
          </a:prstGeom>
          <a:noFill/>
          <a:ln/>
        </p:spPr>
        <p:txBody>
          <a:bodyPr wrap="none" lIns="0" tIns="0" rIns="0" bIns="0" rtlCol="0" anchor="t"/>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Insight</a:t>
            </a:r>
            <a:endParaRPr lang="en-US" sz="1013" dirty="0"/>
          </a:p>
        </p:txBody>
      </p:sp>
      <p:sp>
        <p:nvSpPr>
          <p:cNvPr id="50" name="Text 47"/>
          <p:cNvSpPr/>
          <p:nvPr/>
        </p:nvSpPr>
        <p:spPr>
          <a:xfrm>
            <a:off x="6858000" y="3165016"/>
            <a:ext cx="1707356" cy="375409"/>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A1A1AA"/>
                </a:solidFill>
                <a:latin typeface="Carlito" pitchFamily="34" charset="0"/>
                <a:ea typeface="Carlito" pitchFamily="34" charset="-122"/>
                <a:cs typeface="Carlito" pitchFamily="34" charset="-120"/>
              </a:rPr>
              <a:t>Health score, forecasts, Monte Carlo, behavioral triggers. Surfaced across 8 views.</a:t>
            </a:r>
            <a:endParaRPr lang="en-US" sz="800" dirty="0"/>
          </a:p>
        </p:txBody>
      </p:sp>
      <p:sp>
        <p:nvSpPr>
          <p:cNvPr id="51" name="Text 48"/>
          <p:cNvSpPr/>
          <p:nvPr/>
        </p:nvSpPr>
        <p:spPr>
          <a:xfrm>
            <a:off x="6835140" y="3558856"/>
            <a:ext cx="1753076" cy="168021"/>
          </a:xfrm>
          <a:prstGeom prst="roundRect">
            <a:avLst>
              <a:gd name="adj" fmla="val 22676"/>
            </a:avLst>
          </a:prstGeom>
          <a:solidFill>
            <a:srgbClr val="FFFFFF">
              <a:alpha val="4000"/>
            </a:srgbClr>
          </a:solidFill>
          <a:ln w="7144">
            <a:solidFill>
              <a:srgbClr val="FFFFFF"/>
            </a:solidFill>
            <a:prstDash val="solid"/>
          </a:ln>
        </p:spPr>
        <p:txBody>
          <a:bodyPr wrap="square" rtlCol="0" anchor="ctr"/>
          <a:lstStyle/>
          <a:p>
            <a:pPr indent="0" marL="0">
              <a:buNone/>
            </a:pPr>
            <a:endParaRPr lang="en-US" dirty="0"/>
          </a:p>
        </p:txBody>
      </p:sp>
      <p:sp>
        <p:nvSpPr>
          <p:cNvPr id="52" name="Text 49"/>
          <p:cNvSpPr/>
          <p:nvPr/>
        </p:nvSpPr>
        <p:spPr>
          <a:xfrm>
            <a:off x="6858000" y="3567857"/>
            <a:ext cx="1707356" cy="150019"/>
          </a:xfrm>
          <a:prstGeom prst="rect">
            <a:avLst/>
          </a:prstGeom>
          <a:noFill/>
          <a:ln/>
        </p:spPr>
        <p:txBody>
          <a:bodyPr wrap="none" lIns="0" tIns="0" rIns="0" bIns="0" rtlCol="0" anchor="ctr"/>
          <a:lstStyle/>
          <a:p>
            <a:pPr algn="ctr" indent="0" marL="0">
              <a:lnSpc>
                <a:spcPts val="844"/>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20+ features · 8 views</a:t>
            </a:r>
            <a:endParaRPr lang="en-US" sz="800" dirty="0"/>
          </a:p>
        </p:txBody>
      </p:sp>
      <p:sp>
        <p:nvSpPr>
          <p:cNvPr id="53" name="Text 50"/>
          <p:cNvSpPr/>
          <p:nvPr/>
        </p:nvSpPr>
        <p:spPr>
          <a:xfrm>
            <a:off x="457200" y="4861322"/>
            <a:ext cx="42863" cy="42863"/>
          </a:xfrm>
          <a:prstGeom prst="roundRect">
            <a:avLst>
              <a:gd name="adj" fmla="val 22199741"/>
            </a:avLst>
          </a:prstGeom>
          <a:solidFill>
            <a:srgbClr val="6366F1"/>
          </a:solidFill>
          <a:ln/>
        </p:spPr>
        <p:txBody>
          <a:bodyPr wrap="square" rtlCol="0" anchor="ctr"/>
          <a:lstStyle/>
          <a:p>
            <a:pPr indent="0" marL="0">
              <a:buNone/>
            </a:pPr>
            <a:endParaRPr lang="en-US" dirty="0"/>
          </a:p>
        </p:txBody>
      </p:sp>
      <p:sp>
        <p:nvSpPr>
          <p:cNvPr id="54" name="Text 51"/>
          <p:cNvSpPr/>
          <p:nvPr/>
        </p:nvSpPr>
        <p:spPr>
          <a:xfrm>
            <a:off x="457200" y="4814888"/>
            <a:ext cx="786571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Carlito" pitchFamily="34" charset="0"/>
                <a:ea typeface="Carlito" pitchFamily="34" charset="-122"/>
                <a:cs typeface="Carlito" pitchFamily="34" charset="-120"/>
              </a:rPr>
              <a:t>FINWISE · TOPIC A</a:t>
            </a:r>
            <a:endParaRPr lang="en-US" sz="800" dirty="0"/>
          </a:p>
        </p:txBody>
      </p:sp>
      <p:sp>
        <p:nvSpPr>
          <p:cNvPr id="55" name="Text 52"/>
          <p:cNvSpPr/>
          <p:nvPr/>
        </p:nvSpPr>
        <p:spPr>
          <a:xfrm>
            <a:off x="8337203" y="4814888"/>
            <a:ext cx="499050"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Liberation Sans Narrow" pitchFamily="34" charset="0"/>
                <a:ea typeface="Liberation Sans Narrow" pitchFamily="34" charset="-122"/>
                <a:cs typeface="Liberation Sans Narrow" pitchFamily="34" charset="-120"/>
              </a:rPr>
              <a:t>04 /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45174"/>
            <a:ext cx="1211870" cy="224028"/>
          </a:xfrm>
          <a:prstGeom prst="roundRect">
            <a:avLst>
              <a:gd name="adj" fmla="val 4247449"/>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3" name="Text 1"/>
          <p:cNvSpPr/>
          <p:nvPr/>
        </p:nvSpPr>
        <p:spPr>
          <a:xfrm>
            <a:off x="457200" y="257175"/>
            <a:ext cx="1211870"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05 · CORE FEATURES</a:t>
            </a:r>
            <a:endParaRPr lang="en-US" sz="800" dirty="0"/>
          </a:p>
        </p:txBody>
      </p:sp>
      <p:sp>
        <p:nvSpPr>
          <p:cNvPr id="4" name="Text 2"/>
          <p:cNvSpPr/>
          <p:nvPr/>
        </p:nvSpPr>
        <p:spPr>
          <a:xfrm>
            <a:off x="1754795" y="292894"/>
            <a:ext cx="1416291" cy="164592"/>
          </a:xfrm>
          <a:prstGeom prst="rect">
            <a:avLst/>
          </a:prstGeom>
          <a:noFill/>
          <a:ln/>
        </p:spPr>
        <p:txBody>
          <a:bodyPr wrap="none" lIns="0" tIns="0" rIns="0" bIns="0" rtlCol="0" anchor="t"/>
          <a:lstStyle/>
          <a:p>
            <a:pPr algn="l" indent="0" marL="0">
              <a:lnSpc>
                <a:spcPts val="1013"/>
              </a:lnSpc>
              <a:buNone/>
            </a:pPr>
            <a:r>
              <a:rPr lang="en-US" sz="800" spc="95" kern="0" dirty="0">
                <a:solidFill>
                  <a:srgbClr val="71717A"/>
                </a:solidFill>
                <a:latin typeface="Liberation Sans Narrow" pitchFamily="34" charset="0"/>
                <a:ea typeface="Liberation Sans Narrow" pitchFamily="34" charset="-122"/>
                <a:cs typeface="Liberation Sans Narrow" pitchFamily="34" charset="-120"/>
              </a:rPr>
              <a:t>8 VIEWS · 4 PILLARS</a:t>
            </a:r>
            <a:endParaRPr lang="en-US" sz="800" dirty="0"/>
          </a:p>
        </p:txBody>
      </p:sp>
      <p:sp>
        <p:nvSpPr>
          <p:cNvPr id="5" name="Text 3"/>
          <p:cNvSpPr/>
          <p:nvPr/>
        </p:nvSpPr>
        <p:spPr>
          <a:xfrm>
            <a:off x="6276231" y="292894"/>
            <a:ext cx="2788573"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FINWISE · PERSONAL FINANCE INTELLIGENCE</a:t>
            </a:r>
            <a:endParaRPr lang="en-US" sz="800" dirty="0"/>
          </a:p>
        </p:txBody>
      </p:sp>
      <p:sp>
        <p:nvSpPr>
          <p:cNvPr id="6" name="Text 4"/>
          <p:cNvSpPr/>
          <p:nvPr/>
        </p:nvSpPr>
        <p:spPr>
          <a:xfrm>
            <a:off x="457200" y="557213"/>
            <a:ext cx="5056771" cy="158306"/>
          </a:xfrm>
          <a:prstGeom prst="rect">
            <a:avLst/>
          </a:prstGeom>
          <a:noFill/>
          <a:ln/>
        </p:spPr>
        <p:txBody>
          <a:bodyPr wrap="none" lIns="0" tIns="0" rIns="0" bIns="0" rtlCol="0" anchor="t">
            <a:normAutofit/>
          </a:bodyPr>
          <a:lstStyle/>
          <a:p>
            <a:pPr algn="l" indent="0" marL="0">
              <a:lnSpc>
                <a:spcPts val="1013"/>
              </a:lnSpc>
              <a:buNone/>
            </a:pPr>
            <a:r>
              <a:rPr lang="en-US" sz="800" spc="122" kern="0" dirty="0">
                <a:solidFill>
                  <a:srgbClr val="818CF8"/>
                </a:solidFill>
                <a:latin typeface="Courier New" pitchFamily="34" charset="0"/>
                <a:ea typeface="Courier New" pitchFamily="34" charset="-122"/>
                <a:cs typeface="Courier New" pitchFamily="34" charset="-120"/>
              </a:rPr>
              <a:t>CORE FEATURES</a:t>
            </a:r>
            <a:endParaRPr lang="en-US" sz="800" dirty="0"/>
          </a:p>
        </p:txBody>
      </p:sp>
      <p:sp>
        <p:nvSpPr>
          <p:cNvPr id="7" name="Text 5"/>
          <p:cNvSpPr/>
          <p:nvPr/>
        </p:nvSpPr>
        <p:spPr>
          <a:xfrm>
            <a:off x="457200" y="742950"/>
            <a:ext cx="4201641" cy="340194"/>
          </a:xfrm>
          <a:prstGeom prst="rect">
            <a:avLst/>
          </a:prstGeom>
          <a:noFill/>
          <a:ln/>
        </p:spPr>
        <p:txBody>
          <a:bodyPr wrap="square" lIns="0" tIns="0" rIns="0" bIns="0" rtlCol="0" anchor="t"/>
          <a:lstStyle/>
          <a:p>
            <a:pPr algn="l" indent="0" marL="0">
              <a:lnSpc>
                <a:spcPts val="2481"/>
              </a:lnSpc>
              <a:buNone/>
            </a:pPr>
            <a:r>
              <a:rPr lang="en-US" sz="2363" b="1" spc="-59" kern="0" dirty="0">
                <a:solidFill>
                  <a:srgbClr val="FFFFFF"/>
                </a:solidFill>
                <a:latin typeface="Tinos" pitchFamily="34" charset="0"/>
                <a:ea typeface="Tinos" pitchFamily="34" charset="-122"/>
                <a:cs typeface="Tinos" pitchFamily="34" charset="-120"/>
              </a:rPr>
              <a:t>Eight views. </a:t>
            </a:r>
            <a:pPr algn="l" indent="0" marL="0">
              <a:lnSpc>
                <a:spcPts val="2481"/>
              </a:lnSpc>
              <a:buNone/>
            </a:pPr>
            <a:r>
              <a:rPr lang="en-US" sz="2363" b="1" i="1" spc="-59" kern="0" dirty="0">
                <a:solidFill>
                  <a:srgbClr val="34D399"/>
                </a:solidFill>
                <a:latin typeface="Tinos" pitchFamily="34" charset="0"/>
                <a:ea typeface="Tinos" pitchFamily="34" charset="-122"/>
                <a:cs typeface="Tinos" pitchFamily="34" charset="-120"/>
              </a:rPr>
              <a:t>One financial brain.</a:t>
            </a:r>
            <a:endParaRPr lang="en-US" sz="2363" dirty="0"/>
          </a:p>
        </p:txBody>
      </p:sp>
      <p:sp>
        <p:nvSpPr>
          <p:cNvPr id="8" name="Text 6"/>
          <p:cNvSpPr/>
          <p:nvPr/>
        </p:nvSpPr>
        <p:spPr>
          <a:xfrm>
            <a:off x="6686550" y="640035"/>
            <a:ext cx="2000250" cy="493776"/>
          </a:xfrm>
          <a:prstGeom prst="rect">
            <a:avLst/>
          </a:prstGeom>
          <a:noFill/>
          <a:ln/>
        </p:spPr>
        <p:txBody>
          <a:bodyPr wrap="square" lIns="0" tIns="0" rIns="0" bIns="0" rtlCol="0" anchor="t"/>
          <a:lstStyle/>
          <a:p>
            <a:pPr algn="r" indent="0" marL="0">
              <a:lnSpc>
                <a:spcPts val="1097"/>
              </a:lnSpc>
              <a:buNone/>
            </a:pPr>
            <a:r>
              <a:rPr lang="en-US" sz="800" dirty="0">
                <a:solidFill>
                  <a:srgbClr val="A1A1AA"/>
                </a:solidFill>
                <a:latin typeface="Carlito" pitchFamily="34" charset="0"/>
                <a:ea typeface="Carlito" pitchFamily="34" charset="-122"/>
                <a:cs typeface="Carlito" pitchFamily="34" charset="-120"/>
              </a:rPr>
              <a:t>Every view is fed by the same ledger and the same agent — so insights stay consistent end to end.</a:t>
            </a:r>
            <a:endParaRPr lang="en-US" sz="800" dirty="0"/>
          </a:p>
        </p:txBody>
      </p:sp>
      <p:sp>
        <p:nvSpPr>
          <p:cNvPr id="9" name="Text 7"/>
          <p:cNvSpPr/>
          <p:nvPr/>
        </p:nvSpPr>
        <p:spPr>
          <a:xfrm>
            <a:off x="460772" y="1289447"/>
            <a:ext cx="2659819" cy="814388"/>
          </a:xfrm>
          <a:prstGeom prst="roundRect">
            <a:avLst>
              <a:gd name="adj" fmla="val 18713"/>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0" name="Text 8"/>
          <p:cNvSpPr/>
          <p:nvPr/>
        </p:nvSpPr>
        <p:spPr>
          <a:xfrm>
            <a:off x="1782152" y="1414463"/>
            <a:ext cx="1683896" cy="557213"/>
          </a:xfrm>
          <a:prstGeom prst="rect">
            <a:avLst/>
          </a:prstGeom>
          <a:noFill/>
          <a:ln/>
        </p:spPr>
        <p:txBody>
          <a:bodyPr wrap="square" lIns="0" tIns="0" rIns="0" bIns="0" rtlCol="0" anchor="t"/>
          <a:lstStyle/>
          <a:p>
            <a:pPr algn="l" indent="0" marL="0">
              <a:lnSpc>
                <a:spcPts val="7313"/>
              </a:lnSpc>
              <a:buNone/>
            </a:pPr>
            <a:r>
              <a:rPr lang="en-US" sz="7313" b="1" dirty="0">
                <a:solidFill>
                  <a:srgbClr val="FFFFFF">
                    <a:alpha val="2000"/>
                  </a:srgbClr>
                </a:solidFill>
                <a:latin typeface="Liberation Sans Narrow" pitchFamily="34" charset="0"/>
                <a:ea typeface="Liberation Sans Narrow" pitchFamily="34" charset="-122"/>
                <a:cs typeface="Liberation Sans Narrow" pitchFamily="34" charset="-120"/>
              </a:rPr>
              <a:t>01</a:t>
            </a:r>
            <a:endParaRPr lang="en-US" sz="7313" dirty="0"/>
          </a:p>
        </p:txBody>
      </p:sp>
      <p:sp>
        <p:nvSpPr>
          <p:cNvPr id="11" name="Text 9"/>
          <p:cNvSpPr/>
          <p:nvPr/>
        </p:nvSpPr>
        <p:spPr>
          <a:xfrm>
            <a:off x="596503" y="1425178"/>
            <a:ext cx="264319" cy="264319"/>
          </a:xfrm>
          <a:prstGeom prst="roundRect">
            <a:avLst>
              <a:gd name="adj" fmla="val 36036"/>
            </a:avLst>
          </a:prstGeom>
          <a:solidFill>
            <a:srgbClr val="6366F1">
              <a:alpha val="14000"/>
            </a:srgbClr>
          </a:solidFill>
          <a:ln w="7144">
            <a:solidFill>
              <a:srgbClr val="6366F1"/>
            </a:solidFill>
            <a:prstDash val="solid"/>
          </a:ln>
        </p:spPr>
        <p:txBody>
          <a:bodyPr wrap="square" rtlCol="0" anchor="ctr"/>
          <a:lstStyle/>
          <a:p>
            <a:pPr indent="0" marL="0">
              <a:buNone/>
            </a:pPr>
            <a:endParaRPr lang="en-US" dirty="0"/>
          </a:p>
        </p:txBody>
      </p:sp>
      <p:sp>
        <p:nvSpPr>
          <p:cNvPr id="12" name="Text 10"/>
          <p:cNvSpPr/>
          <p:nvPr/>
        </p:nvSpPr>
        <p:spPr>
          <a:xfrm>
            <a:off x="625078" y="1453753"/>
            <a:ext cx="207169" cy="207169"/>
          </a:xfrm>
          <a:prstGeom prst="rect">
            <a:avLst/>
          </a:prstGeom>
          <a:noFill/>
          <a:ln/>
        </p:spPr>
        <p:txBody>
          <a:bodyPr wrap="none" lIns="0" tIns="0" rIns="0" bIns="0" rtlCol="0" anchor="ctr"/>
          <a:lstStyle/>
          <a:p>
            <a:pPr algn="ctr" indent="0" marL="0">
              <a:buNone/>
            </a:pPr>
            <a:r>
              <a:rPr lang="en-US" sz="1406" dirty="0">
                <a:solidFill>
                  <a:srgbClr val="818CF8"/>
                </a:solidFill>
                <a:latin typeface="Segoe UI Symbol" pitchFamily="34" charset="0"/>
                <a:ea typeface="Segoe UI Symbol" pitchFamily="34" charset="-122"/>
                <a:cs typeface="Segoe UI Symbol" pitchFamily="34" charset="-120"/>
              </a:rPr>
              <a:t>◫</a:t>
            </a:r>
            <a:endParaRPr lang="en-US" sz="1406" dirty="0"/>
          </a:p>
        </p:txBody>
      </p:sp>
      <p:sp>
        <p:nvSpPr>
          <p:cNvPr id="13" name="Text 11"/>
          <p:cNvSpPr/>
          <p:nvPr/>
        </p:nvSpPr>
        <p:spPr>
          <a:xfrm>
            <a:off x="2439345" y="1412605"/>
            <a:ext cx="570205" cy="168021"/>
          </a:xfrm>
          <a:prstGeom prst="roundRect">
            <a:avLst>
              <a:gd name="adj" fmla="val 5663265"/>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14" name="Text 12"/>
          <p:cNvSpPr/>
          <p:nvPr/>
        </p:nvSpPr>
        <p:spPr>
          <a:xfrm>
            <a:off x="2446511" y="1421606"/>
            <a:ext cx="555874" cy="150019"/>
          </a:xfrm>
          <a:prstGeom prst="rect">
            <a:avLst/>
          </a:prstGeom>
          <a:noFill/>
          <a:ln/>
        </p:spPr>
        <p:txBody>
          <a:bodyPr wrap="none" lIns="0" tIns="0" rIns="0" bIns="0" rtlCol="0" anchor="ctr"/>
          <a:lstStyle/>
          <a:p>
            <a:pPr algn="ctr" indent="0" marL="0">
              <a:lnSpc>
                <a:spcPts val="844"/>
              </a:lnSpc>
              <a:buNone/>
            </a:pPr>
            <a:r>
              <a:rPr lang="en-US" sz="800" spc="23" kern="0" dirty="0">
                <a:solidFill>
                  <a:srgbClr val="818CF8"/>
                </a:solidFill>
                <a:latin typeface="Carlito" pitchFamily="34" charset="0"/>
                <a:ea typeface="Carlito" pitchFamily="34" charset="-122"/>
                <a:cs typeface="Carlito" pitchFamily="34" charset="-120"/>
              </a:rPr>
              <a:t>BUDGETS</a:t>
            </a:r>
            <a:endParaRPr lang="en-US" sz="800" dirty="0"/>
          </a:p>
        </p:txBody>
      </p:sp>
      <p:sp>
        <p:nvSpPr>
          <p:cNvPr id="15" name="Text 13"/>
          <p:cNvSpPr/>
          <p:nvPr/>
        </p:nvSpPr>
        <p:spPr>
          <a:xfrm>
            <a:off x="592931" y="1764506"/>
            <a:ext cx="2395500" cy="194024"/>
          </a:xfrm>
          <a:prstGeom prst="rect">
            <a:avLst/>
          </a:prstGeom>
          <a:noFill/>
          <a:ln/>
        </p:spPr>
        <p:txBody>
          <a:bodyPr wrap="none" lIns="0" tIns="0" rIns="0" bIns="0" rtlCol="0" anchor="t">
            <a:normAutofit/>
          </a:bodyPr>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Smart Budgeting</a:t>
            </a:r>
            <a:endParaRPr lang="en-US" sz="1013" dirty="0"/>
          </a:p>
        </p:txBody>
      </p:sp>
      <p:sp>
        <p:nvSpPr>
          <p:cNvPr id="16" name="Text 14"/>
          <p:cNvSpPr/>
          <p:nvPr/>
        </p:nvSpPr>
        <p:spPr>
          <a:xfrm>
            <a:off x="592931" y="1985963"/>
            <a:ext cx="2395500" cy="91440"/>
          </a:xfrm>
          <a:prstGeom prst="rect">
            <a:avLst/>
          </a:prstGeom>
          <a:noFill/>
          <a:ln/>
        </p:spPr>
        <p:txBody>
          <a:bodyPr wrap="square" lIns="0" tIns="0" rIns="0" bIns="0" rtlCol="0" anchor="t"/>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Envelopes auto-built from 550+ transactions. Live spend vs. limit, with category drift detection.</a:t>
            </a:r>
            <a:endParaRPr lang="en-US" sz="800" dirty="0"/>
          </a:p>
        </p:txBody>
      </p:sp>
      <p:sp>
        <p:nvSpPr>
          <p:cNvPr id="17" name="Text 15"/>
          <p:cNvSpPr/>
          <p:nvPr/>
        </p:nvSpPr>
        <p:spPr>
          <a:xfrm>
            <a:off x="592931" y="2276999"/>
            <a:ext cx="444140"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18" name="Text 16"/>
          <p:cNvSpPr/>
          <p:nvPr/>
        </p:nvSpPr>
        <p:spPr>
          <a:xfrm>
            <a:off x="541860" y="2286000"/>
            <a:ext cx="546283" cy="91440"/>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Overview</a:t>
            </a:r>
            <a:endParaRPr lang="en-US" sz="800" dirty="0"/>
          </a:p>
        </p:txBody>
      </p:sp>
      <p:sp>
        <p:nvSpPr>
          <p:cNvPr id="19" name="Text 17"/>
          <p:cNvSpPr/>
          <p:nvPr/>
        </p:nvSpPr>
        <p:spPr>
          <a:xfrm>
            <a:off x="1102035" y="2276999"/>
            <a:ext cx="401166"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20" name="Text 18"/>
          <p:cNvSpPr/>
          <p:nvPr/>
        </p:nvSpPr>
        <p:spPr>
          <a:xfrm>
            <a:off x="1060648" y="2286000"/>
            <a:ext cx="483941" cy="91440"/>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Budgets</a:t>
            </a:r>
            <a:endParaRPr lang="en-US" sz="800" dirty="0"/>
          </a:p>
        </p:txBody>
      </p:sp>
      <p:pic>
        <p:nvPicPr>
          <p:cNvPr id="21" name="Image 0" descr="preencoded.png">    </p:cNvPr>
          <p:cNvPicPr>
            <a:picLocks noChangeAspect="1"/>
          </p:cNvPicPr>
          <p:nvPr/>
        </p:nvPicPr>
        <p:blipFill>
          <a:blip r:embed="rId1"/>
          <a:stretch>
            <a:fillRect/>
          </a:stretch>
        </p:blipFill>
        <p:spPr>
          <a:xfrm>
            <a:off x="3238463" y="1285875"/>
            <a:ext cx="2666963" cy="1757363"/>
          </a:xfrm>
          <a:prstGeom prst="rect">
            <a:avLst/>
          </a:prstGeom>
        </p:spPr>
      </p:pic>
      <p:sp>
        <p:nvSpPr>
          <p:cNvPr id="22" name="Text 19"/>
          <p:cNvSpPr/>
          <p:nvPr/>
        </p:nvSpPr>
        <p:spPr>
          <a:xfrm>
            <a:off x="3242035" y="1289447"/>
            <a:ext cx="2659819" cy="1750219"/>
          </a:xfrm>
          <a:prstGeom prst="roundRect">
            <a:avLst>
              <a:gd name="adj" fmla="val 8707"/>
            </a:avLst>
          </a:prstGeom>
          <a:noFill/>
          <a:ln w="7144">
            <a:solidFill>
              <a:srgbClr val="6366F1"/>
            </a:solidFill>
            <a:prstDash val="solid"/>
          </a:ln>
        </p:spPr>
        <p:txBody>
          <a:bodyPr wrap="square" rtlCol="0" anchor="ctr"/>
          <a:lstStyle/>
          <a:p>
            <a:pPr indent="0" marL="0">
              <a:buNone/>
            </a:pPr>
            <a:endParaRPr lang="en-US" dirty="0"/>
          </a:p>
        </p:txBody>
      </p:sp>
      <p:sp>
        <p:nvSpPr>
          <p:cNvPr id="23" name="Text 20"/>
          <p:cNvSpPr/>
          <p:nvPr/>
        </p:nvSpPr>
        <p:spPr>
          <a:xfrm>
            <a:off x="4563415" y="2350294"/>
            <a:ext cx="1683896" cy="557213"/>
          </a:xfrm>
          <a:prstGeom prst="rect">
            <a:avLst/>
          </a:prstGeom>
          <a:noFill/>
          <a:ln/>
        </p:spPr>
        <p:txBody>
          <a:bodyPr wrap="square" lIns="0" tIns="0" rIns="0" bIns="0" rtlCol="0" anchor="t"/>
          <a:lstStyle/>
          <a:p>
            <a:pPr algn="l" indent="0" marL="0">
              <a:lnSpc>
                <a:spcPts val="7313"/>
              </a:lnSpc>
              <a:buNone/>
            </a:pPr>
            <a:r>
              <a:rPr lang="en-US" sz="7313" b="1" dirty="0">
                <a:solidFill>
                  <a:srgbClr val="FFFFFF">
                    <a:alpha val="4000"/>
                  </a:srgbClr>
                </a:solidFill>
                <a:latin typeface="Liberation Sans Narrow" pitchFamily="34" charset="0"/>
                <a:ea typeface="Liberation Sans Narrow" pitchFamily="34" charset="-122"/>
                <a:cs typeface="Liberation Sans Narrow" pitchFamily="34" charset="-120"/>
              </a:rPr>
              <a:t>02</a:t>
            </a:r>
            <a:endParaRPr lang="en-US" sz="7313" dirty="0"/>
          </a:p>
        </p:txBody>
      </p:sp>
      <p:sp>
        <p:nvSpPr>
          <p:cNvPr id="24" name="Text 21"/>
          <p:cNvSpPr/>
          <p:nvPr/>
        </p:nvSpPr>
        <p:spPr>
          <a:xfrm>
            <a:off x="3377766" y="1425178"/>
            <a:ext cx="264319" cy="264319"/>
          </a:xfrm>
          <a:prstGeom prst="roundRect">
            <a:avLst>
              <a:gd name="adj" fmla="val 36036"/>
            </a:avLst>
          </a:prstGeom>
          <a:solidFill>
            <a:srgbClr val="10B981">
              <a:alpha val="14000"/>
            </a:srgbClr>
          </a:solidFill>
          <a:ln w="7144">
            <a:solidFill>
              <a:srgbClr val="10B981"/>
            </a:solidFill>
            <a:prstDash val="solid"/>
          </a:ln>
        </p:spPr>
        <p:txBody>
          <a:bodyPr wrap="square" rtlCol="0" anchor="ctr"/>
          <a:lstStyle/>
          <a:p>
            <a:pPr indent="0" marL="0">
              <a:buNone/>
            </a:pPr>
            <a:endParaRPr lang="en-US" dirty="0"/>
          </a:p>
        </p:txBody>
      </p:sp>
      <p:sp>
        <p:nvSpPr>
          <p:cNvPr id="25" name="Text 22"/>
          <p:cNvSpPr/>
          <p:nvPr/>
        </p:nvSpPr>
        <p:spPr>
          <a:xfrm>
            <a:off x="3406341" y="1453753"/>
            <a:ext cx="207169" cy="207169"/>
          </a:xfrm>
          <a:prstGeom prst="rect">
            <a:avLst/>
          </a:prstGeom>
          <a:noFill/>
          <a:ln/>
        </p:spPr>
        <p:txBody>
          <a:bodyPr wrap="none" lIns="0" tIns="0" rIns="0" bIns="0" rtlCol="0" anchor="ctr"/>
          <a:lstStyle/>
          <a:p>
            <a:pPr algn="ctr" indent="0" marL="0">
              <a:buNone/>
            </a:pPr>
            <a:r>
              <a:rPr lang="en-US" sz="1406" dirty="0">
                <a:solidFill>
                  <a:srgbClr val="34D399"/>
                </a:solidFill>
                <a:latin typeface="Segoe UI Symbol" pitchFamily="34" charset="0"/>
                <a:ea typeface="Segoe UI Symbol" pitchFamily="34" charset="-122"/>
                <a:cs typeface="Segoe UI Symbol" pitchFamily="34" charset="-120"/>
              </a:rPr>
              <a:t>▤</a:t>
            </a:r>
            <a:endParaRPr lang="en-US" sz="1406" dirty="0"/>
          </a:p>
        </p:txBody>
      </p:sp>
      <p:sp>
        <p:nvSpPr>
          <p:cNvPr id="26" name="Text 23"/>
          <p:cNvSpPr/>
          <p:nvPr/>
        </p:nvSpPr>
        <p:spPr>
          <a:xfrm>
            <a:off x="5177656" y="1412605"/>
            <a:ext cx="614809" cy="168021"/>
          </a:xfrm>
          <a:prstGeom prst="roundRect">
            <a:avLst>
              <a:gd name="adj" fmla="val 5663265"/>
            </a:avLst>
          </a:prstGeom>
          <a:solidFill>
            <a:srgbClr val="10B981">
              <a:alpha val="12000"/>
            </a:srgbClr>
          </a:solidFill>
          <a:ln w="7144">
            <a:solidFill>
              <a:srgbClr val="10B981"/>
            </a:solidFill>
            <a:prstDash val="solid"/>
          </a:ln>
        </p:spPr>
        <p:txBody>
          <a:bodyPr wrap="square" rtlCol="0" anchor="ctr"/>
          <a:lstStyle/>
          <a:p>
            <a:pPr indent="0" marL="0">
              <a:buNone/>
            </a:pPr>
            <a:endParaRPr lang="en-US" dirty="0"/>
          </a:p>
        </p:txBody>
      </p:sp>
      <p:sp>
        <p:nvSpPr>
          <p:cNvPr id="27" name="Text 24"/>
          <p:cNvSpPr/>
          <p:nvPr/>
        </p:nvSpPr>
        <p:spPr>
          <a:xfrm>
            <a:off x="5169958" y="1421606"/>
            <a:ext cx="630204" cy="150019"/>
          </a:xfrm>
          <a:prstGeom prst="rect">
            <a:avLst/>
          </a:prstGeom>
          <a:noFill/>
          <a:ln/>
        </p:spPr>
        <p:txBody>
          <a:bodyPr wrap="none" lIns="0" tIns="0" rIns="0" bIns="0" rtlCol="0" anchor="ctr"/>
          <a:lstStyle/>
          <a:p>
            <a:pPr algn="ctr" indent="0" marL="0">
              <a:lnSpc>
                <a:spcPts val="844"/>
              </a:lnSpc>
              <a:buNone/>
            </a:pPr>
            <a:r>
              <a:rPr lang="en-US" sz="800" spc="23" kern="0" dirty="0">
                <a:solidFill>
                  <a:srgbClr val="34D399"/>
                </a:solidFill>
                <a:latin typeface="Carlito" pitchFamily="34" charset="0"/>
                <a:ea typeface="Carlito" pitchFamily="34" charset="-122"/>
                <a:cs typeface="Carlito" pitchFamily="34" charset="-120"/>
              </a:rPr>
              <a:t>PLANNING</a:t>
            </a:r>
            <a:endParaRPr lang="en-US" sz="800" dirty="0"/>
          </a:p>
        </p:txBody>
      </p:sp>
      <p:sp>
        <p:nvSpPr>
          <p:cNvPr id="28" name="Text 25"/>
          <p:cNvSpPr/>
          <p:nvPr/>
        </p:nvSpPr>
        <p:spPr>
          <a:xfrm>
            <a:off x="3374194" y="1764506"/>
            <a:ext cx="2505228" cy="194024"/>
          </a:xfrm>
          <a:prstGeom prst="rect">
            <a:avLst/>
          </a:prstGeom>
          <a:noFill/>
          <a:ln/>
        </p:spPr>
        <p:txBody>
          <a:bodyPr wrap="square" lIns="0" tIns="0" rIns="0" bIns="0" rtlCol="0" anchor="t">
            <a:normAutofit/>
          </a:bodyPr>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Bills &amp; Recurring Detection</a:t>
            </a:r>
            <a:endParaRPr lang="en-US" sz="1013" dirty="0"/>
          </a:p>
        </p:txBody>
      </p:sp>
      <p:sp>
        <p:nvSpPr>
          <p:cNvPr id="29" name="Text 26"/>
          <p:cNvSpPr/>
          <p:nvPr/>
        </p:nvSpPr>
        <p:spPr>
          <a:xfrm>
            <a:off x="3374194" y="1985963"/>
            <a:ext cx="2395500" cy="486918"/>
          </a:xfrm>
          <a:prstGeom prst="rect">
            <a:avLst/>
          </a:prstGeom>
          <a:noFill/>
          <a:ln/>
        </p:spPr>
        <p:txBody>
          <a:bodyPr wrap="square" lIns="0" tIns="0" rIns="0" bIns="0" rtlCol="0" anchor="t">
            <a:normAutofit/>
          </a:bodyPr>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Recurring payments auto-identified from merchant cadence. Upcoming bills surfaced 7 days out with cash impact.</a:t>
            </a:r>
            <a:endParaRPr lang="en-US" sz="800" dirty="0"/>
          </a:p>
        </p:txBody>
      </p:sp>
      <p:sp>
        <p:nvSpPr>
          <p:cNvPr id="30" name="Text 27"/>
          <p:cNvSpPr/>
          <p:nvPr/>
        </p:nvSpPr>
        <p:spPr>
          <a:xfrm>
            <a:off x="3377766" y="2503884"/>
            <a:ext cx="2388357" cy="825103"/>
          </a:xfrm>
          <a:prstGeom prst="roundRect">
            <a:avLst>
              <a:gd name="adj" fmla="val 13853"/>
            </a:avLst>
          </a:prstGeom>
          <a:solidFill>
            <a:srgbClr val="000000">
              <a:alpha val="30000"/>
            </a:srgbClr>
          </a:solidFill>
          <a:ln w="7144">
            <a:solidFill>
              <a:srgbClr val="FFFFFF"/>
            </a:solidFill>
            <a:prstDash val="solid"/>
          </a:ln>
        </p:spPr>
        <p:txBody>
          <a:bodyPr wrap="square" rtlCol="0" anchor="ctr"/>
          <a:lstStyle/>
          <a:p>
            <a:pPr indent="0" marL="0">
              <a:buNone/>
            </a:pPr>
            <a:endParaRPr lang="en-US" dirty="0"/>
          </a:p>
        </p:txBody>
      </p:sp>
      <p:sp>
        <p:nvSpPr>
          <p:cNvPr id="31" name="Text 28"/>
          <p:cNvSpPr/>
          <p:nvPr/>
        </p:nvSpPr>
        <p:spPr>
          <a:xfrm>
            <a:off x="3481350" y="2607469"/>
            <a:ext cx="2181188" cy="119015"/>
          </a:xfrm>
          <a:prstGeom prst="rect">
            <a:avLst/>
          </a:prstGeom>
          <a:noFill/>
          <a:ln/>
        </p:spPr>
        <p:txBody>
          <a:bodyPr wrap="none" lIns="0" tIns="0" rIns="0" bIns="0" rtlCol="0" anchor="t">
            <a:normAutofit/>
          </a:bodyPr>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AVG. MONTHLY RECURRING</a:t>
            </a:r>
            <a:endParaRPr lang="en-US" sz="800" dirty="0"/>
          </a:p>
        </p:txBody>
      </p:sp>
      <p:sp>
        <p:nvSpPr>
          <p:cNvPr id="32" name="Text 29"/>
          <p:cNvSpPr/>
          <p:nvPr/>
        </p:nvSpPr>
        <p:spPr>
          <a:xfrm>
            <a:off x="3481350" y="2753916"/>
            <a:ext cx="2181188" cy="315468"/>
          </a:xfrm>
          <a:prstGeom prst="rect">
            <a:avLst/>
          </a:prstGeom>
          <a:noFill/>
          <a:ln/>
        </p:spPr>
        <p:txBody>
          <a:bodyPr wrap="none" lIns="0" tIns="0" rIns="0" bIns="0" rtlCol="0" anchor="t">
            <a:normAutofit/>
          </a:bodyPr>
          <a:lstStyle/>
          <a:p>
            <a:pPr algn="l" indent="0" marL="0">
              <a:lnSpc>
                <a:spcPts val="2475"/>
              </a:lnSpc>
              <a:buNone/>
            </a:pPr>
            <a:r>
              <a:rPr lang="en-US" sz="2475" b="1" spc="-74" kern="0" dirty="0">
                <a:solidFill>
                  <a:srgbClr val="F5F5F7"/>
                </a:solidFill>
                <a:latin typeface="Liberation Sans Narrow" pitchFamily="34" charset="0"/>
                <a:ea typeface="Liberation Sans Narrow" pitchFamily="34" charset="-122"/>
                <a:cs typeface="Liberation Sans Narrow" pitchFamily="34" charset="-120"/>
              </a:rPr>
              <a:t>$1,284</a:t>
            </a:r>
            <a:endParaRPr lang="en-US" sz="2475" dirty="0"/>
          </a:p>
        </p:txBody>
      </p:sp>
      <p:sp>
        <p:nvSpPr>
          <p:cNvPr id="33" name="Text 30"/>
          <p:cNvSpPr/>
          <p:nvPr/>
        </p:nvSpPr>
        <p:spPr>
          <a:xfrm>
            <a:off x="3481350" y="3096816"/>
            <a:ext cx="2290916" cy="128588"/>
          </a:xfrm>
          <a:prstGeom prst="rect">
            <a:avLst/>
          </a:prstGeom>
          <a:noFill/>
          <a:ln/>
        </p:spPr>
        <p:txBody>
          <a:bodyPr wrap="square" lIns="0" tIns="0" rIns="0" bIns="0" rtlCol="0" anchor="t"/>
          <a:lstStyle/>
          <a:p>
            <a:pPr algn="l" indent="0" marL="0">
              <a:lnSpc>
                <a:spcPts val="1013"/>
              </a:lnSpc>
              <a:buNone/>
            </a:pPr>
            <a:r>
              <a:rPr lang="en-US" sz="800" dirty="0">
                <a:solidFill>
                  <a:srgbClr val="34D399"/>
                </a:solidFill>
                <a:latin typeface="Liberation Sans Narrow" pitchFamily="34" charset="0"/>
                <a:ea typeface="Liberation Sans Narrow" pitchFamily="34" charset="-122"/>
                <a:cs typeface="Liberation Sans Narrow" pitchFamily="34" charset="-120"/>
              </a:rPr>
              <a:t>across 9 detected subscriptions</a:t>
            </a:r>
            <a:endParaRPr lang="en-US" sz="800" dirty="0"/>
          </a:p>
        </p:txBody>
      </p:sp>
      <p:sp>
        <p:nvSpPr>
          <p:cNvPr id="34" name="Text 31"/>
          <p:cNvSpPr/>
          <p:nvPr/>
        </p:nvSpPr>
        <p:spPr>
          <a:xfrm>
            <a:off x="3374194" y="3366421"/>
            <a:ext cx="444140"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35" name="Text 32"/>
          <p:cNvSpPr/>
          <p:nvPr/>
        </p:nvSpPr>
        <p:spPr>
          <a:xfrm>
            <a:off x="3323123" y="3375422"/>
            <a:ext cx="546283" cy="91440"/>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Planning</a:t>
            </a:r>
            <a:endParaRPr lang="en-US" sz="800" dirty="0"/>
          </a:p>
        </p:txBody>
      </p:sp>
      <p:sp>
        <p:nvSpPr>
          <p:cNvPr id="36" name="Text 33"/>
          <p:cNvSpPr/>
          <p:nvPr/>
        </p:nvSpPr>
        <p:spPr>
          <a:xfrm>
            <a:off x="3883298" y="3366421"/>
            <a:ext cx="616148"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37" name="Text 34"/>
          <p:cNvSpPr/>
          <p:nvPr/>
        </p:nvSpPr>
        <p:spPr>
          <a:xfrm>
            <a:off x="3793547" y="3375422"/>
            <a:ext cx="795650" cy="91440"/>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Transactions</a:t>
            </a:r>
            <a:endParaRPr lang="en-US" sz="800" dirty="0"/>
          </a:p>
        </p:txBody>
      </p:sp>
      <p:sp>
        <p:nvSpPr>
          <p:cNvPr id="38" name="Text 35"/>
          <p:cNvSpPr/>
          <p:nvPr/>
        </p:nvSpPr>
        <p:spPr>
          <a:xfrm>
            <a:off x="6023297" y="1289447"/>
            <a:ext cx="2659931" cy="814388"/>
          </a:xfrm>
          <a:prstGeom prst="roundRect">
            <a:avLst>
              <a:gd name="adj" fmla="val 18713"/>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39" name="Text 36"/>
          <p:cNvSpPr/>
          <p:nvPr/>
        </p:nvSpPr>
        <p:spPr>
          <a:xfrm>
            <a:off x="7344789" y="1414463"/>
            <a:ext cx="1683896" cy="557213"/>
          </a:xfrm>
          <a:prstGeom prst="rect">
            <a:avLst/>
          </a:prstGeom>
          <a:noFill/>
          <a:ln/>
        </p:spPr>
        <p:txBody>
          <a:bodyPr wrap="square" lIns="0" tIns="0" rIns="0" bIns="0" rtlCol="0" anchor="t"/>
          <a:lstStyle/>
          <a:p>
            <a:pPr algn="l" indent="0" marL="0">
              <a:lnSpc>
                <a:spcPts val="7313"/>
              </a:lnSpc>
              <a:buNone/>
            </a:pPr>
            <a:r>
              <a:rPr lang="en-US" sz="7313" b="1" dirty="0">
                <a:solidFill>
                  <a:srgbClr val="FFFFFF">
                    <a:alpha val="2000"/>
                  </a:srgbClr>
                </a:solidFill>
                <a:latin typeface="Liberation Sans Narrow" pitchFamily="34" charset="0"/>
                <a:ea typeface="Liberation Sans Narrow" pitchFamily="34" charset="-122"/>
                <a:cs typeface="Liberation Sans Narrow" pitchFamily="34" charset="-120"/>
              </a:rPr>
              <a:t>03</a:t>
            </a:r>
            <a:endParaRPr lang="en-US" sz="7313" dirty="0"/>
          </a:p>
        </p:txBody>
      </p:sp>
      <p:sp>
        <p:nvSpPr>
          <p:cNvPr id="40" name="Text 37"/>
          <p:cNvSpPr/>
          <p:nvPr/>
        </p:nvSpPr>
        <p:spPr>
          <a:xfrm>
            <a:off x="6159029" y="1425178"/>
            <a:ext cx="264319" cy="264319"/>
          </a:xfrm>
          <a:prstGeom prst="roundRect">
            <a:avLst>
              <a:gd name="adj" fmla="val 36036"/>
            </a:avLst>
          </a:prstGeom>
          <a:solidFill>
            <a:srgbClr val="6366F1">
              <a:alpha val="14000"/>
            </a:srgbClr>
          </a:solidFill>
          <a:ln w="7144">
            <a:solidFill>
              <a:srgbClr val="6366F1"/>
            </a:solidFill>
            <a:prstDash val="solid"/>
          </a:ln>
        </p:spPr>
        <p:txBody>
          <a:bodyPr wrap="square" rtlCol="0" anchor="ctr"/>
          <a:lstStyle/>
          <a:p>
            <a:pPr indent="0" marL="0">
              <a:buNone/>
            </a:pPr>
            <a:endParaRPr lang="en-US" dirty="0"/>
          </a:p>
        </p:txBody>
      </p:sp>
      <p:sp>
        <p:nvSpPr>
          <p:cNvPr id="41" name="Text 38"/>
          <p:cNvSpPr/>
          <p:nvPr/>
        </p:nvSpPr>
        <p:spPr>
          <a:xfrm>
            <a:off x="6187604" y="1453753"/>
            <a:ext cx="207169" cy="207169"/>
          </a:xfrm>
          <a:prstGeom prst="rect">
            <a:avLst/>
          </a:prstGeom>
          <a:noFill/>
          <a:ln/>
        </p:spPr>
        <p:txBody>
          <a:bodyPr wrap="none" lIns="0" tIns="0" rIns="0" bIns="0" rtlCol="0" anchor="ctr"/>
          <a:lstStyle/>
          <a:p>
            <a:pPr algn="ctr" indent="0" marL="0">
              <a:buNone/>
            </a:pPr>
            <a:r>
              <a:rPr lang="en-US" sz="1406" dirty="0">
                <a:solidFill>
                  <a:srgbClr val="818CF8"/>
                </a:solidFill>
                <a:latin typeface="Segoe UI Symbol" pitchFamily="34" charset="0"/>
                <a:ea typeface="Segoe UI Symbol" pitchFamily="34" charset="-122"/>
                <a:cs typeface="Segoe UI Symbol" pitchFamily="34" charset="-120"/>
              </a:rPr>
              <a:t>⌇</a:t>
            </a:r>
            <a:endParaRPr lang="en-US" sz="1406" dirty="0"/>
          </a:p>
        </p:txBody>
      </p:sp>
      <p:sp>
        <p:nvSpPr>
          <p:cNvPr id="42" name="Text 39"/>
          <p:cNvSpPr/>
          <p:nvPr/>
        </p:nvSpPr>
        <p:spPr>
          <a:xfrm>
            <a:off x="7995133" y="1412605"/>
            <a:ext cx="577318" cy="168021"/>
          </a:xfrm>
          <a:prstGeom prst="roundRect">
            <a:avLst>
              <a:gd name="adj" fmla="val 5663265"/>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43" name="Text 40"/>
          <p:cNvSpPr/>
          <p:nvPr/>
        </p:nvSpPr>
        <p:spPr>
          <a:xfrm>
            <a:off x="7968690" y="1421606"/>
            <a:ext cx="630204" cy="150019"/>
          </a:xfrm>
          <a:prstGeom prst="rect">
            <a:avLst/>
          </a:prstGeom>
          <a:noFill/>
          <a:ln/>
        </p:spPr>
        <p:txBody>
          <a:bodyPr wrap="none" lIns="0" tIns="0" rIns="0" bIns="0" rtlCol="0" anchor="ctr"/>
          <a:lstStyle/>
          <a:p>
            <a:pPr algn="ctr" indent="0" marL="0">
              <a:lnSpc>
                <a:spcPts val="844"/>
              </a:lnSpc>
              <a:buNone/>
            </a:pPr>
            <a:r>
              <a:rPr lang="en-US" sz="800" spc="23" kern="0" dirty="0">
                <a:solidFill>
                  <a:srgbClr val="818CF8"/>
                </a:solidFill>
                <a:latin typeface="Carlito" pitchFamily="34" charset="0"/>
                <a:ea typeface="Carlito" pitchFamily="34" charset="-122"/>
                <a:cs typeface="Carlito" pitchFamily="34" charset="-120"/>
              </a:rPr>
              <a:t>INSIGHTS</a:t>
            </a:r>
            <a:endParaRPr lang="en-US" sz="800" dirty="0"/>
          </a:p>
        </p:txBody>
      </p:sp>
      <p:sp>
        <p:nvSpPr>
          <p:cNvPr id="44" name="Text 41"/>
          <p:cNvSpPr/>
          <p:nvPr/>
        </p:nvSpPr>
        <p:spPr>
          <a:xfrm>
            <a:off x="6155457" y="1764506"/>
            <a:ext cx="2395612" cy="194024"/>
          </a:xfrm>
          <a:prstGeom prst="rect">
            <a:avLst/>
          </a:prstGeom>
          <a:noFill/>
          <a:ln/>
        </p:spPr>
        <p:txBody>
          <a:bodyPr wrap="none" lIns="0" tIns="0" rIns="0" bIns="0" rtlCol="0" anchor="t">
            <a:normAutofit/>
          </a:bodyPr>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Spending Insights</a:t>
            </a:r>
            <a:endParaRPr lang="en-US" sz="1013" dirty="0"/>
          </a:p>
        </p:txBody>
      </p:sp>
      <p:sp>
        <p:nvSpPr>
          <p:cNvPr id="45" name="Text 42"/>
          <p:cNvSpPr/>
          <p:nvPr/>
        </p:nvSpPr>
        <p:spPr>
          <a:xfrm>
            <a:off x="6155457" y="1985963"/>
            <a:ext cx="2395612" cy="91440"/>
          </a:xfrm>
          <a:prstGeom prst="rect">
            <a:avLst/>
          </a:prstGeom>
          <a:noFill/>
          <a:ln/>
        </p:spPr>
        <p:txBody>
          <a:bodyPr wrap="square" lIns="0" tIns="0" rIns="0" bIns="0" rtlCol="0" anchor="t"/>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365-day heatmap, top-merchant concentration (HHI), seasonal decomposition, and weekly anomaly flags.</a:t>
            </a:r>
            <a:endParaRPr lang="en-US" sz="800" dirty="0"/>
          </a:p>
        </p:txBody>
      </p:sp>
      <p:sp>
        <p:nvSpPr>
          <p:cNvPr id="46" name="Text 43"/>
          <p:cNvSpPr/>
          <p:nvPr/>
        </p:nvSpPr>
        <p:spPr>
          <a:xfrm>
            <a:off x="6155457" y="2276999"/>
            <a:ext cx="444140"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47" name="Text 44"/>
          <p:cNvSpPr/>
          <p:nvPr/>
        </p:nvSpPr>
        <p:spPr>
          <a:xfrm>
            <a:off x="6104386" y="2286000"/>
            <a:ext cx="546283" cy="91440"/>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Insights</a:t>
            </a:r>
            <a:endParaRPr lang="en-US" sz="800" dirty="0"/>
          </a:p>
        </p:txBody>
      </p:sp>
      <p:sp>
        <p:nvSpPr>
          <p:cNvPr id="48" name="Text 45"/>
          <p:cNvSpPr/>
          <p:nvPr/>
        </p:nvSpPr>
        <p:spPr>
          <a:xfrm>
            <a:off x="6664561" y="2276999"/>
            <a:ext cx="487114"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49" name="Text 46"/>
          <p:cNvSpPr/>
          <p:nvPr/>
        </p:nvSpPr>
        <p:spPr>
          <a:xfrm>
            <a:off x="6603806" y="2286000"/>
            <a:ext cx="608625" cy="91440"/>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Analytics</a:t>
            </a:r>
            <a:endParaRPr lang="en-US" sz="800" dirty="0"/>
          </a:p>
        </p:txBody>
      </p:sp>
      <p:sp>
        <p:nvSpPr>
          <p:cNvPr id="50" name="Text 47"/>
          <p:cNvSpPr/>
          <p:nvPr/>
        </p:nvSpPr>
        <p:spPr>
          <a:xfrm>
            <a:off x="460772" y="2225278"/>
            <a:ext cx="2659819" cy="814388"/>
          </a:xfrm>
          <a:prstGeom prst="roundRect">
            <a:avLst>
              <a:gd name="adj" fmla="val 18713"/>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51" name="Text 48"/>
          <p:cNvSpPr/>
          <p:nvPr/>
        </p:nvSpPr>
        <p:spPr>
          <a:xfrm>
            <a:off x="1782152" y="2350294"/>
            <a:ext cx="1683896" cy="557213"/>
          </a:xfrm>
          <a:prstGeom prst="rect">
            <a:avLst/>
          </a:prstGeom>
          <a:noFill/>
          <a:ln/>
        </p:spPr>
        <p:txBody>
          <a:bodyPr wrap="square" lIns="0" tIns="0" rIns="0" bIns="0" rtlCol="0" anchor="t"/>
          <a:lstStyle/>
          <a:p>
            <a:pPr algn="l" indent="0" marL="0">
              <a:lnSpc>
                <a:spcPts val="7313"/>
              </a:lnSpc>
              <a:buNone/>
            </a:pPr>
            <a:r>
              <a:rPr lang="en-US" sz="7313" b="1" dirty="0">
                <a:solidFill>
                  <a:srgbClr val="FFFFFF">
                    <a:alpha val="2000"/>
                  </a:srgbClr>
                </a:solidFill>
                <a:latin typeface="Liberation Sans Narrow" pitchFamily="34" charset="0"/>
                <a:ea typeface="Liberation Sans Narrow" pitchFamily="34" charset="-122"/>
                <a:cs typeface="Liberation Sans Narrow" pitchFamily="34" charset="-120"/>
              </a:rPr>
              <a:t>04</a:t>
            </a:r>
            <a:endParaRPr lang="en-US" sz="7313" dirty="0"/>
          </a:p>
        </p:txBody>
      </p:sp>
      <p:sp>
        <p:nvSpPr>
          <p:cNvPr id="52" name="Text 49"/>
          <p:cNvSpPr/>
          <p:nvPr/>
        </p:nvSpPr>
        <p:spPr>
          <a:xfrm>
            <a:off x="596503" y="2361009"/>
            <a:ext cx="264319" cy="264319"/>
          </a:xfrm>
          <a:prstGeom prst="roundRect">
            <a:avLst>
              <a:gd name="adj" fmla="val 36036"/>
            </a:avLst>
          </a:prstGeom>
          <a:solidFill>
            <a:srgbClr val="10B981">
              <a:alpha val="14000"/>
            </a:srgbClr>
          </a:solidFill>
          <a:ln w="7144">
            <a:solidFill>
              <a:srgbClr val="10B981"/>
            </a:solidFill>
            <a:prstDash val="solid"/>
          </a:ln>
        </p:spPr>
        <p:txBody>
          <a:bodyPr wrap="square" rtlCol="0" anchor="ctr"/>
          <a:lstStyle/>
          <a:p>
            <a:pPr indent="0" marL="0">
              <a:buNone/>
            </a:pPr>
            <a:endParaRPr lang="en-US" dirty="0"/>
          </a:p>
        </p:txBody>
      </p:sp>
      <p:sp>
        <p:nvSpPr>
          <p:cNvPr id="53" name="Text 50"/>
          <p:cNvSpPr/>
          <p:nvPr/>
        </p:nvSpPr>
        <p:spPr>
          <a:xfrm>
            <a:off x="625078" y="2389584"/>
            <a:ext cx="207169" cy="207169"/>
          </a:xfrm>
          <a:prstGeom prst="rect">
            <a:avLst/>
          </a:prstGeom>
          <a:noFill/>
          <a:ln/>
        </p:spPr>
        <p:txBody>
          <a:bodyPr wrap="none" lIns="0" tIns="0" rIns="0" bIns="0" rtlCol="0" anchor="ctr"/>
          <a:lstStyle/>
          <a:p>
            <a:pPr algn="ctr" indent="0" marL="0">
              <a:buNone/>
            </a:pPr>
            <a:r>
              <a:rPr lang="en-US" sz="1406" dirty="0">
                <a:solidFill>
                  <a:srgbClr val="34D399"/>
                </a:solidFill>
                <a:latin typeface="Segoe UI Symbol" pitchFamily="34" charset="0"/>
                <a:ea typeface="Segoe UI Symbol" pitchFamily="34" charset="-122"/>
                <a:cs typeface="Segoe UI Symbol" pitchFamily="34" charset="-120"/>
              </a:rPr>
              <a:t>◆</a:t>
            </a:r>
            <a:endParaRPr lang="en-US" sz="1406" dirty="0"/>
          </a:p>
        </p:txBody>
      </p:sp>
      <p:sp>
        <p:nvSpPr>
          <p:cNvPr id="54" name="Text 51"/>
          <p:cNvSpPr/>
          <p:nvPr/>
        </p:nvSpPr>
        <p:spPr>
          <a:xfrm>
            <a:off x="2110666" y="2348436"/>
            <a:ext cx="900626" cy="168021"/>
          </a:xfrm>
          <a:prstGeom prst="roundRect">
            <a:avLst>
              <a:gd name="adj" fmla="val 5663265"/>
            </a:avLst>
          </a:prstGeom>
          <a:solidFill>
            <a:srgbClr val="10B981">
              <a:alpha val="12000"/>
            </a:srgbClr>
          </a:solidFill>
          <a:ln w="7144">
            <a:solidFill>
              <a:srgbClr val="10B981"/>
            </a:solidFill>
            <a:prstDash val="solid"/>
          </a:ln>
        </p:spPr>
        <p:txBody>
          <a:bodyPr wrap="square" rtlCol="0" anchor="ctr"/>
          <a:lstStyle/>
          <a:p>
            <a:pPr indent="0" marL="0">
              <a:buNone/>
            </a:pPr>
            <a:endParaRPr lang="en-US" dirty="0"/>
          </a:p>
        </p:txBody>
      </p:sp>
      <p:sp>
        <p:nvSpPr>
          <p:cNvPr id="55" name="Text 52"/>
          <p:cNvSpPr/>
          <p:nvPr/>
        </p:nvSpPr>
        <p:spPr>
          <a:xfrm>
            <a:off x="2133526" y="2357438"/>
            <a:ext cx="854906" cy="150019"/>
          </a:xfrm>
          <a:prstGeom prst="rect">
            <a:avLst/>
          </a:prstGeom>
          <a:noFill/>
          <a:ln/>
        </p:spPr>
        <p:txBody>
          <a:bodyPr wrap="none" lIns="0" tIns="0" rIns="0" bIns="0" rtlCol="0" anchor="ctr"/>
          <a:lstStyle/>
          <a:p>
            <a:pPr algn="ctr" indent="0" marL="0">
              <a:lnSpc>
                <a:spcPts val="844"/>
              </a:lnSpc>
              <a:buNone/>
            </a:pPr>
            <a:r>
              <a:rPr lang="en-US" sz="800" spc="23" kern="0" dirty="0">
                <a:solidFill>
                  <a:srgbClr val="34D399"/>
                </a:solidFill>
                <a:latin typeface="Carlito" pitchFamily="34" charset="0"/>
                <a:ea typeface="Carlito" pitchFamily="34" charset="-122"/>
                <a:cs typeface="Carlito" pitchFamily="34" charset="-120"/>
              </a:rPr>
              <a:t>SMART INSIGHTS</a:t>
            </a:r>
            <a:endParaRPr lang="en-US" sz="800" dirty="0"/>
          </a:p>
        </p:txBody>
      </p:sp>
      <p:sp>
        <p:nvSpPr>
          <p:cNvPr id="56" name="Text 53"/>
          <p:cNvSpPr/>
          <p:nvPr/>
        </p:nvSpPr>
        <p:spPr>
          <a:xfrm>
            <a:off x="592931" y="2700338"/>
            <a:ext cx="2505228" cy="194024"/>
          </a:xfrm>
          <a:prstGeom prst="rect">
            <a:avLst/>
          </a:prstGeom>
          <a:noFill/>
          <a:ln/>
        </p:spPr>
        <p:txBody>
          <a:bodyPr wrap="square" lIns="0" tIns="0" rIns="0" bIns="0" rtlCol="0" anchor="t">
            <a:normAutofit/>
          </a:bodyPr>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Actionable Recommendations</a:t>
            </a:r>
            <a:endParaRPr lang="en-US" sz="1013" dirty="0"/>
          </a:p>
        </p:txBody>
      </p:sp>
      <p:sp>
        <p:nvSpPr>
          <p:cNvPr id="57" name="Text 54"/>
          <p:cNvSpPr/>
          <p:nvPr/>
        </p:nvSpPr>
        <p:spPr>
          <a:xfrm>
            <a:off x="592931" y="2921794"/>
            <a:ext cx="2395500" cy="91440"/>
          </a:xfrm>
          <a:prstGeom prst="rect">
            <a:avLst/>
          </a:prstGeom>
          <a:noFill/>
          <a:ln/>
        </p:spPr>
        <p:txBody>
          <a:bodyPr wrap="square" lIns="0" tIns="0" rIns="0" bIns="0" rtlCol="0" anchor="t"/>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Goal optimizer, debt-payoff planner, What-If simulator. Recommendations you can act on with one utterance.</a:t>
            </a:r>
            <a:endParaRPr lang="en-US" sz="800" dirty="0"/>
          </a:p>
        </p:txBody>
      </p:sp>
      <p:sp>
        <p:nvSpPr>
          <p:cNvPr id="58" name="Text 55"/>
          <p:cNvSpPr/>
          <p:nvPr/>
        </p:nvSpPr>
        <p:spPr>
          <a:xfrm>
            <a:off x="592931" y="3212830"/>
            <a:ext cx="444140"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59" name="Text 56"/>
          <p:cNvSpPr/>
          <p:nvPr/>
        </p:nvSpPr>
        <p:spPr>
          <a:xfrm>
            <a:off x="541860" y="3221831"/>
            <a:ext cx="546283" cy="91440"/>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Planning</a:t>
            </a:r>
            <a:endParaRPr lang="en-US" sz="800" dirty="0"/>
          </a:p>
        </p:txBody>
      </p:sp>
      <p:sp>
        <p:nvSpPr>
          <p:cNvPr id="60" name="Text 57"/>
          <p:cNvSpPr/>
          <p:nvPr/>
        </p:nvSpPr>
        <p:spPr>
          <a:xfrm>
            <a:off x="1102035" y="3212830"/>
            <a:ext cx="702208"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1" name="Text 58"/>
          <p:cNvSpPr/>
          <p:nvPr/>
        </p:nvSpPr>
        <p:spPr>
          <a:xfrm>
            <a:off x="1102035" y="3221831"/>
            <a:ext cx="702208" cy="91440"/>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Innovation Lab</a:t>
            </a:r>
            <a:endParaRPr lang="en-US" sz="800" dirty="0"/>
          </a:p>
        </p:txBody>
      </p:sp>
      <p:sp>
        <p:nvSpPr>
          <p:cNvPr id="62" name="Text 59"/>
          <p:cNvSpPr/>
          <p:nvPr/>
        </p:nvSpPr>
        <p:spPr>
          <a:xfrm>
            <a:off x="460772" y="3161109"/>
            <a:ext cx="5441082" cy="1407319"/>
          </a:xfrm>
          <a:prstGeom prst="roundRect">
            <a:avLst>
              <a:gd name="adj" fmla="val 10829"/>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63" name="Text 60"/>
          <p:cNvSpPr/>
          <p:nvPr/>
        </p:nvSpPr>
        <p:spPr>
          <a:xfrm>
            <a:off x="4563415" y="3879056"/>
            <a:ext cx="1683896" cy="557213"/>
          </a:xfrm>
          <a:prstGeom prst="rect">
            <a:avLst/>
          </a:prstGeom>
          <a:noFill/>
          <a:ln/>
        </p:spPr>
        <p:txBody>
          <a:bodyPr wrap="square" lIns="0" tIns="0" rIns="0" bIns="0" rtlCol="0" anchor="t"/>
          <a:lstStyle/>
          <a:p>
            <a:pPr algn="l" indent="0" marL="0">
              <a:lnSpc>
                <a:spcPts val="7313"/>
              </a:lnSpc>
              <a:buNone/>
            </a:pPr>
            <a:r>
              <a:rPr lang="en-US" sz="7313" b="1" dirty="0">
                <a:solidFill>
                  <a:srgbClr val="FFFFFF">
                    <a:alpha val="2000"/>
                  </a:srgbClr>
                </a:solidFill>
                <a:latin typeface="Liberation Sans Narrow" pitchFamily="34" charset="0"/>
                <a:ea typeface="Liberation Sans Narrow" pitchFamily="34" charset="-122"/>
                <a:cs typeface="Liberation Sans Narrow" pitchFamily="34" charset="-120"/>
              </a:rPr>
              <a:t>05</a:t>
            </a:r>
            <a:endParaRPr lang="en-US" sz="7313" dirty="0"/>
          </a:p>
        </p:txBody>
      </p:sp>
      <p:sp>
        <p:nvSpPr>
          <p:cNvPr id="64" name="Text 61"/>
          <p:cNvSpPr/>
          <p:nvPr/>
        </p:nvSpPr>
        <p:spPr>
          <a:xfrm>
            <a:off x="596503" y="3296841"/>
            <a:ext cx="264319" cy="264319"/>
          </a:xfrm>
          <a:prstGeom prst="roundRect">
            <a:avLst>
              <a:gd name="adj" fmla="val 36036"/>
            </a:avLst>
          </a:prstGeom>
          <a:solidFill>
            <a:srgbClr val="6366F1">
              <a:alpha val="14000"/>
            </a:srgbClr>
          </a:solidFill>
          <a:ln w="7144">
            <a:solidFill>
              <a:srgbClr val="6366F1"/>
            </a:solidFill>
            <a:prstDash val="solid"/>
          </a:ln>
        </p:spPr>
        <p:txBody>
          <a:bodyPr wrap="square" rtlCol="0" anchor="ctr"/>
          <a:lstStyle/>
          <a:p>
            <a:pPr indent="0" marL="0">
              <a:buNone/>
            </a:pPr>
            <a:endParaRPr lang="en-US" dirty="0"/>
          </a:p>
        </p:txBody>
      </p:sp>
      <p:sp>
        <p:nvSpPr>
          <p:cNvPr id="65" name="Text 62"/>
          <p:cNvSpPr/>
          <p:nvPr/>
        </p:nvSpPr>
        <p:spPr>
          <a:xfrm>
            <a:off x="625078" y="3325416"/>
            <a:ext cx="207169" cy="207169"/>
          </a:xfrm>
          <a:prstGeom prst="rect">
            <a:avLst/>
          </a:prstGeom>
          <a:noFill/>
          <a:ln/>
        </p:spPr>
        <p:txBody>
          <a:bodyPr wrap="none" lIns="0" tIns="0" rIns="0" bIns="0" rtlCol="0" anchor="ctr"/>
          <a:lstStyle/>
          <a:p>
            <a:pPr algn="ctr" indent="0" marL="0">
              <a:buNone/>
            </a:pPr>
            <a:r>
              <a:rPr lang="en-US" sz="1406" dirty="0">
                <a:solidFill>
                  <a:srgbClr val="818CF8"/>
                </a:solidFill>
                <a:latin typeface="Segoe UI Symbol" pitchFamily="34" charset="0"/>
                <a:ea typeface="Segoe UI Symbol" pitchFamily="34" charset="-122"/>
                <a:cs typeface="Segoe UI Symbol" pitchFamily="34" charset="-120"/>
              </a:rPr>
              <a:t>⚑</a:t>
            </a:r>
            <a:endParaRPr lang="en-US" sz="1406" dirty="0"/>
          </a:p>
        </p:txBody>
      </p:sp>
      <p:sp>
        <p:nvSpPr>
          <p:cNvPr id="66" name="Text 63"/>
          <p:cNvSpPr/>
          <p:nvPr/>
        </p:nvSpPr>
        <p:spPr>
          <a:xfrm>
            <a:off x="4786000" y="3284268"/>
            <a:ext cx="1006554" cy="168021"/>
          </a:xfrm>
          <a:prstGeom prst="roundRect">
            <a:avLst>
              <a:gd name="adj" fmla="val 5663265"/>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67" name="Text 64"/>
          <p:cNvSpPr/>
          <p:nvPr/>
        </p:nvSpPr>
        <p:spPr>
          <a:xfrm>
            <a:off x="4808860" y="3293269"/>
            <a:ext cx="960834" cy="150019"/>
          </a:xfrm>
          <a:prstGeom prst="rect">
            <a:avLst/>
          </a:prstGeom>
          <a:noFill/>
          <a:ln/>
        </p:spPr>
        <p:txBody>
          <a:bodyPr wrap="none" lIns="0" tIns="0" rIns="0" bIns="0" rtlCol="0" anchor="ctr"/>
          <a:lstStyle/>
          <a:p>
            <a:pPr algn="ctr" indent="0" marL="0">
              <a:lnSpc>
                <a:spcPts val="844"/>
              </a:lnSpc>
              <a:buNone/>
            </a:pPr>
            <a:r>
              <a:rPr lang="en-US" sz="800" spc="23" kern="0" dirty="0">
                <a:solidFill>
                  <a:srgbClr val="818CF8"/>
                </a:solidFill>
                <a:latin typeface="Carlito" pitchFamily="34" charset="0"/>
                <a:ea typeface="Carlito" pitchFamily="34" charset="-122"/>
                <a:cs typeface="Carlito" pitchFamily="34" charset="-120"/>
              </a:rPr>
              <a:t>GOALS · ANALYTICS</a:t>
            </a:r>
            <a:endParaRPr lang="en-US" sz="800" dirty="0"/>
          </a:p>
        </p:txBody>
      </p:sp>
      <p:sp>
        <p:nvSpPr>
          <p:cNvPr id="68" name="Text 65"/>
          <p:cNvSpPr/>
          <p:nvPr/>
        </p:nvSpPr>
        <p:spPr>
          <a:xfrm>
            <a:off x="592931" y="3636169"/>
            <a:ext cx="5286491" cy="194024"/>
          </a:xfrm>
          <a:prstGeom prst="rect">
            <a:avLst/>
          </a:prstGeom>
          <a:noFill/>
          <a:ln/>
        </p:spPr>
        <p:txBody>
          <a:bodyPr wrap="square" lIns="0" tIns="0" rIns="0" bIns="0" rtlCol="0" anchor="t">
            <a:normAutofit/>
          </a:bodyPr>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Goals, Forecasting &amp; Analytics</a:t>
            </a:r>
            <a:endParaRPr lang="en-US" sz="1013" dirty="0"/>
          </a:p>
        </p:txBody>
      </p:sp>
      <p:sp>
        <p:nvSpPr>
          <p:cNvPr id="69" name="Text 66"/>
          <p:cNvSpPr/>
          <p:nvPr/>
        </p:nvSpPr>
        <p:spPr>
          <a:xfrm>
            <a:off x="592931" y="3857625"/>
            <a:ext cx="5176763" cy="358331"/>
          </a:xfrm>
          <a:prstGeom prst="rect">
            <a:avLst/>
          </a:prstGeom>
          <a:noFill/>
          <a:ln/>
        </p:spPr>
        <p:txBody>
          <a:bodyPr wrap="square" lIns="0" tIns="0" rIns="0" bIns="0" rtlCol="0" anchor="t">
            <a:normAutofit/>
          </a:bodyPr>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Goal optimizer re-balances monthly contributions. Cash-flow forecast uses Holt-Winters; 5-year projection runs 5,000 Monte Carlo paths. Financial Health Score blends savings rate, debt ratio, emergency runway, and consistency into a single 0–100 score.</a:t>
            </a:r>
            <a:endParaRPr lang="en-US" sz="800" dirty="0"/>
          </a:p>
        </p:txBody>
      </p:sp>
      <p:sp>
        <p:nvSpPr>
          <p:cNvPr id="70" name="Text 67"/>
          <p:cNvSpPr/>
          <p:nvPr/>
        </p:nvSpPr>
        <p:spPr>
          <a:xfrm>
            <a:off x="592931" y="4277249"/>
            <a:ext cx="315106"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1" name="Text 68"/>
          <p:cNvSpPr/>
          <p:nvPr/>
        </p:nvSpPr>
        <p:spPr>
          <a:xfrm>
            <a:off x="570856" y="4286250"/>
            <a:ext cx="359258" cy="150019"/>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Goals</a:t>
            </a:r>
            <a:endParaRPr lang="en-US" sz="800" dirty="0"/>
          </a:p>
        </p:txBody>
      </p:sp>
      <p:sp>
        <p:nvSpPr>
          <p:cNvPr id="72" name="Text 69"/>
          <p:cNvSpPr/>
          <p:nvPr/>
        </p:nvSpPr>
        <p:spPr>
          <a:xfrm>
            <a:off x="973001" y="4277249"/>
            <a:ext cx="444140"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3" name="Text 70"/>
          <p:cNvSpPr/>
          <p:nvPr/>
        </p:nvSpPr>
        <p:spPr>
          <a:xfrm>
            <a:off x="921930" y="4286250"/>
            <a:ext cx="546283" cy="150019"/>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Planning</a:t>
            </a:r>
            <a:endParaRPr lang="en-US" sz="800" dirty="0"/>
          </a:p>
        </p:txBody>
      </p:sp>
      <p:sp>
        <p:nvSpPr>
          <p:cNvPr id="74" name="Text 71"/>
          <p:cNvSpPr/>
          <p:nvPr/>
        </p:nvSpPr>
        <p:spPr>
          <a:xfrm>
            <a:off x="1482105" y="4277249"/>
            <a:ext cx="444140"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5" name="Text 72"/>
          <p:cNvSpPr/>
          <p:nvPr/>
        </p:nvSpPr>
        <p:spPr>
          <a:xfrm>
            <a:off x="1431034" y="4286250"/>
            <a:ext cx="546283" cy="150019"/>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Insights</a:t>
            </a:r>
            <a:endParaRPr lang="en-US" sz="800" dirty="0"/>
          </a:p>
        </p:txBody>
      </p:sp>
      <p:sp>
        <p:nvSpPr>
          <p:cNvPr id="76" name="Text 73"/>
          <p:cNvSpPr/>
          <p:nvPr/>
        </p:nvSpPr>
        <p:spPr>
          <a:xfrm>
            <a:off x="1991209" y="4277249"/>
            <a:ext cx="487114"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7" name="Text 74"/>
          <p:cNvSpPr/>
          <p:nvPr/>
        </p:nvSpPr>
        <p:spPr>
          <a:xfrm>
            <a:off x="1930454" y="4286250"/>
            <a:ext cx="608625" cy="150019"/>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Analytics</a:t>
            </a:r>
            <a:endParaRPr lang="en-US" sz="800" dirty="0"/>
          </a:p>
        </p:txBody>
      </p:sp>
      <p:sp>
        <p:nvSpPr>
          <p:cNvPr id="78" name="Text 75"/>
          <p:cNvSpPr/>
          <p:nvPr/>
        </p:nvSpPr>
        <p:spPr>
          <a:xfrm>
            <a:off x="2543287" y="4277249"/>
            <a:ext cx="702208" cy="168021"/>
          </a:xfrm>
          <a:prstGeom prst="roundRect">
            <a:avLst>
              <a:gd name="adj" fmla="val 22676"/>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9" name="Text 76"/>
          <p:cNvSpPr/>
          <p:nvPr/>
        </p:nvSpPr>
        <p:spPr>
          <a:xfrm>
            <a:off x="2543287" y="4286250"/>
            <a:ext cx="702208" cy="150019"/>
          </a:xfrm>
          <a:prstGeom prst="rect">
            <a:avLst/>
          </a:prstGeom>
          <a:noFill/>
          <a:ln/>
        </p:spPr>
        <p:txBody>
          <a:bodyPr wrap="none" lIns="0" tIns="0" rIns="0" bIns="0" rtlCol="0" anchor="ctr"/>
          <a:lstStyle/>
          <a:p>
            <a:pPr algn="ctr" indent="0" marL="0">
              <a:lnSpc>
                <a:spcPts val="844"/>
              </a:lnSpc>
              <a:buNone/>
            </a:pPr>
            <a:r>
              <a:rPr lang="en-US" sz="800" dirty="0">
                <a:solidFill>
                  <a:srgbClr val="A1A1AA"/>
                </a:solidFill>
                <a:latin typeface="Courier New" pitchFamily="34" charset="0"/>
                <a:ea typeface="Courier New" pitchFamily="34" charset="-122"/>
                <a:cs typeface="Courier New" pitchFamily="34" charset="-120"/>
              </a:rPr>
              <a:t>Innovation Lab</a:t>
            </a:r>
            <a:endParaRPr lang="en-US" sz="800" dirty="0"/>
          </a:p>
        </p:txBody>
      </p:sp>
      <p:sp>
        <p:nvSpPr>
          <p:cNvPr id="80" name="Text 77"/>
          <p:cNvSpPr/>
          <p:nvPr/>
        </p:nvSpPr>
        <p:spPr>
          <a:xfrm>
            <a:off x="457200" y="4861322"/>
            <a:ext cx="42863" cy="42863"/>
          </a:xfrm>
          <a:prstGeom prst="roundRect">
            <a:avLst>
              <a:gd name="adj" fmla="val 22199741"/>
            </a:avLst>
          </a:prstGeom>
          <a:solidFill>
            <a:srgbClr val="6366F1"/>
          </a:solidFill>
          <a:ln/>
        </p:spPr>
        <p:txBody>
          <a:bodyPr wrap="square" rtlCol="0" anchor="ctr"/>
          <a:lstStyle/>
          <a:p>
            <a:pPr indent="0" marL="0">
              <a:buNone/>
            </a:pPr>
            <a:endParaRPr lang="en-US" dirty="0"/>
          </a:p>
        </p:txBody>
      </p:sp>
      <p:sp>
        <p:nvSpPr>
          <p:cNvPr id="81" name="Text 78"/>
          <p:cNvSpPr/>
          <p:nvPr/>
        </p:nvSpPr>
        <p:spPr>
          <a:xfrm>
            <a:off x="457200" y="4814888"/>
            <a:ext cx="786571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Carlito" pitchFamily="34" charset="0"/>
                <a:ea typeface="Carlito" pitchFamily="34" charset="-122"/>
                <a:cs typeface="Carlito" pitchFamily="34" charset="-120"/>
              </a:rPr>
              <a:t>FINWISE · TOPIC A</a:t>
            </a:r>
            <a:endParaRPr lang="en-US" sz="800" dirty="0"/>
          </a:p>
        </p:txBody>
      </p:sp>
      <p:sp>
        <p:nvSpPr>
          <p:cNvPr id="82" name="Text 79"/>
          <p:cNvSpPr/>
          <p:nvPr/>
        </p:nvSpPr>
        <p:spPr>
          <a:xfrm>
            <a:off x="8337203" y="4814888"/>
            <a:ext cx="499050"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Liberation Sans Narrow" pitchFamily="34" charset="0"/>
                <a:ea typeface="Liberation Sans Narrow" pitchFamily="34" charset="-122"/>
                <a:cs typeface="Liberation Sans Narrow" pitchFamily="34" charset="-120"/>
              </a:rPr>
              <a:t>05 /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45174"/>
            <a:ext cx="728551" cy="224028"/>
          </a:xfrm>
          <a:prstGeom prst="roundRect">
            <a:avLst>
              <a:gd name="adj" fmla="val 4247449"/>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3" name="Text 1"/>
          <p:cNvSpPr/>
          <p:nvPr/>
        </p:nvSpPr>
        <p:spPr>
          <a:xfrm>
            <a:off x="457200" y="257175"/>
            <a:ext cx="728551"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06 · AGENT</a:t>
            </a:r>
            <a:endParaRPr lang="en-US" sz="800" dirty="0"/>
          </a:p>
        </p:txBody>
      </p:sp>
      <p:sp>
        <p:nvSpPr>
          <p:cNvPr id="4" name="Text 2"/>
          <p:cNvSpPr/>
          <p:nvPr/>
        </p:nvSpPr>
        <p:spPr>
          <a:xfrm>
            <a:off x="1271476" y="292894"/>
            <a:ext cx="1998484"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Liberation Sans Narrow" pitchFamily="34" charset="0"/>
                <a:ea typeface="Liberation Sans Narrow" pitchFamily="34" charset="-122"/>
                <a:cs typeface="Liberation Sans Narrow" pitchFamily="34" charset="-120"/>
              </a:rPr>
              <a:t>NATURAL LANGUAGE → 11 TOOLS</a:t>
            </a:r>
            <a:endParaRPr lang="en-US" sz="800" dirty="0"/>
          </a:p>
        </p:txBody>
      </p:sp>
      <p:sp>
        <p:nvSpPr>
          <p:cNvPr id="5" name="Text 3"/>
          <p:cNvSpPr/>
          <p:nvPr/>
        </p:nvSpPr>
        <p:spPr>
          <a:xfrm>
            <a:off x="6276231" y="292894"/>
            <a:ext cx="2788573"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FINWISE · PERSONAL FINANCE INTELLIGENCE</a:t>
            </a:r>
            <a:endParaRPr lang="en-US" sz="800" dirty="0"/>
          </a:p>
        </p:txBody>
      </p:sp>
      <p:sp>
        <p:nvSpPr>
          <p:cNvPr id="6" name="Text 4"/>
          <p:cNvSpPr/>
          <p:nvPr/>
        </p:nvSpPr>
        <p:spPr>
          <a:xfrm>
            <a:off x="457200" y="528638"/>
            <a:ext cx="8636000" cy="129731"/>
          </a:xfrm>
          <a:prstGeom prst="rect">
            <a:avLst/>
          </a:prstGeom>
          <a:noFill/>
          <a:ln/>
        </p:spPr>
        <p:txBody>
          <a:bodyPr wrap="none" lIns="0" tIns="0" rIns="0" bIns="0" rtlCol="0" anchor="t">
            <a:normAutofit/>
          </a:bodyPr>
          <a:lstStyle/>
          <a:p>
            <a:pPr algn="l" indent="0" marL="0">
              <a:lnSpc>
                <a:spcPts val="1013"/>
              </a:lnSpc>
              <a:buNone/>
            </a:pPr>
            <a:r>
              <a:rPr lang="en-US" sz="800" spc="122" kern="0" dirty="0">
                <a:solidFill>
                  <a:srgbClr val="818CF8"/>
                </a:solidFill>
                <a:latin typeface="Courier New" pitchFamily="34" charset="0"/>
                <a:ea typeface="Courier New" pitchFamily="34" charset="-122"/>
                <a:cs typeface="Courier New" pitchFamily="34" charset="-120"/>
              </a:rPr>
              <a:t>AGENT CAPABILITIES</a:t>
            </a:r>
            <a:endParaRPr lang="en-US" sz="800" dirty="0"/>
          </a:p>
        </p:txBody>
      </p:sp>
      <p:sp>
        <p:nvSpPr>
          <p:cNvPr id="7" name="Text 5"/>
          <p:cNvSpPr/>
          <p:nvPr/>
        </p:nvSpPr>
        <p:spPr>
          <a:xfrm>
            <a:off x="457200" y="685800"/>
            <a:ext cx="8636000" cy="307766"/>
          </a:xfrm>
          <a:prstGeom prst="rect">
            <a:avLst/>
          </a:prstGeom>
          <a:noFill/>
          <a:ln/>
        </p:spPr>
        <p:txBody>
          <a:bodyPr wrap="none" lIns="0" tIns="0" rIns="0" bIns="0" rtlCol="0" anchor="t"/>
          <a:lstStyle/>
          <a:p>
            <a:pPr algn="l" indent="0" marL="0">
              <a:lnSpc>
                <a:spcPts val="2244"/>
              </a:lnSpc>
              <a:buNone/>
            </a:pPr>
            <a:r>
              <a:rPr lang="en-US" sz="2138" b="1" spc="-53" kern="0" dirty="0">
                <a:solidFill>
                  <a:srgbClr val="FFFFFF"/>
                </a:solidFill>
                <a:latin typeface="Tinos" pitchFamily="34" charset="0"/>
                <a:ea typeface="Tinos" pitchFamily="34" charset="-122"/>
                <a:cs typeface="Tinos" pitchFamily="34" charset="-120"/>
              </a:rPr>
              <a:t>Say it. The agent </a:t>
            </a:r>
            <a:pPr algn="l" indent="0" marL="0">
              <a:lnSpc>
                <a:spcPts val="2244"/>
              </a:lnSpc>
              <a:buNone/>
            </a:pPr>
            <a:r>
              <a:rPr lang="en-US" sz="2138" b="1" i="1" spc="-53" kern="0" dirty="0">
                <a:solidFill>
                  <a:srgbClr val="34D399"/>
                </a:solidFill>
                <a:latin typeface="Tinos" pitchFamily="34" charset="0"/>
                <a:ea typeface="Tinos" pitchFamily="34" charset="-122"/>
                <a:cs typeface="Tinos" pitchFamily="34" charset="-120"/>
              </a:rPr>
              <a:t>does it.</a:t>
            </a:r>
            <a:endParaRPr lang="en-US" sz="2138" dirty="0"/>
          </a:p>
        </p:txBody>
      </p:sp>
      <p:pic>
        <p:nvPicPr>
          <p:cNvPr id="8" name="Image 0" descr="preencoded.png">    </p:cNvPr>
          <p:cNvPicPr>
            <a:picLocks noChangeAspect="1"/>
          </p:cNvPicPr>
          <p:nvPr/>
        </p:nvPicPr>
        <p:blipFill>
          <a:blip r:embed="rId1"/>
          <a:stretch>
            <a:fillRect/>
          </a:stretch>
        </p:blipFill>
        <p:spPr>
          <a:xfrm>
            <a:off x="457200" y="1214438"/>
            <a:ext cx="4740994" cy="3443288"/>
          </a:xfrm>
          <a:prstGeom prst="rect">
            <a:avLst/>
          </a:prstGeom>
        </p:spPr>
      </p:pic>
      <p:sp>
        <p:nvSpPr>
          <p:cNvPr id="9" name="Text 6"/>
          <p:cNvSpPr/>
          <p:nvPr/>
        </p:nvSpPr>
        <p:spPr>
          <a:xfrm>
            <a:off x="460772" y="1218009"/>
            <a:ext cx="4733851" cy="3436144"/>
          </a:xfrm>
          <a:prstGeom prst="roundRect">
            <a:avLst>
              <a:gd name="adj" fmla="val 4990"/>
            </a:avLst>
          </a:prstGeom>
          <a:noFill/>
          <a:ln w="7144">
            <a:solidFill>
              <a:srgbClr val="FFFFFF"/>
            </a:solidFill>
            <a:prstDash val="solid"/>
          </a:ln>
        </p:spPr>
        <p:txBody>
          <a:bodyPr wrap="square" rtlCol="0" anchor="ctr"/>
          <a:lstStyle/>
          <a:p>
            <a:pPr indent="0" marL="0">
              <a:buNone/>
            </a:pPr>
            <a:endParaRPr lang="en-US" dirty="0"/>
          </a:p>
        </p:txBody>
      </p:sp>
      <p:sp>
        <p:nvSpPr>
          <p:cNvPr id="10" name="Text 7"/>
          <p:cNvSpPr/>
          <p:nvPr/>
        </p:nvSpPr>
        <p:spPr>
          <a:xfrm>
            <a:off x="578644" y="1343025"/>
            <a:ext cx="114300" cy="114300"/>
          </a:xfrm>
          <a:prstGeom prst="rect">
            <a:avLst/>
          </a:prstGeom>
          <a:noFill/>
          <a:ln/>
        </p:spPr>
        <p:txBody>
          <a:bodyPr wrap="none" lIns="0" tIns="0" rIns="0" bIns="0" rtlCol="0" anchor="ctr"/>
          <a:lstStyle/>
          <a:p>
            <a:pPr algn="ctr" indent="0" marL="0">
              <a:buNone/>
            </a:pPr>
            <a:r>
              <a:rPr lang="en-US" sz="1125" dirty="0">
                <a:solidFill>
                  <a:srgbClr val="818CF8"/>
                </a:solidFill>
                <a:latin typeface="Segoe UI Symbol" pitchFamily="34" charset="0"/>
                <a:ea typeface="Segoe UI Symbol" pitchFamily="34" charset="-122"/>
                <a:cs typeface="Segoe UI Symbol" pitchFamily="34" charset="-120"/>
              </a:rPr>
              <a:t>◌</a:t>
            </a:r>
            <a:endParaRPr lang="en-US" sz="1125" dirty="0"/>
          </a:p>
        </p:txBody>
      </p:sp>
      <p:sp>
        <p:nvSpPr>
          <p:cNvPr id="11" name="Text 8"/>
          <p:cNvSpPr/>
          <p:nvPr/>
        </p:nvSpPr>
        <p:spPr>
          <a:xfrm>
            <a:off x="750094" y="1335881"/>
            <a:ext cx="1189676" cy="164592"/>
          </a:xfrm>
          <a:prstGeom prst="rect">
            <a:avLst/>
          </a:prstGeom>
          <a:noFill/>
          <a:ln/>
        </p:spPr>
        <p:txBody>
          <a:bodyPr wrap="none" lIns="0" tIns="0" rIns="0" bIns="0" rtlCol="0" anchor="t"/>
          <a:lstStyle/>
          <a:p>
            <a:pPr algn="l" indent="0" marL="0">
              <a:lnSpc>
                <a:spcPts val="1013"/>
              </a:lnSpc>
              <a:buNone/>
            </a:pPr>
            <a:r>
              <a:rPr lang="en-US" sz="675" dirty="0">
                <a:solidFill>
                  <a:srgbClr val="F5F5F7"/>
                </a:solidFill>
                <a:latin typeface="Carlito" pitchFamily="34" charset="0"/>
                <a:ea typeface="Carlito" pitchFamily="34" charset="-122"/>
                <a:cs typeface="Carlito" pitchFamily="34" charset="-120"/>
              </a:rPr>
              <a:t>Live agent transcript</a:t>
            </a:r>
            <a:endParaRPr lang="en-US" sz="675" dirty="0"/>
          </a:p>
        </p:txBody>
      </p:sp>
      <p:sp>
        <p:nvSpPr>
          <p:cNvPr id="12" name="Text 9"/>
          <p:cNvSpPr/>
          <p:nvPr/>
        </p:nvSpPr>
        <p:spPr>
          <a:xfrm>
            <a:off x="3872471" y="1346597"/>
            <a:ext cx="1276537" cy="164592"/>
          </a:xfrm>
          <a:prstGeom prst="rect">
            <a:avLst/>
          </a:prstGeom>
          <a:noFill/>
          <a:ln/>
        </p:spPr>
        <p:txBody>
          <a:bodyPr wrap="square" lIns="0" tIns="0" rIns="0" bIns="0" rtlCol="0" anchor="t"/>
          <a:lstStyle/>
          <a:p>
            <a:pPr algn="l" indent="0" marL="0">
              <a:lnSpc>
                <a:spcPts val="844"/>
              </a:lnSpc>
              <a:buNone/>
            </a:pPr>
            <a:r>
              <a:rPr lang="en-US" sz="600" dirty="0">
                <a:solidFill>
                  <a:srgbClr val="71717A"/>
                </a:solidFill>
                <a:latin typeface="Courier New" pitchFamily="34" charset="0"/>
                <a:ea typeface="Courier New" pitchFamily="34" charset="-122"/>
                <a:cs typeface="Courier New" pitchFamily="34" charset="-120"/>
              </a:rPr>
              <a:t>supervisor → worker · ledger</a:t>
            </a:r>
            <a:endParaRPr lang="en-US" sz="600" dirty="0"/>
          </a:p>
        </p:txBody>
      </p:sp>
      <p:sp>
        <p:nvSpPr>
          <p:cNvPr id="13" name="Text 10"/>
          <p:cNvSpPr/>
          <p:nvPr/>
        </p:nvSpPr>
        <p:spPr>
          <a:xfrm>
            <a:off x="3047702" y="1525191"/>
            <a:ext cx="2025476" cy="251371"/>
          </a:xfrm>
          <a:prstGeom prst="roundRect">
            <a:avLst>
              <a:gd name="adj" fmla="val 45471"/>
            </a:avLst>
          </a:prstGeom>
          <a:solidFill>
            <a:srgbClr val="6366F1">
              <a:alpha val="18000"/>
            </a:srgbClr>
          </a:solidFill>
          <a:ln w="7144">
            <a:solidFill>
              <a:srgbClr val="6366F1"/>
            </a:solidFill>
            <a:prstDash val="solid"/>
          </a:ln>
        </p:spPr>
        <p:txBody>
          <a:bodyPr wrap="square" rtlCol="0" anchor="ctr"/>
          <a:lstStyle/>
          <a:p>
            <a:pPr indent="0" marL="0">
              <a:buNone/>
            </a:pPr>
            <a:endParaRPr lang="en-US" dirty="0"/>
          </a:p>
        </p:txBody>
      </p:sp>
      <p:sp>
        <p:nvSpPr>
          <p:cNvPr id="14" name="Text 11"/>
          <p:cNvSpPr/>
          <p:nvPr/>
        </p:nvSpPr>
        <p:spPr>
          <a:xfrm>
            <a:off x="3044130" y="1521619"/>
            <a:ext cx="2032620" cy="273945"/>
          </a:xfrm>
          <a:prstGeom prst="rect">
            <a:avLst/>
          </a:prstGeom>
          <a:noFill/>
          <a:ln/>
        </p:spPr>
        <p:txBody>
          <a:bodyPr wrap="square" lIns="85725" tIns="57150" rIns="85725" bIns="57150" rtlCol="0" anchor="t">
            <a:normAutofit/>
          </a:bodyPr>
          <a:lstStyle/>
          <a:p>
            <a:pPr algn="l" indent="0" marL="0">
              <a:lnSpc>
                <a:spcPts val="1024"/>
              </a:lnSpc>
              <a:buNone/>
            </a:pPr>
            <a:r>
              <a:rPr lang="en-US" sz="800" dirty="0">
                <a:solidFill>
                  <a:srgbClr val="F5F5F7"/>
                </a:solidFill>
                <a:latin typeface="Carlito" pitchFamily="34" charset="0"/>
                <a:ea typeface="Carlito" pitchFamily="34" charset="-122"/>
                <a:cs typeface="Carlito" pitchFamily="34" charset="-120"/>
              </a:rPr>
              <a:t>I spent $42 on groceries at Trader Joe's.</a:t>
            </a:r>
            <a:endParaRPr lang="en-US" sz="800" dirty="0"/>
          </a:p>
        </p:txBody>
      </p:sp>
      <p:sp>
        <p:nvSpPr>
          <p:cNvPr id="15" name="Text 12"/>
          <p:cNvSpPr/>
          <p:nvPr/>
        </p:nvSpPr>
        <p:spPr>
          <a:xfrm>
            <a:off x="582216" y="1826568"/>
            <a:ext cx="4041130" cy="495598"/>
          </a:xfrm>
          <a:prstGeom prst="roundRect">
            <a:avLst>
              <a:gd name="adj" fmla="val 23063"/>
            </a:avLst>
          </a:prstGeom>
          <a:solidFill>
            <a:srgbClr val="1A1A22"/>
          </a:solidFill>
          <a:ln w="7144">
            <a:solidFill>
              <a:srgbClr val="FFFFFF"/>
            </a:solidFill>
            <a:prstDash val="solid"/>
          </a:ln>
        </p:spPr>
        <p:txBody>
          <a:bodyPr wrap="square" rtlCol="0" anchor="ctr"/>
          <a:lstStyle/>
          <a:p>
            <a:pPr indent="0" marL="0">
              <a:buNone/>
            </a:pPr>
            <a:endParaRPr lang="en-US" dirty="0"/>
          </a:p>
        </p:txBody>
      </p:sp>
      <p:sp>
        <p:nvSpPr>
          <p:cNvPr id="16" name="Text 13"/>
          <p:cNvSpPr/>
          <p:nvPr/>
        </p:nvSpPr>
        <p:spPr>
          <a:xfrm>
            <a:off x="671513" y="1887289"/>
            <a:ext cx="3972264" cy="153619"/>
          </a:xfrm>
          <a:prstGeom prst="rect">
            <a:avLst/>
          </a:prstGeom>
          <a:noFill/>
          <a:ln/>
        </p:spPr>
        <p:txBody>
          <a:bodyPr wrap="square" lIns="0" tIns="0" rIns="0" bIns="0" rtlCol="0" anchor="t"/>
          <a:lstStyle/>
          <a:p>
            <a:pPr algn="l" indent="0" marL="0">
              <a:lnSpc>
                <a:spcPts val="788"/>
              </a:lnSpc>
              <a:buNone/>
            </a:pPr>
            <a:r>
              <a:rPr lang="en-US" sz="800" spc="34" kern="0" dirty="0">
                <a:solidFill>
                  <a:srgbClr val="34D399"/>
                </a:solidFill>
                <a:latin typeface="Courier New" pitchFamily="34" charset="0"/>
                <a:ea typeface="Courier New" pitchFamily="34" charset="-122"/>
                <a:cs typeface="Courier New" pitchFamily="34" charset="-120"/>
              </a:rPr>
              <a:t>tool_call · add_transaction · write</a:t>
            </a:r>
            <a:endParaRPr lang="en-US" sz="800" dirty="0"/>
          </a:p>
        </p:txBody>
      </p:sp>
      <p:sp>
        <p:nvSpPr>
          <p:cNvPr id="17" name="Text 14"/>
          <p:cNvSpPr/>
          <p:nvPr/>
        </p:nvSpPr>
        <p:spPr>
          <a:xfrm>
            <a:off x="2150827" y="2372171"/>
            <a:ext cx="2922352" cy="251371"/>
          </a:xfrm>
          <a:prstGeom prst="roundRect">
            <a:avLst>
              <a:gd name="adj" fmla="val 45471"/>
            </a:avLst>
          </a:prstGeom>
          <a:solidFill>
            <a:srgbClr val="6366F1">
              <a:alpha val="18000"/>
            </a:srgbClr>
          </a:solidFill>
          <a:ln w="7144">
            <a:solidFill>
              <a:srgbClr val="6366F1"/>
            </a:solidFill>
            <a:prstDash val="solid"/>
          </a:ln>
        </p:spPr>
        <p:txBody>
          <a:bodyPr wrap="square" rtlCol="0" anchor="ctr"/>
          <a:lstStyle/>
          <a:p>
            <a:pPr indent="0" marL="0">
              <a:buNone/>
            </a:pPr>
            <a:endParaRPr lang="en-US" dirty="0"/>
          </a:p>
        </p:txBody>
      </p:sp>
      <p:sp>
        <p:nvSpPr>
          <p:cNvPr id="18" name="Text 15"/>
          <p:cNvSpPr/>
          <p:nvPr/>
        </p:nvSpPr>
        <p:spPr>
          <a:xfrm>
            <a:off x="2147255" y="2368600"/>
            <a:ext cx="2929496" cy="273945"/>
          </a:xfrm>
          <a:prstGeom prst="rect">
            <a:avLst/>
          </a:prstGeom>
          <a:noFill/>
          <a:ln/>
        </p:spPr>
        <p:txBody>
          <a:bodyPr wrap="square" lIns="85725" tIns="57150" rIns="85725" bIns="57150" rtlCol="0" anchor="t">
            <a:normAutofit/>
          </a:bodyPr>
          <a:lstStyle/>
          <a:p>
            <a:pPr algn="l" indent="0" marL="0">
              <a:lnSpc>
                <a:spcPts val="1024"/>
              </a:lnSpc>
              <a:buNone/>
            </a:pPr>
            <a:r>
              <a:rPr lang="en-US" sz="800" dirty="0">
                <a:solidFill>
                  <a:srgbClr val="F5F5F7"/>
                </a:solidFill>
                <a:latin typeface="Carlito" pitchFamily="34" charset="0"/>
                <a:ea typeface="Carlito" pitchFamily="34" charset="-122"/>
                <a:cs typeface="Carlito" pitchFamily="34" charset="-120"/>
              </a:rPr>
              <a:t>Create a goal to save $3,000 for a Japan trip by December.</a:t>
            </a:r>
            <a:endParaRPr lang="en-US" sz="800" dirty="0"/>
          </a:p>
        </p:txBody>
      </p:sp>
      <p:sp>
        <p:nvSpPr>
          <p:cNvPr id="19" name="Text 16"/>
          <p:cNvSpPr/>
          <p:nvPr/>
        </p:nvSpPr>
        <p:spPr>
          <a:xfrm>
            <a:off x="582216" y="2673548"/>
            <a:ext cx="3953173" cy="365671"/>
          </a:xfrm>
          <a:prstGeom prst="roundRect">
            <a:avLst>
              <a:gd name="adj" fmla="val 31258"/>
            </a:avLst>
          </a:prstGeom>
          <a:solidFill>
            <a:srgbClr val="1A1A22"/>
          </a:solidFill>
          <a:ln w="7144">
            <a:solidFill>
              <a:srgbClr val="FFFFFF"/>
            </a:solidFill>
            <a:prstDash val="solid"/>
          </a:ln>
        </p:spPr>
        <p:txBody>
          <a:bodyPr wrap="square" rtlCol="0" anchor="ctr"/>
          <a:lstStyle/>
          <a:p>
            <a:pPr indent="0" marL="0">
              <a:buNone/>
            </a:pPr>
            <a:endParaRPr lang="en-US" dirty="0"/>
          </a:p>
        </p:txBody>
      </p:sp>
      <p:sp>
        <p:nvSpPr>
          <p:cNvPr id="20" name="Text 17"/>
          <p:cNvSpPr/>
          <p:nvPr/>
        </p:nvSpPr>
        <p:spPr>
          <a:xfrm>
            <a:off x="671513" y="2734270"/>
            <a:ext cx="3884307" cy="94012"/>
          </a:xfrm>
          <a:prstGeom prst="rect">
            <a:avLst/>
          </a:prstGeom>
          <a:noFill/>
          <a:ln/>
        </p:spPr>
        <p:txBody>
          <a:bodyPr wrap="square" lIns="0" tIns="0" rIns="0" bIns="0" rtlCol="0" anchor="t">
            <a:normAutofit/>
          </a:bodyPr>
          <a:lstStyle/>
          <a:p>
            <a:pPr algn="l" indent="0" marL="0">
              <a:lnSpc>
                <a:spcPts val="788"/>
              </a:lnSpc>
              <a:buNone/>
            </a:pPr>
            <a:r>
              <a:rPr lang="en-US" sz="800" spc="34" kern="0" dirty="0">
                <a:solidFill>
                  <a:srgbClr val="34D399"/>
                </a:solidFill>
                <a:latin typeface="Courier New" pitchFamily="34" charset="0"/>
                <a:ea typeface="Courier New" pitchFamily="34" charset="-122"/>
                <a:cs typeface="Courier New" pitchFamily="34" charset="-120"/>
              </a:rPr>
              <a:t>tool_call · create_goal · write</a:t>
            </a:r>
            <a:endParaRPr lang="en-US" sz="800" dirty="0"/>
          </a:p>
        </p:txBody>
      </p:sp>
      <p:sp>
        <p:nvSpPr>
          <p:cNvPr id="21" name="Text 18"/>
          <p:cNvSpPr/>
          <p:nvPr/>
        </p:nvSpPr>
        <p:spPr>
          <a:xfrm>
            <a:off x="3453445" y="2855714"/>
            <a:ext cx="413623" cy="122783"/>
          </a:xfrm>
          <a:prstGeom prst="rect">
            <a:avLst/>
          </a:prstGeom>
          <a:noFill/>
          <a:ln/>
        </p:spPr>
        <p:txBody>
          <a:bodyPr wrap="none" lIns="0" tIns="0" rIns="0" bIns="0" rtlCol="0" anchor="t"/>
          <a:lstStyle/>
          <a:p>
            <a:pPr algn="l" indent="0" marL="0">
              <a:lnSpc>
                <a:spcPts val="1024"/>
              </a:lnSpc>
              <a:buNone/>
            </a:pPr>
            <a:r>
              <a:rPr lang="en-US" sz="800" dirty="0">
                <a:solidFill>
                  <a:srgbClr val="34D399"/>
                </a:solidFill>
                <a:latin typeface="Liberation Sans Narrow" pitchFamily="34" charset="0"/>
                <a:ea typeface="Liberation Sans Narrow" pitchFamily="34" charset="-122"/>
                <a:cs typeface="Liberation Sans Narrow" pitchFamily="34" charset="-120"/>
              </a:rPr>
              <a:t>$428</a:t>
            </a:r>
            <a:endParaRPr lang="en-US" sz="800" dirty="0"/>
          </a:p>
        </p:txBody>
      </p:sp>
      <p:sp>
        <p:nvSpPr>
          <p:cNvPr id="22" name="Text 19"/>
          <p:cNvSpPr/>
          <p:nvPr/>
        </p:nvSpPr>
        <p:spPr>
          <a:xfrm>
            <a:off x="3375199" y="3089225"/>
            <a:ext cx="1697980" cy="251371"/>
          </a:xfrm>
          <a:prstGeom prst="roundRect">
            <a:avLst>
              <a:gd name="adj" fmla="val 45471"/>
            </a:avLst>
          </a:prstGeom>
          <a:solidFill>
            <a:srgbClr val="6366F1">
              <a:alpha val="18000"/>
            </a:srgbClr>
          </a:solidFill>
          <a:ln w="7144">
            <a:solidFill>
              <a:srgbClr val="6366F1"/>
            </a:solidFill>
            <a:prstDash val="solid"/>
          </a:ln>
        </p:spPr>
        <p:txBody>
          <a:bodyPr wrap="square" rtlCol="0" anchor="ctr"/>
          <a:lstStyle/>
          <a:p>
            <a:pPr indent="0" marL="0">
              <a:buNone/>
            </a:pPr>
            <a:endParaRPr lang="en-US" dirty="0"/>
          </a:p>
        </p:txBody>
      </p:sp>
      <p:sp>
        <p:nvSpPr>
          <p:cNvPr id="23" name="Text 20"/>
          <p:cNvSpPr/>
          <p:nvPr/>
        </p:nvSpPr>
        <p:spPr>
          <a:xfrm>
            <a:off x="3371627" y="3085654"/>
            <a:ext cx="1705124" cy="273945"/>
          </a:xfrm>
          <a:prstGeom prst="rect">
            <a:avLst/>
          </a:prstGeom>
          <a:noFill/>
          <a:ln/>
        </p:spPr>
        <p:txBody>
          <a:bodyPr wrap="square" lIns="85725" tIns="57150" rIns="85725" bIns="57150" rtlCol="0" anchor="t">
            <a:normAutofit/>
          </a:bodyPr>
          <a:lstStyle/>
          <a:p>
            <a:pPr algn="l" indent="0" marL="0">
              <a:lnSpc>
                <a:spcPts val="1024"/>
              </a:lnSpc>
              <a:buNone/>
            </a:pPr>
            <a:r>
              <a:rPr lang="en-US" sz="800" dirty="0">
                <a:solidFill>
                  <a:srgbClr val="F5F5F7"/>
                </a:solidFill>
                <a:latin typeface="Liberation Sans Narrow" pitchFamily="34" charset="0"/>
                <a:ea typeface="Liberation Sans Narrow" pitchFamily="34" charset="-122"/>
                <a:cs typeface="Liberation Sans Narrow" pitchFamily="34" charset="-120"/>
              </a:rPr>
              <a:t>Raise my dining budget to $350.</a:t>
            </a:r>
            <a:endParaRPr lang="en-US" sz="800" dirty="0"/>
          </a:p>
        </p:txBody>
      </p:sp>
      <p:sp>
        <p:nvSpPr>
          <p:cNvPr id="24" name="Text 21"/>
          <p:cNvSpPr/>
          <p:nvPr/>
        </p:nvSpPr>
        <p:spPr>
          <a:xfrm>
            <a:off x="582216" y="3390602"/>
            <a:ext cx="4041130" cy="495598"/>
          </a:xfrm>
          <a:prstGeom prst="roundRect">
            <a:avLst>
              <a:gd name="adj" fmla="val 23063"/>
            </a:avLst>
          </a:prstGeom>
          <a:solidFill>
            <a:srgbClr val="1A1A22"/>
          </a:solidFill>
          <a:ln w="7144">
            <a:solidFill>
              <a:srgbClr val="FFFFFF"/>
            </a:solidFill>
            <a:prstDash val="solid"/>
          </a:ln>
        </p:spPr>
        <p:txBody>
          <a:bodyPr wrap="square" rtlCol="0" anchor="ctr"/>
          <a:lstStyle/>
          <a:p>
            <a:pPr indent="0" marL="0">
              <a:buNone/>
            </a:pPr>
            <a:endParaRPr lang="en-US" dirty="0"/>
          </a:p>
        </p:txBody>
      </p:sp>
      <p:sp>
        <p:nvSpPr>
          <p:cNvPr id="25" name="Text 22"/>
          <p:cNvSpPr/>
          <p:nvPr/>
        </p:nvSpPr>
        <p:spPr>
          <a:xfrm>
            <a:off x="671513" y="3451324"/>
            <a:ext cx="3972264" cy="153619"/>
          </a:xfrm>
          <a:prstGeom prst="rect">
            <a:avLst/>
          </a:prstGeom>
          <a:noFill/>
          <a:ln/>
        </p:spPr>
        <p:txBody>
          <a:bodyPr wrap="square" lIns="0" tIns="0" rIns="0" bIns="0" rtlCol="0" anchor="t"/>
          <a:lstStyle/>
          <a:p>
            <a:pPr algn="l" indent="0" marL="0">
              <a:lnSpc>
                <a:spcPts val="788"/>
              </a:lnSpc>
              <a:buNone/>
            </a:pPr>
            <a:r>
              <a:rPr lang="en-US" sz="800" spc="34" kern="0" dirty="0">
                <a:solidFill>
                  <a:srgbClr val="34D399"/>
                </a:solidFill>
                <a:latin typeface="Courier New" pitchFamily="34" charset="0"/>
                <a:ea typeface="Courier New" pitchFamily="34" charset="-122"/>
                <a:cs typeface="Courier New" pitchFamily="34" charset="-120"/>
              </a:rPr>
              <a:t>tool_call · update_budget · write</a:t>
            </a:r>
            <a:endParaRPr lang="en-US" sz="800" dirty="0"/>
          </a:p>
        </p:txBody>
      </p:sp>
      <p:sp>
        <p:nvSpPr>
          <p:cNvPr id="26" name="Text 23"/>
          <p:cNvSpPr/>
          <p:nvPr/>
        </p:nvSpPr>
        <p:spPr>
          <a:xfrm>
            <a:off x="582216" y="4307681"/>
            <a:ext cx="4490963" cy="225028"/>
          </a:xfrm>
          <a:prstGeom prst="roundRect">
            <a:avLst>
              <a:gd name="adj" fmla="val 33862"/>
            </a:avLst>
          </a:prstGeom>
          <a:solidFill>
            <a:srgbClr val="10B981">
              <a:alpha val="10000"/>
            </a:srgbClr>
          </a:solidFill>
          <a:ln w="7144">
            <a:solidFill>
              <a:srgbClr val="10B981"/>
            </a:solidFill>
            <a:prstDash val="solid"/>
          </a:ln>
        </p:spPr>
        <p:txBody>
          <a:bodyPr wrap="square" rtlCol="0" anchor="ctr"/>
          <a:lstStyle/>
          <a:p>
            <a:pPr indent="0" marL="0">
              <a:buNone/>
            </a:pPr>
            <a:endParaRPr lang="en-US" dirty="0"/>
          </a:p>
        </p:txBody>
      </p:sp>
      <p:sp>
        <p:nvSpPr>
          <p:cNvPr id="27" name="Text 24"/>
          <p:cNvSpPr/>
          <p:nvPr/>
        </p:nvSpPr>
        <p:spPr>
          <a:xfrm>
            <a:off x="657225" y="4363045"/>
            <a:ext cx="114300" cy="114300"/>
          </a:xfrm>
          <a:prstGeom prst="rect">
            <a:avLst/>
          </a:prstGeom>
          <a:noFill/>
          <a:ln/>
        </p:spPr>
        <p:txBody>
          <a:bodyPr wrap="none" lIns="0" tIns="0" rIns="0" bIns="0" rtlCol="0" anchor="ctr"/>
          <a:lstStyle/>
          <a:p>
            <a:pPr algn="ctr" indent="0" marL="0">
              <a:buNone/>
            </a:pPr>
            <a:r>
              <a:rPr lang="en-US" sz="1125" dirty="0">
                <a:solidFill>
                  <a:srgbClr val="34D399"/>
                </a:solidFill>
                <a:latin typeface="Segoe UI Symbol" pitchFamily="34" charset="0"/>
                <a:ea typeface="Segoe UI Symbol" pitchFamily="34" charset="-122"/>
                <a:cs typeface="Segoe UI Symbol" pitchFamily="34" charset="-120"/>
              </a:rPr>
              <a:t>✓</a:t>
            </a:r>
            <a:endParaRPr lang="en-US" sz="1125" dirty="0"/>
          </a:p>
        </p:txBody>
      </p:sp>
      <p:sp>
        <p:nvSpPr>
          <p:cNvPr id="28" name="Text 25"/>
          <p:cNvSpPr/>
          <p:nvPr/>
        </p:nvSpPr>
        <p:spPr>
          <a:xfrm>
            <a:off x="828675" y="4361259"/>
            <a:ext cx="4169494" cy="117872"/>
          </a:xfrm>
          <a:prstGeom prst="rect">
            <a:avLst/>
          </a:prstGeom>
          <a:noFill/>
          <a:ln/>
        </p:spPr>
        <p:txBody>
          <a:bodyPr wrap="square" lIns="0" tIns="0" rIns="0" bIns="0" rtlCol="0" anchor="t"/>
          <a:lstStyle/>
          <a:p>
            <a:pPr algn="l" indent="0" marL="0">
              <a:lnSpc>
                <a:spcPts val="928"/>
              </a:lnSpc>
              <a:buNone/>
            </a:pPr>
            <a:r>
              <a:rPr lang="en-US" sz="800" dirty="0">
                <a:solidFill>
                  <a:srgbClr val="A1A1AA"/>
                </a:solidFill>
                <a:latin typeface="Carlito" pitchFamily="34" charset="0"/>
                <a:ea typeface="Carlito" pitchFamily="34" charset="-122"/>
                <a:cs typeface="Carlito" pitchFamily="34" charset="-120"/>
              </a:rPr>
              <a:t>All write tools audited · reversible · permission-gated</a:t>
            </a:r>
            <a:endParaRPr lang="en-US" sz="800" dirty="0"/>
          </a:p>
        </p:txBody>
      </p:sp>
      <p:sp>
        <p:nvSpPr>
          <p:cNvPr id="29" name="Text 26"/>
          <p:cNvSpPr/>
          <p:nvPr/>
        </p:nvSpPr>
        <p:spPr>
          <a:xfrm>
            <a:off x="5344641" y="1218009"/>
            <a:ext cx="3338475" cy="457200"/>
          </a:xfrm>
          <a:prstGeom prst="roundRect">
            <a:avLst>
              <a:gd name="adj" fmla="val 33333"/>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30" name="Text 27"/>
          <p:cNvSpPr/>
          <p:nvPr/>
        </p:nvSpPr>
        <p:spPr>
          <a:xfrm>
            <a:off x="5433938" y="1307306"/>
            <a:ext cx="977196" cy="91440"/>
          </a:xfrm>
          <a:prstGeom prst="rect">
            <a:avLst/>
          </a:prstGeom>
          <a:noFill/>
          <a:ln/>
        </p:spPr>
        <p:txBody>
          <a:bodyPr wrap="none" lIns="0" tIns="0" rIns="0" bIns="0" rtlCol="0" anchor="t">
            <a:normAutofit/>
          </a:bodyPr>
          <a:lstStyle/>
          <a:p>
            <a:pPr algn="l" indent="0" marL="0">
              <a:lnSpc>
                <a:spcPts val="844"/>
              </a:lnSpc>
              <a:buNone/>
            </a:pPr>
            <a:r>
              <a:rPr lang="en-US" sz="800" spc="79" kern="0" dirty="0">
                <a:solidFill>
                  <a:srgbClr val="71717A"/>
                </a:solidFill>
                <a:latin typeface="Carlito" pitchFamily="34" charset="0"/>
                <a:ea typeface="Carlito" pitchFamily="34" charset="-122"/>
                <a:cs typeface="Carlito" pitchFamily="34" charset="-120"/>
              </a:rPr>
              <a:t>TOOL INVENTORY</a:t>
            </a:r>
            <a:endParaRPr lang="en-US" sz="800" dirty="0"/>
          </a:p>
        </p:txBody>
      </p:sp>
      <p:sp>
        <p:nvSpPr>
          <p:cNvPr id="31" name="Text 28"/>
          <p:cNvSpPr/>
          <p:nvPr/>
        </p:nvSpPr>
        <p:spPr>
          <a:xfrm>
            <a:off x="5433938" y="1414463"/>
            <a:ext cx="901480" cy="171450"/>
          </a:xfrm>
          <a:prstGeom prst="rect">
            <a:avLst/>
          </a:prstGeom>
          <a:noFill/>
          <a:ln/>
        </p:spPr>
        <p:txBody>
          <a:bodyPr wrap="square" lIns="0" tIns="0" rIns="0" bIns="0" rtlCol="0" anchor="t"/>
          <a:lstStyle/>
          <a:p>
            <a:pPr algn="l" indent="0" marL="0">
              <a:lnSpc>
                <a:spcPts val="1350"/>
              </a:lnSpc>
              <a:buNone/>
            </a:pPr>
            <a:r>
              <a:rPr lang="en-US" sz="900" b="1" dirty="0">
                <a:solidFill>
                  <a:srgbClr val="F5F5F7"/>
                </a:solidFill>
                <a:latin typeface="Liberation Sans Narrow" pitchFamily="34" charset="0"/>
                <a:ea typeface="Liberation Sans Narrow" pitchFamily="34" charset="-122"/>
                <a:cs typeface="Liberation Sans Narrow" pitchFamily="34" charset="-120"/>
              </a:rPr>
              <a:t>11 verified tools</a:t>
            </a:r>
            <a:endParaRPr lang="en-US" sz="900" dirty="0"/>
          </a:p>
        </p:txBody>
      </p:sp>
      <p:sp>
        <p:nvSpPr>
          <p:cNvPr id="32" name="Text 29"/>
          <p:cNvSpPr/>
          <p:nvPr/>
        </p:nvSpPr>
        <p:spPr>
          <a:xfrm>
            <a:off x="7053694" y="1312664"/>
            <a:ext cx="327362" cy="144018"/>
          </a:xfrm>
          <a:prstGeom prst="rect">
            <a:avLst/>
          </a:prstGeom>
          <a:noFill/>
          <a:ln/>
        </p:spPr>
        <p:txBody>
          <a:bodyPr wrap="none" lIns="0" tIns="0" rIns="0" bIns="0" rtlCol="0" anchor="t">
            <a:normAutofit/>
          </a:bodyPr>
          <a:lstStyle/>
          <a:p>
            <a:pPr algn="r" indent="0" marL="0">
              <a:lnSpc>
                <a:spcPts val="1350"/>
              </a:lnSpc>
              <a:buNone/>
            </a:pPr>
            <a:r>
              <a:rPr lang="en-US" sz="1350" b="1" dirty="0">
                <a:solidFill>
                  <a:srgbClr val="818CF8"/>
                </a:solidFill>
                <a:latin typeface="Liberation Sans Narrow" pitchFamily="34" charset="0"/>
                <a:ea typeface="Liberation Sans Narrow" pitchFamily="34" charset="-122"/>
                <a:cs typeface="Liberation Sans Narrow" pitchFamily="34" charset="-120"/>
              </a:rPr>
              <a:t>7</a:t>
            </a:r>
            <a:endParaRPr lang="en-US" sz="1350" dirty="0"/>
          </a:p>
        </p:txBody>
      </p:sp>
      <p:sp>
        <p:nvSpPr>
          <p:cNvPr id="33" name="Text 30"/>
          <p:cNvSpPr/>
          <p:nvPr/>
        </p:nvSpPr>
        <p:spPr>
          <a:xfrm>
            <a:off x="7050934" y="1484114"/>
            <a:ext cx="332882" cy="101798"/>
          </a:xfrm>
          <a:prstGeom prst="rect">
            <a:avLst/>
          </a:prstGeom>
          <a:noFill/>
          <a:ln/>
        </p:spPr>
        <p:txBody>
          <a:bodyPr wrap="square" lIns="0" tIns="0" rIns="0" bIns="0" rtlCol="0" anchor="t"/>
          <a:lstStyle/>
          <a:p>
            <a:pPr algn="r" indent="0" marL="0">
              <a:lnSpc>
                <a:spcPts val="759"/>
              </a:lnSpc>
              <a:buNone/>
            </a:pPr>
            <a:r>
              <a:rPr lang="en-US" sz="800" spc="51" kern="0" dirty="0">
                <a:solidFill>
                  <a:srgbClr val="71717A"/>
                </a:solidFill>
                <a:latin typeface="Carlito" pitchFamily="34" charset="0"/>
                <a:ea typeface="Carlito" pitchFamily="34" charset="-122"/>
                <a:cs typeface="Carlito" pitchFamily="34" charset="-120"/>
              </a:rPr>
              <a:t>READ</a:t>
            </a:r>
            <a:endParaRPr lang="en-US" sz="800" dirty="0"/>
          </a:p>
        </p:txBody>
      </p:sp>
      <p:sp>
        <p:nvSpPr>
          <p:cNvPr id="34" name="Text 31"/>
          <p:cNvSpPr/>
          <p:nvPr/>
        </p:nvSpPr>
        <p:spPr>
          <a:xfrm>
            <a:off x="8210803" y="1312664"/>
            <a:ext cx="382905" cy="144018"/>
          </a:xfrm>
          <a:prstGeom prst="rect">
            <a:avLst/>
          </a:prstGeom>
          <a:noFill/>
          <a:ln/>
        </p:spPr>
        <p:txBody>
          <a:bodyPr wrap="none" lIns="0" tIns="0" rIns="0" bIns="0" rtlCol="0" anchor="t">
            <a:normAutofit/>
          </a:bodyPr>
          <a:lstStyle/>
          <a:p>
            <a:pPr algn="r" indent="0" marL="0">
              <a:lnSpc>
                <a:spcPts val="1350"/>
              </a:lnSpc>
              <a:buNone/>
            </a:pPr>
            <a:r>
              <a:rPr lang="en-US" sz="1350" b="1" dirty="0">
                <a:solidFill>
                  <a:srgbClr val="34D399"/>
                </a:solidFill>
                <a:latin typeface="Liberation Sans Narrow" pitchFamily="34" charset="0"/>
                <a:ea typeface="Liberation Sans Narrow" pitchFamily="34" charset="-122"/>
                <a:cs typeface="Liberation Sans Narrow" pitchFamily="34" charset="-120"/>
              </a:rPr>
              <a:t>4</a:t>
            </a:r>
            <a:endParaRPr lang="en-US" sz="1350" dirty="0"/>
          </a:p>
        </p:txBody>
      </p:sp>
      <p:sp>
        <p:nvSpPr>
          <p:cNvPr id="35" name="Text 32"/>
          <p:cNvSpPr/>
          <p:nvPr/>
        </p:nvSpPr>
        <p:spPr>
          <a:xfrm>
            <a:off x="8198649" y="1484114"/>
            <a:ext cx="407213" cy="101798"/>
          </a:xfrm>
          <a:prstGeom prst="rect">
            <a:avLst/>
          </a:prstGeom>
          <a:noFill/>
          <a:ln/>
        </p:spPr>
        <p:txBody>
          <a:bodyPr wrap="square" lIns="0" tIns="0" rIns="0" bIns="0" rtlCol="0" anchor="t"/>
          <a:lstStyle/>
          <a:p>
            <a:pPr algn="r" indent="0" marL="0">
              <a:lnSpc>
                <a:spcPts val="759"/>
              </a:lnSpc>
              <a:buNone/>
            </a:pPr>
            <a:r>
              <a:rPr lang="en-US" sz="800" spc="51" kern="0" dirty="0">
                <a:solidFill>
                  <a:srgbClr val="71717A"/>
                </a:solidFill>
                <a:latin typeface="Carlito" pitchFamily="34" charset="0"/>
                <a:ea typeface="Carlito" pitchFamily="34" charset="-122"/>
                <a:cs typeface="Carlito" pitchFamily="34" charset="-120"/>
              </a:rPr>
              <a:t>WRITE</a:t>
            </a:r>
            <a:endParaRPr lang="en-US" sz="800" dirty="0"/>
          </a:p>
        </p:txBody>
      </p:sp>
      <p:sp>
        <p:nvSpPr>
          <p:cNvPr id="36" name="Text 33"/>
          <p:cNvSpPr/>
          <p:nvPr/>
        </p:nvSpPr>
        <p:spPr>
          <a:xfrm>
            <a:off x="5344641" y="1753791"/>
            <a:ext cx="3338475" cy="2900363"/>
          </a:xfrm>
          <a:prstGeom prst="roundRect">
            <a:avLst>
              <a:gd name="adj" fmla="val 5255"/>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37" name="Text 34"/>
          <p:cNvSpPr/>
          <p:nvPr/>
        </p:nvSpPr>
        <p:spPr>
          <a:xfrm>
            <a:off x="5433938" y="1843088"/>
            <a:ext cx="3159882" cy="136874"/>
          </a:xfrm>
          <a:prstGeom prst="rect">
            <a:avLst/>
          </a:prstGeom>
          <a:noFill/>
          <a:ln/>
        </p:spPr>
        <p:txBody>
          <a:bodyPr wrap="none" lIns="0" tIns="0" rIns="0" bIns="0" rtlCol="0" anchor="t">
            <a:normAutofit/>
          </a:bodyPr>
          <a:lstStyle/>
          <a:p>
            <a:pPr algn="l" indent="0" marL="0">
              <a:lnSpc>
                <a:spcPts val="844"/>
              </a:lnSpc>
              <a:buNone/>
            </a:pPr>
            <a:r>
              <a:rPr lang="en-US" sz="800" spc="79" kern="0" dirty="0">
                <a:solidFill>
                  <a:srgbClr val="71717A"/>
                </a:solidFill>
                <a:latin typeface="Carlito" pitchFamily="34" charset="0"/>
                <a:ea typeface="Carlito" pitchFamily="34" charset="-122"/>
                <a:cs typeface="Carlito" pitchFamily="34" charset="-120"/>
              </a:rPr>
              <a:t>READ TOOLS · QUERY SURFACE</a:t>
            </a:r>
            <a:endParaRPr lang="en-US" sz="800" dirty="0"/>
          </a:p>
        </p:txBody>
      </p:sp>
      <p:sp>
        <p:nvSpPr>
          <p:cNvPr id="38" name="Text 35"/>
          <p:cNvSpPr/>
          <p:nvPr/>
        </p:nvSpPr>
        <p:spPr>
          <a:xfrm>
            <a:off x="5433938" y="1995178"/>
            <a:ext cx="1558454" cy="228029"/>
          </a:xfrm>
          <a:prstGeom prst="roundRect">
            <a:avLst>
              <a:gd name="adj" fmla="val 25063"/>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39" name="Text 36"/>
          <p:cNvSpPr/>
          <p:nvPr/>
        </p:nvSpPr>
        <p:spPr>
          <a:xfrm>
            <a:off x="5498232" y="2053185"/>
            <a:ext cx="110505" cy="112014"/>
          </a:xfrm>
          <a:prstGeom prst="roundRect">
            <a:avLst>
              <a:gd name="adj" fmla="val 25859"/>
            </a:avLst>
          </a:prstGeom>
          <a:solidFill>
            <a:srgbClr val="6366F1">
              <a:alpha val="18000"/>
            </a:srgbClr>
          </a:solidFill>
          <a:ln/>
        </p:spPr>
        <p:txBody>
          <a:bodyPr wrap="square" rtlCol="0" anchor="ctr"/>
          <a:lstStyle/>
          <a:p>
            <a:pPr indent="0" marL="0">
              <a:buNone/>
            </a:pPr>
            <a:endParaRPr lang="en-US" dirty="0"/>
          </a:p>
        </p:txBody>
      </p:sp>
      <p:sp>
        <p:nvSpPr>
          <p:cNvPr id="40" name="Text 37"/>
          <p:cNvSpPr/>
          <p:nvPr/>
        </p:nvSpPr>
        <p:spPr>
          <a:xfrm>
            <a:off x="5498232" y="2059186"/>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818CF8"/>
                </a:solidFill>
                <a:latin typeface="Courier New" pitchFamily="34" charset="0"/>
                <a:ea typeface="Courier New" pitchFamily="34" charset="-122"/>
                <a:cs typeface="Courier New" pitchFamily="34" charset="-120"/>
              </a:rPr>
              <a:t>R</a:t>
            </a:r>
            <a:endParaRPr lang="en-US" sz="800" dirty="0"/>
          </a:p>
        </p:txBody>
      </p:sp>
      <p:sp>
        <p:nvSpPr>
          <p:cNvPr id="41" name="Text 38"/>
          <p:cNvSpPr/>
          <p:nvPr/>
        </p:nvSpPr>
        <p:spPr>
          <a:xfrm>
            <a:off x="5651599" y="2050256"/>
            <a:ext cx="1276499"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get_transactions</a:t>
            </a:r>
            <a:endParaRPr lang="en-US" sz="800" dirty="0"/>
          </a:p>
        </p:txBody>
      </p:sp>
      <p:sp>
        <p:nvSpPr>
          <p:cNvPr id="42" name="Text 39"/>
          <p:cNvSpPr/>
          <p:nvPr/>
        </p:nvSpPr>
        <p:spPr>
          <a:xfrm>
            <a:off x="7035254" y="1995178"/>
            <a:ext cx="1558565" cy="228029"/>
          </a:xfrm>
          <a:prstGeom prst="roundRect">
            <a:avLst>
              <a:gd name="adj" fmla="val 25063"/>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43" name="Text 40"/>
          <p:cNvSpPr/>
          <p:nvPr/>
        </p:nvSpPr>
        <p:spPr>
          <a:xfrm>
            <a:off x="7099548" y="2053185"/>
            <a:ext cx="110505" cy="112014"/>
          </a:xfrm>
          <a:prstGeom prst="roundRect">
            <a:avLst>
              <a:gd name="adj" fmla="val 25859"/>
            </a:avLst>
          </a:prstGeom>
          <a:solidFill>
            <a:srgbClr val="6366F1">
              <a:alpha val="18000"/>
            </a:srgbClr>
          </a:solidFill>
          <a:ln/>
        </p:spPr>
        <p:txBody>
          <a:bodyPr wrap="square" rtlCol="0" anchor="ctr"/>
          <a:lstStyle/>
          <a:p>
            <a:pPr indent="0" marL="0">
              <a:buNone/>
            </a:pPr>
            <a:endParaRPr lang="en-US" dirty="0"/>
          </a:p>
        </p:txBody>
      </p:sp>
      <p:sp>
        <p:nvSpPr>
          <p:cNvPr id="44" name="Text 41"/>
          <p:cNvSpPr/>
          <p:nvPr/>
        </p:nvSpPr>
        <p:spPr>
          <a:xfrm>
            <a:off x="7099548" y="2059186"/>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818CF8"/>
                </a:solidFill>
                <a:latin typeface="Courier New" pitchFamily="34" charset="0"/>
                <a:ea typeface="Courier New" pitchFamily="34" charset="-122"/>
                <a:cs typeface="Courier New" pitchFamily="34" charset="-120"/>
              </a:rPr>
              <a:t>R</a:t>
            </a:r>
            <a:endParaRPr lang="en-US" sz="800" dirty="0"/>
          </a:p>
        </p:txBody>
      </p:sp>
      <p:sp>
        <p:nvSpPr>
          <p:cNvPr id="45" name="Text 42"/>
          <p:cNvSpPr/>
          <p:nvPr/>
        </p:nvSpPr>
        <p:spPr>
          <a:xfrm>
            <a:off x="7252915" y="2050256"/>
            <a:ext cx="1276610"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get_budgets</a:t>
            </a:r>
            <a:endParaRPr lang="en-US" sz="800" dirty="0"/>
          </a:p>
        </p:txBody>
      </p:sp>
      <p:sp>
        <p:nvSpPr>
          <p:cNvPr id="46" name="Text 43"/>
          <p:cNvSpPr/>
          <p:nvPr/>
        </p:nvSpPr>
        <p:spPr>
          <a:xfrm>
            <a:off x="5433938" y="2241637"/>
            <a:ext cx="1558454" cy="228029"/>
          </a:xfrm>
          <a:prstGeom prst="roundRect">
            <a:avLst>
              <a:gd name="adj" fmla="val 25063"/>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47" name="Text 44"/>
          <p:cNvSpPr/>
          <p:nvPr/>
        </p:nvSpPr>
        <p:spPr>
          <a:xfrm>
            <a:off x="5498232" y="2299645"/>
            <a:ext cx="110505" cy="112014"/>
          </a:xfrm>
          <a:prstGeom prst="roundRect">
            <a:avLst>
              <a:gd name="adj" fmla="val 25859"/>
            </a:avLst>
          </a:prstGeom>
          <a:solidFill>
            <a:srgbClr val="6366F1">
              <a:alpha val="18000"/>
            </a:srgbClr>
          </a:solidFill>
          <a:ln/>
        </p:spPr>
        <p:txBody>
          <a:bodyPr wrap="square" rtlCol="0" anchor="ctr"/>
          <a:lstStyle/>
          <a:p>
            <a:pPr indent="0" marL="0">
              <a:buNone/>
            </a:pPr>
            <a:endParaRPr lang="en-US" dirty="0"/>
          </a:p>
        </p:txBody>
      </p:sp>
      <p:sp>
        <p:nvSpPr>
          <p:cNvPr id="48" name="Text 45"/>
          <p:cNvSpPr/>
          <p:nvPr/>
        </p:nvSpPr>
        <p:spPr>
          <a:xfrm>
            <a:off x="5498232" y="2305645"/>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818CF8"/>
                </a:solidFill>
                <a:latin typeface="Courier New" pitchFamily="34" charset="0"/>
                <a:ea typeface="Courier New" pitchFamily="34" charset="-122"/>
                <a:cs typeface="Courier New" pitchFamily="34" charset="-120"/>
              </a:rPr>
              <a:t>R</a:t>
            </a:r>
            <a:endParaRPr lang="en-US" sz="800" dirty="0"/>
          </a:p>
        </p:txBody>
      </p:sp>
      <p:sp>
        <p:nvSpPr>
          <p:cNvPr id="49" name="Text 46"/>
          <p:cNvSpPr/>
          <p:nvPr/>
        </p:nvSpPr>
        <p:spPr>
          <a:xfrm>
            <a:off x="5651599" y="2296716"/>
            <a:ext cx="1276499"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get_goals</a:t>
            </a:r>
            <a:endParaRPr lang="en-US" sz="800" dirty="0"/>
          </a:p>
        </p:txBody>
      </p:sp>
      <p:sp>
        <p:nvSpPr>
          <p:cNvPr id="50" name="Text 47"/>
          <p:cNvSpPr/>
          <p:nvPr/>
        </p:nvSpPr>
        <p:spPr>
          <a:xfrm>
            <a:off x="7035254" y="2241637"/>
            <a:ext cx="1558565" cy="228029"/>
          </a:xfrm>
          <a:prstGeom prst="roundRect">
            <a:avLst>
              <a:gd name="adj" fmla="val 25063"/>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51" name="Text 48"/>
          <p:cNvSpPr/>
          <p:nvPr/>
        </p:nvSpPr>
        <p:spPr>
          <a:xfrm>
            <a:off x="7099548" y="2299645"/>
            <a:ext cx="110505" cy="112014"/>
          </a:xfrm>
          <a:prstGeom prst="roundRect">
            <a:avLst>
              <a:gd name="adj" fmla="val 25859"/>
            </a:avLst>
          </a:prstGeom>
          <a:solidFill>
            <a:srgbClr val="6366F1">
              <a:alpha val="18000"/>
            </a:srgbClr>
          </a:solidFill>
          <a:ln/>
        </p:spPr>
        <p:txBody>
          <a:bodyPr wrap="square" rtlCol="0" anchor="ctr"/>
          <a:lstStyle/>
          <a:p>
            <a:pPr indent="0" marL="0">
              <a:buNone/>
            </a:pPr>
            <a:endParaRPr lang="en-US" dirty="0"/>
          </a:p>
        </p:txBody>
      </p:sp>
      <p:sp>
        <p:nvSpPr>
          <p:cNvPr id="52" name="Text 49"/>
          <p:cNvSpPr/>
          <p:nvPr/>
        </p:nvSpPr>
        <p:spPr>
          <a:xfrm>
            <a:off x="7099548" y="2305645"/>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818CF8"/>
                </a:solidFill>
                <a:latin typeface="Courier New" pitchFamily="34" charset="0"/>
                <a:ea typeface="Courier New" pitchFamily="34" charset="-122"/>
                <a:cs typeface="Courier New" pitchFamily="34" charset="-120"/>
              </a:rPr>
              <a:t>R</a:t>
            </a:r>
            <a:endParaRPr lang="en-US" sz="800" dirty="0"/>
          </a:p>
        </p:txBody>
      </p:sp>
      <p:sp>
        <p:nvSpPr>
          <p:cNvPr id="53" name="Text 50"/>
          <p:cNvSpPr/>
          <p:nvPr/>
        </p:nvSpPr>
        <p:spPr>
          <a:xfrm>
            <a:off x="7252915" y="2296716"/>
            <a:ext cx="1276610"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get_health_score</a:t>
            </a:r>
            <a:endParaRPr lang="en-US" sz="800" dirty="0"/>
          </a:p>
        </p:txBody>
      </p:sp>
      <p:sp>
        <p:nvSpPr>
          <p:cNvPr id="54" name="Text 51"/>
          <p:cNvSpPr/>
          <p:nvPr/>
        </p:nvSpPr>
        <p:spPr>
          <a:xfrm>
            <a:off x="5433938" y="2488097"/>
            <a:ext cx="1558454" cy="228029"/>
          </a:xfrm>
          <a:prstGeom prst="roundRect">
            <a:avLst>
              <a:gd name="adj" fmla="val 25063"/>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55" name="Text 52"/>
          <p:cNvSpPr/>
          <p:nvPr/>
        </p:nvSpPr>
        <p:spPr>
          <a:xfrm>
            <a:off x="5498232" y="2546104"/>
            <a:ext cx="110505" cy="112014"/>
          </a:xfrm>
          <a:prstGeom prst="roundRect">
            <a:avLst>
              <a:gd name="adj" fmla="val 25859"/>
            </a:avLst>
          </a:prstGeom>
          <a:solidFill>
            <a:srgbClr val="6366F1">
              <a:alpha val="18000"/>
            </a:srgbClr>
          </a:solidFill>
          <a:ln/>
        </p:spPr>
        <p:txBody>
          <a:bodyPr wrap="square" rtlCol="0" anchor="ctr"/>
          <a:lstStyle/>
          <a:p>
            <a:pPr indent="0" marL="0">
              <a:buNone/>
            </a:pPr>
            <a:endParaRPr lang="en-US" dirty="0"/>
          </a:p>
        </p:txBody>
      </p:sp>
      <p:sp>
        <p:nvSpPr>
          <p:cNvPr id="56" name="Text 53"/>
          <p:cNvSpPr/>
          <p:nvPr/>
        </p:nvSpPr>
        <p:spPr>
          <a:xfrm>
            <a:off x="5498232" y="2552105"/>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818CF8"/>
                </a:solidFill>
                <a:latin typeface="Courier New" pitchFamily="34" charset="0"/>
                <a:ea typeface="Courier New" pitchFamily="34" charset="-122"/>
                <a:cs typeface="Courier New" pitchFamily="34" charset="-120"/>
              </a:rPr>
              <a:t>R</a:t>
            </a:r>
            <a:endParaRPr lang="en-US" sz="800" dirty="0"/>
          </a:p>
        </p:txBody>
      </p:sp>
      <p:sp>
        <p:nvSpPr>
          <p:cNvPr id="57" name="Text 54"/>
          <p:cNvSpPr/>
          <p:nvPr/>
        </p:nvSpPr>
        <p:spPr>
          <a:xfrm>
            <a:off x="5651599" y="2543175"/>
            <a:ext cx="1276499"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get_cashflow_forecast</a:t>
            </a:r>
            <a:endParaRPr lang="en-US" sz="800" dirty="0"/>
          </a:p>
        </p:txBody>
      </p:sp>
      <p:sp>
        <p:nvSpPr>
          <p:cNvPr id="58" name="Text 55"/>
          <p:cNvSpPr/>
          <p:nvPr/>
        </p:nvSpPr>
        <p:spPr>
          <a:xfrm>
            <a:off x="7035254" y="2488097"/>
            <a:ext cx="1558565" cy="228029"/>
          </a:xfrm>
          <a:prstGeom prst="roundRect">
            <a:avLst>
              <a:gd name="adj" fmla="val 25063"/>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59" name="Text 56"/>
          <p:cNvSpPr/>
          <p:nvPr/>
        </p:nvSpPr>
        <p:spPr>
          <a:xfrm>
            <a:off x="7099548" y="2546104"/>
            <a:ext cx="110505" cy="112014"/>
          </a:xfrm>
          <a:prstGeom prst="roundRect">
            <a:avLst>
              <a:gd name="adj" fmla="val 25859"/>
            </a:avLst>
          </a:prstGeom>
          <a:solidFill>
            <a:srgbClr val="6366F1">
              <a:alpha val="18000"/>
            </a:srgbClr>
          </a:solidFill>
          <a:ln/>
        </p:spPr>
        <p:txBody>
          <a:bodyPr wrap="square" rtlCol="0" anchor="ctr"/>
          <a:lstStyle/>
          <a:p>
            <a:pPr indent="0" marL="0">
              <a:buNone/>
            </a:pPr>
            <a:endParaRPr lang="en-US" dirty="0"/>
          </a:p>
        </p:txBody>
      </p:sp>
      <p:sp>
        <p:nvSpPr>
          <p:cNvPr id="60" name="Text 57"/>
          <p:cNvSpPr/>
          <p:nvPr/>
        </p:nvSpPr>
        <p:spPr>
          <a:xfrm>
            <a:off x="7099548" y="2552105"/>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818CF8"/>
                </a:solidFill>
                <a:latin typeface="Courier New" pitchFamily="34" charset="0"/>
                <a:ea typeface="Courier New" pitchFamily="34" charset="-122"/>
                <a:cs typeface="Courier New" pitchFamily="34" charset="-120"/>
              </a:rPr>
              <a:t>R</a:t>
            </a:r>
            <a:endParaRPr lang="en-US" sz="800" dirty="0"/>
          </a:p>
        </p:txBody>
      </p:sp>
      <p:sp>
        <p:nvSpPr>
          <p:cNvPr id="61" name="Text 58"/>
          <p:cNvSpPr/>
          <p:nvPr/>
        </p:nvSpPr>
        <p:spPr>
          <a:xfrm>
            <a:off x="7252915" y="2543175"/>
            <a:ext cx="1276610"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get_analytics</a:t>
            </a:r>
            <a:endParaRPr lang="en-US" sz="800" dirty="0"/>
          </a:p>
        </p:txBody>
      </p:sp>
      <p:sp>
        <p:nvSpPr>
          <p:cNvPr id="62" name="Text 59"/>
          <p:cNvSpPr/>
          <p:nvPr/>
        </p:nvSpPr>
        <p:spPr>
          <a:xfrm>
            <a:off x="5437510" y="2750344"/>
            <a:ext cx="3152738" cy="196453"/>
          </a:xfrm>
          <a:prstGeom prst="roundRect">
            <a:avLst>
              <a:gd name="adj" fmla="val 29091"/>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63" name="Text 60"/>
          <p:cNvSpPr/>
          <p:nvPr/>
        </p:nvSpPr>
        <p:spPr>
          <a:xfrm>
            <a:off x="5498232" y="2792563"/>
            <a:ext cx="110505" cy="112014"/>
          </a:xfrm>
          <a:prstGeom prst="roundRect">
            <a:avLst>
              <a:gd name="adj" fmla="val 25859"/>
            </a:avLst>
          </a:prstGeom>
          <a:solidFill>
            <a:srgbClr val="6366F1">
              <a:alpha val="18000"/>
            </a:srgbClr>
          </a:solidFill>
          <a:ln/>
        </p:spPr>
        <p:txBody>
          <a:bodyPr wrap="square" rtlCol="0" anchor="ctr"/>
          <a:lstStyle/>
          <a:p>
            <a:pPr indent="0" marL="0">
              <a:buNone/>
            </a:pPr>
            <a:endParaRPr lang="en-US" dirty="0"/>
          </a:p>
        </p:txBody>
      </p:sp>
      <p:sp>
        <p:nvSpPr>
          <p:cNvPr id="64" name="Text 61"/>
          <p:cNvSpPr/>
          <p:nvPr/>
        </p:nvSpPr>
        <p:spPr>
          <a:xfrm>
            <a:off x="5498232" y="2798564"/>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818CF8"/>
                </a:solidFill>
                <a:latin typeface="Courier New" pitchFamily="34" charset="0"/>
                <a:ea typeface="Courier New" pitchFamily="34" charset="-122"/>
                <a:cs typeface="Courier New" pitchFamily="34" charset="-120"/>
              </a:rPr>
              <a:t>R</a:t>
            </a:r>
            <a:endParaRPr lang="en-US" sz="800" dirty="0"/>
          </a:p>
        </p:txBody>
      </p:sp>
      <p:sp>
        <p:nvSpPr>
          <p:cNvPr id="65" name="Text 62"/>
          <p:cNvSpPr/>
          <p:nvPr/>
        </p:nvSpPr>
        <p:spPr>
          <a:xfrm>
            <a:off x="5651599" y="2789634"/>
            <a:ext cx="2877927"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get_insights</a:t>
            </a:r>
            <a:endParaRPr lang="en-US" sz="800" dirty="0"/>
          </a:p>
        </p:txBody>
      </p:sp>
      <p:sp>
        <p:nvSpPr>
          <p:cNvPr id="66" name="Text 63"/>
          <p:cNvSpPr/>
          <p:nvPr/>
        </p:nvSpPr>
        <p:spPr>
          <a:xfrm>
            <a:off x="5433938" y="3021806"/>
            <a:ext cx="3269610" cy="136874"/>
          </a:xfrm>
          <a:prstGeom prst="rect">
            <a:avLst/>
          </a:prstGeom>
          <a:noFill/>
          <a:ln/>
        </p:spPr>
        <p:txBody>
          <a:bodyPr wrap="square" lIns="0" tIns="0" rIns="0" bIns="0" rtlCol="0" anchor="t">
            <a:normAutofit/>
          </a:bodyPr>
          <a:lstStyle/>
          <a:p>
            <a:pPr algn="l" indent="0" marL="0">
              <a:lnSpc>
                <a:spcPts val="844"/>
              </a:lnSpc>
              <a:buNone/>
            </a:pPr>
            <a:r>
              <a:rPr lang="en-US" sz="800" spc="79" kern="0" dirty="0">
                <a:solidFill>
                  <a:srgbClr val="71717A"/>
                </a:solidFill>
                <a:latin typeface="Carlito" pitchFamily="34" charset="0"/>
                <a:ea typeface="Carlito" pitchFamily="34" charset="-122"/>
                <a:cs typeface="Carlito" pitchFamily="34" charset="-120"/>
              </a:rPr>
              <a:t>WRITE TOOLS · ACTION SURFACE</a:t>
            </a:r>
            <a:endParaRPr lang="en-US" sz="800" dirty="0"/>
          </a:p>
        </p:txBody>
      </p:sp>
      <p:sp>
        <p:nvSpPr>
          <p:cNvPr id="67" name="Text 64"/>
          <p:cNvSpPr/>
          <p:nvPr/>
        </p:nvSpPr>
        <p:spPr>
          <a:xfrm>
            <a:off x="5433938" y="3173897"/>
            <a:ext cx="1558454" cy="228029"/>
          </a:xfrm>
          <a:prstGeom prst="roundRect">
            <a:avLst>
              <a:gd name="adj" fmla="val 25063"/>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68" name="Text 65"/>
          <p:cNvSpPr/>
          <p:nvPr/>
        </p:nvSpPr>
        <p:spPr>
          <a:xfrm>
            <a:off x="5498232" y="3231904"/>
            <a:ext cx="110505" cy="112014"/>
          </a:xfrm>
          <a:prstGeom prst="roundRect">
            <a:avLst>
              <a:gd name="adj" fmla="val 25859"/>
            </a:avLst>
          </a:prstGeom>
          <a:solidFill>
            <a:srgbClr val="10B981">
              <a:alpha val="18000"/>
            </a:srgbClr>
          </a:solidFill>
          <a:ln/>
        </p:spPr>
        <p:txBody>
          <a:bodyPr wrap="square" rtlCol="0" anchor="ctr"/>
          <a:lstStyle/>
          <a:p>
            <a:pPr indent="0" marL="0">
              <a:buNone/>
            </a:pPr>
            <a:endParaRPr lang="en-US" dirty="0"/>
          </a:p>
        </p:txBody>
      </p:sp>
      <p:sp>
        <p:nvSpPr>
          <p:cNvPr id="69" name="Text 66"/>
          <p:cNvSpPr/>
          <p:nvPr/>
        </p:nvSpPr>
        <p:spPr>
          <a:xfrm>
            <a:off x="5498232" y="3237905"/>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34D399"/>
                </a:solidFill>
                <a:latin typeface="Courier New" pitchFamily="34" charset="0"/>
                <a:ea typeface="Courier New" pitchFamily="34" charset="-122"/>
                <a:cs typeface="Courier New" pitchFamily="34" charset="-120"/>
              </a:rPr>
              <a:t>W</a:t>
            </a:r>
            <a:endParaRPr lang="en-US" sz="800" dirty="0"/>
          </a:p>
        </p:txBody>
      </p:sp>
      <p:sp>
        <p:nvSpPr>
          <p:cNvPr id="70" name="Text 67"/>
          <p:cNvSpPr/>
          <p:nvPr/>
        </p:nvSpPr>
        <p:spPr>
          <a:xfrm>
            <a:off x="5651599" y="3228975"/>
            <a:ext cx="1276499"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add_transaction</a:t>
            </a:r>
            <a:endParaRPr lang="en-US" sz="800" dirty="0"/>
          </a:p>
        </p:txBody>
      </p:sp>
      <p:sp>
        <p:nvSpPr>
          <p:cNvPr id="71" name="Text 68"/>
          <p:cNvSpPr/>
          <p:nvPr/>
        </p:nvSpPr>
        <p:spPr>
          <a:xfrm>
            <a:off x="7035254" y="3173897"/>
            <a:ext cx="1558565" cy="228029"/>
          </a:xfrm>
          <a:prstGeom prst="roundRect">
            <a:avLst>
              <a:gd name="adj" fmla="val 25063"/>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72" name="Text 69"/>
          <p:cNvSpPr/>
          <p:nvPr/>
        </p:nvSpPr>
        <p:spPr>
          <a:xfrm>
            <a:off x="7099548" y="3231904"/>
            <a:ext cx="110505" cy="112014"/>
          </a:xfrm>
          <a:prstGeom prst="roundRect">
            <a:avLst>
              <a:gd name="adj" fmla="val 25859"/>
            </a:avLst>
          </a:prstGeom>
          <a:solidFill>
            <a:srgbClr val="10B981">
              <a:alpha val="18000"/>
            </a:srgbClr>
          </a:solidFill>
          <a:ln/>
        </p:spPr>
        <p:txBody>
          <a:bodyPr wrap="square" rtlCol="0" anchor="ctr"/>
          <a:lstStyle/>
          <a:p>
            <a:pPr indent="0" marL="0">
              <a:buNone/>
            </a:pPr>
            <a:endParaRPr lang="en-US" dirty="0"/>
          </a:p>
        </p:txBody>
      </p:sp>
      <p:sp>
        <p:nvSpPr>
          <p:cNvPr id="73" name="Text 70"/>
          <p:cNvSpPr/>
          <p:nvPr/>
        </p:nvSpPr>
        <p:spPr>
          <a:xfrm>
            <a:off x="7099548" y="3237905"/>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34D399"/>
                </a:solidFill>
                <a:latin typeface="Courier New" pitchFamily="34" charset="0"/>
                <a:ea typeface="Courier New" pitchFamily="34" charset="-122"/>
                <a:cs typeface="Courier New" pitchFamily="34" charset="-120"/>
              </a:rPr>
              <a:t>W</a:t>
            </a:r>
            <a:endParaRPr lang="en-US" sz="800" dirty="0"/>
          </a:p>
        </p:txBody>
      </p:sp>
      <p:sp>
        <p:nvSpPr>
          <p:cNvPr id="74" name="Text 71"/>
          <p:cNvSpPr/>
          <p:nvPr/>
        </p:nvSpPr>
        <p:spPr>
          <a:xfrm>
            <a:off x="7252915" y="3228975"/>
            <a:ext cx="1276610"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create_goal</a:t>
            </a:r>
            <a:endParaRPr lang="en-US" sz="800" dirty="0"/>
          </a:p>
        </p:txBody>
      </p:sp>
      <p:sp>
        <p:nvSpPr>
          <p:cNvPr id="75" name="Text 72"/>
          <p:cNvSpPr/>
          <p:nvPr/>
        </p:nvSpPr>
        <p:spPr>
          <a:xfrm>
            <a:off x="5433938" y="3420356"/>
            <a:ext cx="1558454" cy="228029"/>
          </a:xfrm>
          <a:prstGeom prst="roundRect">
            <a:avLst>
              <a:gd name="adj" fmla="val 25063"/>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76" name="Text 73"/>
          <p:cNvSpPr/>
          <p:nvPr/>
        </p:nvSpPr>
        <p:spPr>
          <a:xfrm>
            <a:off x="5498232" y="3478363"/>
            <a:ext cx="110505" cy="112014"/>
          </a:xfrm>
          <a:prstGeom prst="roundRect">
            <a:avLst>
              <a:gd name="adj" fmla="val 25859"/>
            </a:avLst>
          </a:prstGeom>
          <a:solidFill>
            <a:srgbClr val="10B981">
              <a:alpha val="18000"/>
            </a:srgbClr>
          </a:solidFill>
          <a:ln/>
        </p:spPr>
        <p:txBody>
          <a:bodyPr wrap="square" rtlCol="0" anchor="ctr"/>
          <a:lstStyle/>
          <a:p>
            <a:pPr indent="0" marL="0">
              <a:buNone/>
            </a:pPr>
            <a:endParaRPr lang="en-US" dirty="0"/>
          </a:p>
        </p:txBody>
      </p:sp>
      <p:sp>
        <p:nvSpPr>
          <p:cNvPr id="77" name="Text 74"/>
          <p:cNvSpPr/>
          <p:nvPr/>
        </p:nvSpPr>
        <p:spPr>
          <a:xfrm>
            <a:off x="5498232" y="3484364"/>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34D399"/>
                </a:solidFill>
                <a:latin typeface="Courier New" pitchFamily="34" charset="0"/>
                <a:ea typeface="Courier New" pitchFamily="34" charset="-122"/>
                <a:cs typeface="Courier New" pitchFamily="34" charset="-120"/>
              </a:rPr>
              <a:t>W</a:t>
            </a:r>
            <a:endParaRPr lang="en-US" sz="800" dirty="0"/>
          </a:p>
        </p:txBody>
      </p:sp>
      <p:sp>
        <p:nvSpPr>
          <p:cNvPr id="78" name="Text 75"/>
          <p:cNvSpPr/>
          <p:nvPr/>
        </p:nvSpPr>
        <p:spPr>
          <a:xfrm>
            <a:off x="5651599" y="3475434"/>
            <a:ext cx="1276499"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update_budget</a:t>
            </a:r>
            <a:endParaRPr lang="en-US" sz="800" dirty="0"/>
          </a:p>
        </p:txBody>
      </p:sp>
      <p:sp>
        <p:nvSpPr>
          <p:cNvPr id="79" name="Text 76"/>
          <p:cNvSpPr/>
          <p:nvPr/>
        </p:nvSpPr>
        <p:spPr>
          <a:xfrm>
            <a:off x="7035254" y="3420356"/>
            <a:ext cx="1558565" cy="228029"/>
          </a:xfrm>
          <a:prstGeom prst="roundRect">
            <a:avLst>
              <a:gd name="adj" fmla="val 25063"/>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80" name="Text 77"/>
          <p:cNvSpPr/>
          <p:nvPr/>
        </p:nvSpPr>
        <p:spPr>
          <a:xfrm>
            <a:off x="7099548" y="3478363"/>
            <a:ext cx="110505" cy="112014"/>
          </a:xfrm>
          <a:prstGeom prst="roundRect">
            <a:avLst>
              <a:gd name="adj" fmla="val 25859"/>
            </a:avLst>
          </a:prstGeom>
          <a:solidFill>
            <a:srgbClr val="10B981">
              <a:alpha val="18000"/>
            </a:srgbClr>
          </a:solidFill>
          <a:ln/>
        </p:spPr>
        <p:txBody>
          <a:bodyPr wrap="square" rtlCol="0" anchor="ctr"/>
          <a:lstStyle/>
          <a:p>
            <a:pPr indent="0" marL="0">
              <a:buNone/>
            </a:pPr>
            <a:endParaRPr lang="en-US" dirty="0"/>
          </a:p>
        </p:txBody>
      </p:sp>
      <p:sp>
        <p:nvSpPr>
          <p:cNvPr id="81" name="Text 78"/>
          <p:cNvSpPr/>
          <p:nvPr/>
        </p:nvSpPr>
        <p:spPr>
          <a:xfrm>
            <a:off x="7099548" y="3484364"/>
            <a:ext cx="110505" cy="100013"/>
          </a:xfrm>
          <a:prstGeom prst="rect">
            <a:avLst/>
          </a:prstGeom>
          <a:noFill/>
          <a:ln/>
        </p:spPr>
        <p:txBody>
          <a:bodyPr wrap="none" lIns="0" tIns="0" rIns="0" bIns="0" rtlCol="0" anchor="ctr"/>
          <a:lstStyle/>
          <a:p>
            <a:pPr algn="ctr" indent="0" marL="0">
              <a:lnSpc>
                <a:spcPts val="675"/>
              </a:lnSpc>
              <a:buNone/>
            </a:pPr>
            <a:r>
              <a:rPr lang="en-US" sz="800" b="1" spc="36" kern="0" dirty="0">
                <a:solidFill>
                  <a:srgbClr val="34D399"/>
                </a:solidFill>
                <a:latin typeface="Courier New" pitchFamily="34" charset="0"/>
                <a:ea typeface="Courier New" pitchFamily="34" charset="-122"/>
                <a:cs typeface="Courier New" pitchFamily="34" charset="-120"/>
              </a:rPr>
              <a:t>W</a:t>
            </a:r>
            <a:endParaRPr lang="en-US" sz="800" dirty="0"/>
          </a:p>
        </p:txBody>
      </p:sp>
      <p:sp>
        <p:nvSpPr>
          <p:cNvPr id="82" name="Text 79"/>
          <p:cNvSpPr/>
          <p:nvPr/>
        </p:nvSpPr>
        <p:spPr>
          <a:xfrm>
            <a:off x="7252915" y="3475434"/>
            <a:ext cx="1276610" cy="117872"/>
          </a:xfrm>
          <a:prstGeom prst="rect">
            <a:avLst/>
          </a:prstGeom>
          <a:noFill/>
          <a:ln/>
        </p:spPr>
        <p:txBody>
          <a:bodyPr wrap="none" lIns="0" tIns="0" rIns="0" bIns="0" rtlCol="0" anchor="t"/>
          <a:lstStyle/>
          <a:p>
            <a:pPr algn="l" indent="0" marL="0">
              <a:lnSpc>
                <a:spcPts val="928"/>
              </a:lnSpc>
              <a:buNone/>
            </a:pPr>
            <a:r>
              <a:rPr lang="en-US" sz="800" dirty="0">
                <a:solidFill>
                  <a:srgbClr val="F5F5F7"/>
                </a:solidFill>
                <a:latin typeface="Courier New" pitchFamily="34" charset="0"/>
                <a:ea typeface="Courier New" pitchFamily="34" charset="-122"/>
                <a:cs typeface="Courier New" pitchFamily="34" charset="-120"/>
              </a:rPr>
              <a:t>set_permission</a:t>
            </a:r>
            <a:endParaRPr lang="en-US" sz="800" dirty="0"/>
          </a:p>
        </p:txBody>
      </p:sp>
      <p:sp>
        <p:nvSpPr>
          <p:cNvPr id="83" name="Text 80"/>
          <p:cNvSpPr/>
          <p:nvPr/>
        </p:nvSpPr>
        <p:spPr>
          <a:xfrm>
            <a:off x="457200" y="4861322"/>
            <a:ext cx="42863" cy="42863"/>
          </a:xfrm>
          <a:prstGeom prst="roundRect">
            <a:avLst>
              <a:gd name="adj" fmla="val 22199741"/>
            </a:avLst>
          </a:prstGeom>
          <a:solidFill>
            <a:srgbClr val="6366F1"/>
          </a:solidFill>
          <a:ln/>
        </p:spPr>
        <p:txBody>
          <a:bodyPr wrap="square" rtlCol="0" anchor="ctr"/>
          <a:lstStyle/>
          <a:p>
            <a:pPr indent="0" marL="0">
              <a:buNone/>
            </a:pPr>
            <a:endParaRPr lang="en-US" dirty="0"/>
          </a:p>
        </p:txBody>
      </p:sp>
      <p:sp>
        <p:nvSpPr>
          <p:cNvPr id="84" name="Text 81"/>
          <p:cNvSpPr/>
          <p:nvPr/>
        </p:nvSpPr>
        <p:spPr>
          <a:xfrm>
            <a:off x="457200" y="4814888"/>
            <a:ext cx="786571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Carlito" pitchFamily="34" charset="0"/>
                <a:ea typeface="Carlito" pitchFamily="34" charset="-122"/>
                <a:cs typeface="Carlito" pitchFamily="34" charset="-120"/>
              </a:rPr>
              <a:t>FINWISE · TOPIC A</a:t>
            </a:r>
            <a:endParaRPr lang="en-US" sz="800" dirty="0"/>
          </a:p>
        </p:txBody>
      </p:sp>
      <p:sp>
        <p:nvSpPr>
          <p:cNvPr id="85" name="Text 82"/>
          <p:cNvSpPr/>
          <p:nvPr/>
        </p:nvSpPr>
        <p:spPr>
          <a:xfrm>
            <a:off x="8337203" y="4814888"/>
            <a:ext cx="499050"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Liberation Sans Narrow" pitchFamily="34" charset="0"/>
                <a:ea typeface="Liberation Sans Narrow" pitchFamily="34" charset="-122"/>
                <a:cs typeface="Liberation Sans Narrow" pitchFamily="34" charset="-120"/>
              </a:rPr>
              <a:t>06 /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45174"/>
            <a:ext cx="941189" cy="224028"/>
          </a:xfrm>
          <a:prstGeom prst="roundRect">
            <a:avLst>
              <a:gd name="adj" fmla="val 4247449"/>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3" name="Text 1"/>
          <p:cNvSpPr/>
          <p:nvPr/>
        </p:nvSpPr>
        <p:spPr>
          <a:xfrm>
            <a:off x="440653" y="257175"/>
            <a:ext cx="974283"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07 · ANALYTICS</a:t>
            </a:r>
            <a:endParaRPr lang="en-US" sz="800" dirty="0"/>
          </a:p>
        </p:txBody>
      </p:sp>
      <p:sp>
        <p:nvSpPr>
          <p:cNvPr id="4" name="Text 2"/>
          <p:cNvSpPr/>
          <p:nvPr/>
        </p:nvSpPr>
        <p:spPr>
          <a:xfrm>
            <a:off x="1484114" y="292894"/>
            <a:ext cx="2889995"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HEALTH · FORECAST · MONTE CARLO · WHAT-IF</a:t>
            </a:r>
            <a:endParaRPr lang="en-US" sz="800" dirty="0"/>
          </a:p>
        </p:txBody>
      </p:sp>
      <p:sp>
        <p:nvSpPr>
          <p:cNvPr id="5" name="Text 3"/>
          <p:cNvSpPr/>
          <p:nvPr/>
        </p:nvSpPr>
        <p:spPr>
          <a:xfrm>
            <a:off x="6276231" y="292894"/>
            <a:ext cx="2788573"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FINWISE · PERSONAL FINANCE INTELLIGENCE</a:t>
            </a:r>
            <a:endParaRPr lang="en-US" sz="800" dirty="0"/>
          </a:p>
        </p:txBody>
      </p:sp>
      <p:sp>
        <p:nvSpPr>
          <p:cNvPr id="6" name="Text 4"/>
          <p:cNvSpPr/>
          <p:nvPr/>
        </p:nvSpPr>
        <p:spPr>
          <a:xfrm>
            <a:off x="457200" y="557213"/>
            <a:ext cx="8636000" cy="158306"/>
          </a:xfrm>
          <a:prstGeom prst="rect">
            <a:avLst/>
          </a:prstGeom>
          <a:noFill/>
          <a:ln/>
        </p:spPr>
        <p:txBody>
          <a:bodyPr wrap="none" lIns="0" tIns="0" rIns="0" bIns="0" rtlCol="0" anchor="t">
            <a:normAutofit/>
          </a:bodyPr>
          <a:lstStyle/>
          <a:p>
            <a:pPr algn="l" indent="0" marL="0">
              <a:lnSpc>
                <a:spcPts val="1013"/>
              </a:lnSpc>
              <a:buNone/>
            </a:pPr>
            <a:r>
              <a:rPr lang="en-US" sz="800" spc="122" kern="0" dirty="0">
                <a:solidFill>
                  <a:srgbClr val="818CF8"/>
                </a:solidFill>
                <a:latin typeface="Courier New" pitchFamily="34" charset="0"/>
                <a:ea typeface="Courier New" pitchFamily="34" charset="-122"/>
                <a:cs typeface="Courier New" pitchFamily="34" charset="-120"/>
              </a:rPr>
              <a:t>ADVANCED ANALYTICS</a:t>
            </a:r>
            <a:endParaRPr lang="en-US" sz="800" dirty="0"/>
          </a:p>
        </p:txBody>
      </p:sp>
      <p:sp>
        <p:nvSpPr>
          <p:cNvPr id="7" name="Text 5"/>
          <p:cNvSpPr/>
          <p:nvPr/>
        </p:nvSpPr>
        <p:spPr>
          <a:xfrm>
            <a:off x="457200" y="742950"/>
            <a:ext cx="8636000" cy="324041"/>
          </a:xfrm>
          <a:prstGeom prst="rect">
            <a:avLst/>
          </a:prstGeom>
          <a:noFill/>
          <a:ln/>
        </p:spPr>
        <p:txBody>
          <a:bodyPr wrap="square" lIns="0" tIns="0" rIns="0" bIns="0" rtlCol="0" anchor="t"/>
          <a:lstStyle/>
          <a:p>
            <a:pPr algn="l" indent="0" marL="0">
              <a:lnSpc>
                <a:spcPts val="2363"/>
              </a:lnSpc>
              <a:buNone/>
            </a:pPr>
            <a:r>
              <a:rPr lang="en-US" sz="2250" b="1" spc="-56" kern="0" dirty="0">
                <a:solidFill>
                  <a:srgbClr val="FFFFFF"/>
                </a:solidFill>
                <a:latin typeface="Tinos" pitchFamily="34" charset="0"/>
                <a:ea typeface="Tinos" pitchFamily="34" charset="-122"/>
                <a:cs typeface="Tinos" pitchFamily="34" charset="-120"/>
              </a:rPr>
              <a:t>Quant-grade tooling, </a:t>
            </a:r>
            <a:pPr algn="l" indent="0" marL="0">
              <a:lnSpc>
                <a:spcPts val="2363"/>
              </a:lnSpc>
              <a:buNone/>
            </a:pPr>
            <a:r>
              <a:rPr lang="en-US" sz="2250" b="1" i="1" spc="-56" kern="0" dirty="0">
                <a:solidFill>
                  <a:srgbClr val="34D399"/>
                </a:solidFill>
                <a:latin typeface="Tinos" pitchFamily="34" charset="0"/>
                <a:ea typeface="Tinos" pitchFamily="34" charset="-122"/>
                <a:cs typeface="Tinos" pitchFamily="34" charset="-120"/>
              </a:rPr>
              <a:t>personal scale.</a:t>
            </a:r>
            <a:endParaRPr lang="en-US" sz="2250" dirty="0"/>
          </a:p>
        </p:txBody>
      </p:sp>
      <p:sp>
        <p:nvSpPr>
          <p:cNvPr id="8" name="Text 6"/>
          <p:cNvSpPr/>
          <p:nvPr/>
        </p:nvSpPr>
        <p:spPr>
          <a:xfrm>
            <a:off x="460772" y="1289447"/>
            <a:ext cx="2659819" cy="2053828"/>
          </a:xfrm>
          <a:prstGeom prst="roundRect">
            <a:avLst>
              <a:gd name="adj" fmla="val 6493"/>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9" name="Text 7"/>
          <p:cNvSpPr/>
          <p:nvPr/>
        </p:nvSpPr>
        <p:spPr>
          <a:xfrm>
            <a:off x="578644" y="1412677"/>
            <a:ext cx="2281200"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FINANCIAL HEALTH SCORE</a:t>
            </a:r>
            <a:endParaRPr lang="en-US" sz="800" dirty="0"/>
          </a:p>
        </p:txBody>
      </p:sp>
      <p:sp>
        <p:nvSpPr>
          <p:cNvPr id="10" name="Text 8"/>
          <p:cNvSpPr/>
          <p:nvPr/>
        </p:nvSpPr>
        <p:spPr>
          <a:xfrm>
            <a:off x="2874132" y="1407319"/>
            <a:ext cx="128588" cy="128588"/>
          </a:xfrm>
          <a:prstGeom prst="rect">
            <a:avLst/>
          </a:prstGeom>
          <a:noFill/>
          <a:ln/>
        </p:spPr>
        <p:txBody>
          <a:bodyPr wrap="none" lIns="0" tIns="0" rIns="0" bIns="0" rtlCol="0" anchor="ctr"/>
          <a:lstStyle/>
          <a:p>
            <a:pPr algn="ctr" indent="0" marL="0">
              <a:buNone/>
            </a:pPr>
            <a:r>
              <a:rPr lang="en-US" sz="1266" dirty="0">
                <a:solidFill>
                  <a:srgbClr val="818CF8"/>
                </a:solidFill>
                <a:latin typeface="Segoe UI Symbol" pitchFamily="34" charset="0"/>
                <a:ea typeface="Segoe UI Symbol" pitchFamily="34" charset="-122"/>
                <a:cs typeface="Segoe UI Symbol" pitchFamily="34" charset="-120"/>
              </a:rPr>
              <a:t>♥</a:t>
            </a:r>
            <a:endParaRPr lang="en-US" sz="1266" dirty="0"/>
          </a:p>
        </p:txBody>
      </p:sp>
      <p:pic>
        <p:nvPicPr>
          <p:cNvPr id="11" name="Image 0" descr="/tmp/h2p-svg-1792385358771-wg6x8q.png">    </p:cNvPr>
          <p:cNvPicPr>
            <a:picLocks noChangeAspect="1"/>
          </p:cNvPicPr>
          <p:nvPr/>
        </p:nvPicPr>
        <p:blipFill>
          <a:blip r:embed="rId1"/>
          <a:stretch>
            <a:fillRect/>
          </a:stretch>
        </p:blipFill>
        <p:spPr>
          <a:xfrm>
            <a:off x="578644" y="1809155"/>
            <a:ext cx="1200150" cy="1200150"/>
          </a:xfrm>
          <a:prstGeom prst="rect">
            <a:avLst/>
          </a:prstGeom>
        </p:spPr>
      </p:pic>
      <p:sp>
        <p:nvSpPr>
          <p:cNvPr id="12" name="Text 9"/>
          <p:cNvSpPr/>
          <p:nvPr/>
        </p:nvSpPr>
        <p:spPr>
          <a:xfrm>
            <a:off x="950342" y="2177058"/>
            <a:ext cx="730627" cy="329756"/>
          </a:xfrm>
          <a:prstGeom prst="rect">
            <a:avLst/>
          </a:prstGeom>
          <a:noFill/>
          <a:ln/>
        </p:spPr>
        <p:txBody>
          <a:bodyPr wrap="none" lIns="0" tIns="0" rIns="0" bIns="0" rtlCol="0" anchor="t">
            <a:normAutofit/>
          </a:bodyPr>
          <a:lstStyle/>
          <a:p>
            <a:pPr algn="l" indent="0" marL="0">
              <a:lnSpc>
                <a:spcPts val="2700"/>
              </a:lnSpc>
              <a:buNone/>
            </a:pPr>
            <a:r>
              <a:rPr lang="en-US" sz="2700" b="1" spc="-81" kern="0" dirty="0">
                <a:solidFill>
                  <a:srgbClr val="F5F5F7"/>
                </a:solidFill>
                <a:latin typeface="Liberation Sans Narrow" pitchFamily="34" charset="0"/>
                <a:ea typeface="Liberation Sans Narrow" pitchFamily="34" charset="-122"/>
                <a:cs typeface="Liberation Sans Narrow" pitchFamily="34" charset="-120"/>
              </a:rPr>
              <a:t>78</a:t>
            </a:r>
            <a:endParaRPr lang="en-US" sz="2700" dirty="0"/>
          </a:p>
        </p:txBody>
      </p:sp>
      <p:sp>
        <p:nvSpPr>
          <p:cNvPr id="13" name="Text 10"/>
          <p:cNvSpPr/>
          <p:nvPr/>
        </p:nvSpPr>
        <p:spPr>
          <a:xfrm>
            <a:off x="873100" y="2534245"/>
            <a:ext cx="785134"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71717A"/>
                </a:solidFill>
                <a:latin typeface="Liberation Sans Narrow" pitchFamily="34" charset="0"/>
                <a:ea typeface="Liberation Sans Narrow" pitchFamily="34" charset="-122"/>
                <a:cs typeface="Liberation Sans Narrow" pitchFamily="34" charset="-120"/>
              </a:rPr>
              <a:t>/ 100 · GOOD</a:t>
            </a:r>
            <a:endParaRPr lang="en-US" sz="800" dirty="0"/>
          </a:p>
        </p:txBody>
      </p:sp>
      <p:sp>
        <p:nvSpPr>
          <p:cNvPr id="14" name="Text 11"/>
          <p:cNvSpPr/>
          <p:nvPr/>
        </p:nvSpPr>
        <p:spPr>
          <a:xfrm>
            <a:off x="1893094" y="2057400"/>
            <a:ext cx="1176203" cy="558356"/>
          </a:xfrm>
          <a:prstGeom prst="rect">
            <a:avLst/>
          </a:prstGeom>
          <a:noFill/>
          <a:ln/>
        </p:spPr>
        <p:txBody>
          <a:bodyPr wrap="square" lIns="0" tIns="0" rIns="0" bIns="0" rtlCol="0" anchor="t">
            <a:normAutofit/>
          </a:bodyPr>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Blends </a:t>
            </a:r>
            <a:pPr algn="l" indent="0" marL="0">
              <a:lnSpc>
                <a:spcPts val="1013"/>
              </a:lnSpc>
              <a:buNone/>
            </a:pPr>
            <a:r>
              <a:rPr lang="en-US" sz="800" dirty="0">
                <a:solidFill>
                  <a:srgbClr val="F5F5F7"/>
                </a:solidFill>
                <a:latin typeface="Carlito" pitchFamily="34" charset="0"/>
                <a:ea typeface="Carlito" pitchFamily="34" charset="-122"/>
                <a:cs typeface="Carlito" pitchFamily="34" charset="-120"/>
              </a:rPr>
              <a:t>savings rate</a:t>
            </a:r>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 </a:t>
            </a:r>
            <a:pPr algn="l" indent="0" marL="0">
              <a:lnSpc>
                <a:spcPts val="1013"/>
              </a:lnSpc>
              <a:buNone/>
            </a:pPr>
            <a:r>
              <a:rPr lang="en-US" sz="800" dirty="0">
                <a:solidFill>
                  <a:srgbClr val="F5F5F7"/>
                </a:solidFill>
                <a:latin typeface="Carlito" pitchFamily="34" charset="0"/>
                <a:ea typeface="Carlito" pitchFamily="34" charset="-122"/>
                <a:cs typeface="Carlito" pitchFamily="34" charset="-120"/>
              </a:rPr>
              <a:t>debt ratio</a:t>
            </a:r>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 </a:t>
            </a:r>
            <a:pPr algn="l" indent="0" marL="0">
              <a:lnSpc>
                <a:spcPts val="1013"/>
              </a:lnSpc>
              <a:buNone/>
            </a:pPr>
            <a:r>
              <a:rPr lang="en-US" sz="800" dirty="0">
                <a:solidFill>
                  <a:srgbClr val="F5F5F7"/>
                </a:solidFill>
                <a:latin typeface="Carlito" pitchFamily="34" charset="0"/>
                <a:ea typeface="Carlito" pitchFamily="34" charset="-122"/>
                <a:cs typeface="Carlito" pitchFamily="34" charset="-120"/>
              </a:rPr>
              <a:t>emergency runway</a:t>
            </a:r>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 &amp; </a:t>
            </a:r>
            <a:pPr algn="l" indent="0" marL="0">
              <a:lnSpc>
                <a:spcPts val="1013"/>
              </a:lnSpc>
              <a:buNone/>
            </a:pPr>
            <a:r>
              <a:rPr lang="en-US" sz="800" dirty="0">
                <a:solidFill>
                  <a:srgbClr val="F5F5F7"/>
                </a:solidFill>
                <a:latin typeface="Carlito" pitchFamily="34" charset="0"/>
                <a:ea typeface="Carlito" pitchFamily="34" charset="-122"/>
                <a:cs typeface="Carlito" pitchFamily="34" charset="-120"/>
              </a:rPr>
              <a:t>consistency</a:t>
            </a:r>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 into one number.</a:t>
            </a:r>
            <a:endParaRPr lang="en-US" sz="800" dirty="0"/>
          </a:p>
        </p:txBody>
      </p:sp>
      <p:sp>
        <p:nvSpPr>
          <p:cNvPr id="15" name="Text 12"/>
          <p:cNvSpPr/>
          <p:nvPr/>
        </p:nvSpPr>
        <p:spPr>
          <a:xfrm>
            <a:off x="1893094" y="2643188"/>
            <a:ext cx="1109625" cy="164592"/>
          </a:xfrm>
          <a:prstGeom prst="rect">
            <a:avLst/>
          </a:prstGeom>
          <a:noFill/>
          <a:ln/>
        </p:spPr>
        <p:txBody>
          <a:bodyPr wrap="none" lIns="0" tIns="0" rIns="0" bIns="0" rtlCol="0" anchor="t"/>
          <a:lstStyle/>
          <a:p>
            <a:pPr algn="l" indent="0" marL="0">
              <a:lnSpc>
                <a:spcPts val="928"/>
              </a:lnSpc>
              <a:buNone/>
            </a:pPr>
            <a:r>
              <a:rPr lang="en-US" sz="800" dirty="0">
                <a:solidFill>
                  <a:srgbClr val="34D399"/>
                </a:solidFill>
                <a:latin typeface="Liberation Sans Narrow" pitchFamily="34" charset="0"/>
                <a:ea typeface="Liberation Sans Narrow" pitchFamily="34" charset="-122"/>
                <a:cs typeface="Liberation Sans Narrow" pitchFamily="34" charset="-120"/>
              </a:rPr>
              <a:t>▲ +6 vs. last month</a:t>
            </a:r>
            <a:endParaRPr lang="en-US" sz="800" dirty="0"/>
          </a:p>
        </p:txBody>
      </p:sp>
      <p:sp>
        <p:nvSpPr>
          <p:cNvPr id="16" name="Text 13"/>
          <p:cNvSpPr/>
          <p:nvPr/>
        </p:nvSpPr>
        <p:spPr>
          <a:xfrm>
            <a:off x="3242035" y="1289447"/>
            <a:ext cx="3355218" cy="2053828"/>
          </a:xfrm>
          <a:prstGeom prst="roundRect">
            <a:avLst>
              <a:gd name="adj" fmla="val 6493"/>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7" name="Text 14"/>
          <p:cNvSpPr/>
          <p:nvPr/>
        </p:nvSpPr>
        <p:spPr>
          <a:xfrm>
            <a:off x="3359907" y="1407319"/>
            <a:ext cx="1983696" cy="104727"/>
          </a:xfrm>
          <a:prstGeom prst="rect">
            <a:avLst/>
          </a:prstGeom>
          <a:noFill/>
          <a:ln/>
        </p:spPr>
        <p:txBody>
          <a:bodyPr wrap="square" lIns="0" tIns="0" rIns="0" bIns="0" rtlCol="0" anchor="t">
            <a:normAutofit/>
          </a:bodyPr>
          <a:lstStyle/>
          <a:p>
            <a:pPr algn="l" indent="0" marL="0">
              <a:lnSpc>
                <a:spcPts val="928"/>
              </a:lnSpc>
              <a:buNone/>
            </a:pPr>
            <a:r>
              <a:rPr lang="en-US" sz="800" spc="87" kern="0" dirty="0">
                <a:solidFill>
                  <a:srgbClr val="71717A"/>
                </a:solidFill>
                <a:latin typeface="Liberation Sans Narrow" pitchFamily="34" charset="0"/>
                <a:ea typeface="Liberation Sans Narrow" pitchFamily="34" charset="-122"/>
                <a:cs typeface="Liberation Sans Narrow" pitchFamily="34" charset="-120"/>
              </a:rPr>
              <a:t>CASH-FLOW FORECAST · 90 DAYS</a:t>
            </a:r>
            <a:endParaRPr lang="en-US" sz="800" dirty="0"/>
          </a:p>
        </p:txBody>
      </p:sp>
      <p:sp>
        <p:nvSpPr>
          <p:cNvPr id="18" name="Text 15"/>
          <p:cNvSpPr/>
          <p:nvPr/>
        </p:nvSpPr>
        <p:spPr>
          <a:xfrm>
            <a:off x="3359907" y="1539478"/>
            <a:ext cx="1918083" cy="185166"/>
          </a:xfrm>
          <a:prstGeom prst="rect">
            <a:avLst/>
          </a:prstGeom>
          <a:noFill/>
          <a:ln/>
        </p:spPr>
        <p:txBody>
          <a:bodyPr wrap="square" lIns="0" tIns="0" rIns="0" bIns="0" rtlCol="0" anchor="t"/>
          <a:lstStyle/>
          <a:p>
            <a:pPr algn="l" indent="0" marL="0">
              <a:lnSpc>
                <a:spcPts val="1350"/>
              </a:lnSpc>
              <a:buNone/>
            </a:pPr>
            <a:r>
              <a:rPr lang="en-US" sz="900" b="1" dirty="0">
                <a:solidFill>
                  <a:srgbClr val="F5F5F7"/>
                </a:solidFill>
                <a:latin typeface="Tinos" pitchFamily="34" charset="0"/>
                <a:ea typeface="Tinos" pitchFamily="34" charset="-122"/>
                <a:cs typeface="Tinos" pitchFamily="34" charset="-120"/>
              </a:rPr>
              <a:t>Holt-Winters exponential smoothing</a:t>
            </a:r>
            <a:endParaRPr lang="en-US" sz="900" dirty="0"/>
          </a:p>
        </p:txBody>
      </p:sp>
      <p:sp>
        <p:nvSpPr>
          <p:cNvPr id="19" name="Text 16"/>
          <p:cNvSpPr/>
          <p:nvPr/>
        </p:nvSpPr>
        <p:spPr>
          <a:xfrm>
            <a:off x="6350794" y="1494830"/>
            <a:ext cx="128588" cy="128588"/>
          </a:xfrm>
          <a:prstGeom prst="rect">
            <a:avLst/>
          </a:prstGeom>
          <a:noFill/>
          <a:ln/>
        </p:spPr>
        <p:txBody>
          <a:bodyPr wrap="none" lIns="0" tIns="0" rIns="0" bIns="0" rtlCol="0" anchor="ctr"/>
          <a:lstStyle/>
          <a:p>
            <a:pPr algn="ctr" indent="0" marL="0">
              <a:buNone/>
            </a:pPr>
            <a:r>
              <a:rPr lang="en-US" sz="1266" dirty="0">
                <a:solidFill>
                  <a:srgbClr val="818CF8"/>
                </a:solidFill>
                <a:latin typeface="Segoe UI Symbol" pitchFamily="34" charset="0"/>
                <a:ea typeface="Segoe UI Symbol" pitchFamily="34" charset="-122"/>
                <a:cs typeface="Segoe UI Symbol" pitchFamily="34" charset="-120"/>
              </a:rPr>
              <a:t>⌇</a:t>
            </a:r>
            <a:endParaRPr lang="en-US" sz="1266" dirty="0"/>
          </a:p>
        </p:txBody>
      </p:sp>
      <p:pic>
        <p:nvPicPr>
          <p:cNvPr id="20" name="Image 1" descr="preencoded.png">    </p:cNvPr>
          <p:cNvPicPr>
            <a:picLocks noChangeAspect="1"/>
          </p:cNvPicPr>
          <p:nvPr/>
        </p:nvPicPr>
        <p:blipFill>
          <a:blip r:embed="rId2"/>
          <a:stretch>
            <a:fillRect/>
          </a:stretch>
        </p:blipFill>
        <p:spPr>
          <a:xfrm>
            <a:off x="3359907" y="2247156"/>
            <a:ext cx="114300" cy="536897"/>
          </a:xfrm>
          <a:prstGeom prst="rect">
            <a:avLst/>
          </a:prstGeom>
        </p:spPr>
      </p:pic>
      <p:pic>
        <p:nvPicPr>
          <p:cNvPr id="21" name="Image 2" descr="preencoded.png">    </p:cNvPr>
          <p:cNvPicPr>
            <a:picLocks noChangeAspect="1"/>
          </p:cNvPicPr>
          <p:nvPr/>
        </p:nvPicPr>
        <p:blipFill>
          <a:blip r:embed="rId3"/>
          <a:stretch>
            <a:fillRect/>
          </a:stretch>
        </p:blipFill>
        <p:spPr>
          <a:xfrm>
            <a:off x="3517069" y="2170472"/>
            <a:ext cx="114300" cy="613581"/>
          </a:xfrm>
          <a:prstGeom prst="rect">
            <a:avLst/>
          </a:prstGeom>
        </p:spPr>
      </p:pic>
      <p:pic>
        <p:nvPicPr>
          <p:cNvPr id="22" name="Image 3" descr="preencoded.png">    </p:cNvPr>
          <p:cNvPicPr>
            <a:picLocks noChangeAspect="1"/>
          </p:cNvPicPr>
          <p:nvPr/>
        </p:nvPicPr>
        <p:blipFill>
          <a:blip r:embed="rId4"/>
          <a:stretch>
            <a:fillRect/>
          </a:stretch>
        </p:blipFill>
        <p:spPr>
          <a:xfrm>
            <a:off x="3674232" y="2323840"/>
            <a:ext cx="114300" cy="460214"/>
          </a:xfrm>
          <a:prstGeom prst="rect">
            <a:avLst/>
          </a:prstGeom>
        </p:spPr>
      </p:pic>
      <p:pic>
        <p:nvPicPr>
          <p:cNvPr id="23" name="Image 4" descr="preencoded.png">    </p:cNvPr>
          <p:cNvPicPr>
            <a:picLocks noChangeAspect="1"/>
          </p:cNvPicPr>
          <p:nvPr/>
        </p:nvPicPr>
        <p:blipFill>
          <a:blip r:embed="rId5"/>
          <a:stretch>
            <a:fillRect/>
          </a:stretch>
        </p:blipFill>
        <p:spPr>
          <a:xfrm>
            <a:off x="3831394" y="2093788"/>
            <a:ext cx="114300" cy="690265"/>
          </a:xfrm>
          <a:prstGeom prst="rect">
            <a:avLst/>
          </a:prstGeom>
        </p:spPr>
      </p:pic>
      <p:pic>
        <p:nvPicPr>
          <p:cNvPr id="24" name="Image 5" descr="preencoded.png">    </p:cNvPr>
          <p:cNvPicPr>
            <a:picLocks noChangeAspect="1"/>
          </p:cNvPicPr>
          <p:nvPr/>
        </p:nvPicPr>
        <p:blipFill>
          <a:blip r:embed="rId6"/>
          <a:stretch>
            <a:fillRect/>
          </a:stretch>
        </p:blipFill>
        <p:spPr>
          <a:xfrm>
            <a:off x="3988557" y="2208758"/>
            <a:ext cx="114300" cy="575295"/>
          </a:xfrm>
          <a:prstGeom prst="rect">
            <a:avLst/>
          </a:prstGeom>
        </p:spPr>
      </p:pic>
      <p:pic>
        <p:nvPicPr>
          <p:cNvPr id="25" name="Image 6" descr="preencoded.png">    </p:cNvPr>
          <p:cNvPicPr>
            <a:picLocks noChangeAspect="1"/>
          </p:cNvPicPr>
          <p:nvPr/>
        </p:nvPicPr>
        <p:blipFill>
          <a:blip r:embed="rId7"/>
          <a:stretch>
            <a:fillRect/>
          </a:stretch>
        </p:blipFill>
        <p:spPr>
          <a:xfrm>
            <a:off x="4145719" y="2016993"/>
            <a:ext cx="114300" cy="767060"/>
          </a:xfrm>
          <a:prstGeom prst="rect">
            <a:avLst/>
          </a:prstGeom>
        </p:spPr>
      </p:pic>
      <p:pic>
        <p:nvPicPr>
          <p:cNvPr id="26" name="Image 7" descr="preencoded.png">    </p:cNvPr>
          <p:cNvPicPr>
            <a:picLocks noChangeAspect="1"/>
          </p:cNvPicPr>
          <p:nvPr/>
        </p:nvPicPr>
        <p:blipFill>
          <a:blip r:embed="rId8"/>
          <a:stretch>
            <a:fillRect/>
          </a:stretch>
        </p:blipFill>
        <p:spPr>
          <a:xfrm>
            <a:off x="4302882" y="2132075"/>
            <a:ext cx="114300" cy="651979"/>
          </a:xfrm>
          <a:prstGeom prst="rect">
            <a:avLst/>
          </a:prstGeom>
        </p:spPr>
      </p:pic>
      <p:pic>
        <p:nvPicPr>
          <p:cNvPr id="27" name="Image 8" descr="preencoded.png">    </p:cNvPr>
          <p:cNvPicPr>
            <a:picLocks noChangeAspect="1"/>
          </p:cNvPicPr>
          <p:nvPr/>
        </p:nvPicPr>
        <p:blipFill>
          <a:blip r:embed="rId9"/>
          <a:stretch>
            <a:fillRect/>
          </a:stretch>
        </p:blipFill>
        <p:spPr>
          <a:xfrm>
            <a:off x="4460044" y="2055391"/>
            <a:ext cx="114300" cy="728663"/>
          </a:xfrm>
          <a:prstGeom prst="rect">
            <a:avLst/>
          </a:prstGeom>
        </p:spPr>
      </p:pic>
      <p:pic>
        <p:nvPicPr>
          <p:cNvPr id="28" name="Image 9" descr="preencoded.png">    </p:cNvPr>
          <p:cNvPicPr>
            <a:picLocks noChangeAspect="1"/>
          </p:cNvPicPr>
          <p:nvPr/>
        </p:nvPicPr>
        <p:blipFill>
          <a:blip r:embed="rId10"/>
          <a:stretch>
            <a:fillRect/>
          </a:stretch>
        </p:blipFill>
        <p:spPr>
          <a:xfrm>
            <a:off x="4617207" y="2112876"/>
            <a:ext cx="114300" cy="671178"/>
          </a:xfrm>
          <a:prstGeom prst="rect">
            <a:avLst/>
          </a:prstGeom>
        </p:spPr>
      </p:pic>
      <p:pic>
        <p:nvPicPr>
          <p:cNvPr id="29" name="Image 10" descr="preencoded.png">    </p:cNvPr>
          <p:cNvPicPr>
            <a:picLocks noChangeAspect="1"/>
          </p:cNvPicPr>
          <p:nvPr/>
        </p:nvPicPr>
        <p:blipFill>
          <a:blip r:embed="rId11">
            <a:alphaModFix amt="55000"/>
          </a:blip>
          <a:stretch>
            <a:fillRect/>
          </a:stretch>
        </p:blipFill>
        <p:spPr>
          <a:xfrm>
            <a:off x="4774369" y="1997906"/>
            <a:ext cx="114300" cy="786147"/>
          </a:xfrm>
          <a:prstGeom prst="rect">
            <a:avLst/>
          </a:prstGeom>
        </p:spPr>
      </p:pic>
      <p:pic>
        <p:nvPicPr>
          <p:cNvPr id="30" name="Image 11" descr="preencoded.png">    </p:cNvPr>
          <p:cNvPicPr>
            <a:picLocks noChangeAspect="1"/>
          </p:cNvPicPr>
          <p:nvPr/>
        </p:nvPicPr>
        <p:blipFill>
          <a:blip r:embed="rId12">
            <a:alphaModFix amt="55000"/>
          </a:blip>
          <a:stretch>
            <a:fillRect/>
          </a:stretch>
        </p:blipFill>
        <p:spPr>
          <a:xfrm>
            <a:off x="4931532" y="2074590"/>
            <a:ext cx="114300" cy="709464"/>
          </a:xfrm>
          <a:prstGeom prst="rect">
            <a:avLst/>
          </a:prstGeom>
        </p:spPr>
      </p:pic>
      <p:pic>
        <p:nvPicPr>
          <p:cNvPr id="31" name="Image 12" descr="preencoded.png">    </p:cNvPr>
          <p:cNvPicPr>
            <a:picLocks noChangeAspect="1"/>
          </p:cNvPicPr>
          <p:nvPr/>
        </p:nvPicPr>
        <p:blipFill>
          <a:blip r:embed="rId13">
            <a:alphaModFix amt="55000"/>
          </a:blip>
          <a:stretch>
            <a:fillRect/>
          </a:stretch>
        </p:blipFill>
        <p:spPr>
          <a:xfrm>
            <a:off x="5088694" y="1940309"/>
            <a:ext cx="114300" cy="843744"/>
          </a:xfrm>
          <a:prstGeom prst="rect">
            <a:avLst/>
          </a:prstGeom>
        </p:spPr>
      </p:pic>
      <p:pic>
        <p:nvPicPr>
          <p:cNvPr id="32" name="Image 13" descr="preencoded.png">    </p:cNvPr>
          <p:cNvPicPr>
            <a:picLocks noChangeAspect="1"/>
          </p:cNvPicPr>
          <p:nvPr/>
        </p:nvPicPr>
        <p:blipFill>
          <a:blip r:embed="rId14">
            <a:alphaModFix amt="70000"/>
          </a:blip>
          <a:stretch>
            <a:fillRect/>
          </a:stretch>
        </p:blipFill>
        <p:spPr>
          <a:xfrm>
            <a:off x="5245857" y="2189671"/>
            <a:ext cx="114300" cy="594382"/>
          </a:xfrm>
          <a:prstGeom prst="rect">
            <a:avLst/>
          </a:prstGeom>
        </p:spPr>
      </p:pic>
      <p:pic>
        <p:nvPicPr>
          <p:cNvPr id="33" name="Image 14" descr="preencoded.png">    </p:cNvPr>
          <p:cNvPicPr>
            <a:picLocks noChangeAspect="1"/>
          </p:cNvPicPr>
          <p:nvPr/>
        </p:nvPicPr>
        <p:blipFill>
          <a:blip r:embed="rId15">
            <a:alphaModFix amt="70000"/>
          </a:blip>
          <a:stretch>
            <a:fillRect/>
          </a:stretch>
        </p:blipFill>
        <p:spPr>
          <a:xfrm>
            <a:off x="5403019" y="2266355"/>
            <a:ext cx="114300" cy="517699"/>
          </a:xfrm>
          <a:prstGeom prst="rect">
            <a:avLst/>
          </a:prstGeom>
        </p:spPr>
      </p:pic>
      <p:pic>
        <p:nvPicPr>
          <p:cNvPr id="34" name="Image 15" descr="preencoded.png">    </p:cNvPr>
          <p:cNvPicPr>
            <a:picLocks noChangeAspect="1"/>
          </p:cNvPicPr>
          <p:nvPr/>
        </p:nvPicPr>
        <p:blipFill>
          <a:blip r:embed="rId16">
            <a:alphaModFix amt="80000"/>
          </a:blip>
          <a:stretch>
            <a:fillRect/>
          </a:stretch>
        </p:blipFill>
        <p:spPr>
          <a:xfrm>
            <a:off x="5560182" y="2419722"/>
            <a:ext cx="114300" cy="364331"/>
          </a:xfrm>
          <a:prstGeom prst="rect">
            <a:avLst/>
          </a:prstGeom>
        </p:spPr>
      </p:pic>
      <p:pic>
        <p:nvPicPr>
          <p:cNvPr id="35" name="Image 16" descr="preencoded.png">    </p:cNvPr>
          <p:cNvPicPr>
            <a:picLocks noChangeAspect="1"/>
          </p:cNvPicPr>
          <p:nvPr/>
        </p:nvPicPr>
        <p:blipFill>
          <a:blip r:embed="rId17">
            <a:alphaModFix amt="55000"/>
          </a:blip>
          <a:stretch>
            <a:fillRect/>
          </a:stretch>
        </p:blipFill>
        <p:spPr>
          <a:xfrm>
            <a:off x="5717344" y="2112876"/>
            <a:ext cx="114300" cy="671178"/>
          </a:xfrm>
          <a:prstGeom prst="rect">
            <a:avLst/>
          </a:prstGeom>
        </p:spPr>
      </p:pic>
      <p:pic>
        <p:nvPicPr>
          <p:cNvPr id="36" name="Image 17" descr="preencoded.png">    </p:cNvPr>
          <p:cNvPicPr>
            <a:picLocks noChangeAspect="1"/>
          </p:cNvPicPr>
          <p:nvPr/>
        </p:nvPicPr>
        <p:blipFill>
          <a:blip r:embed="rId18">
            <a:alphaModFix amt="55000"/>
          </a:blip>
          <a:stretch>
            <a:fillRect/>
          </a:stretch>
        </p:blipFill>
        <p:spPr>
          <a:xfrm>
            <a:off x="5874507" y="2055391"/>
            <a:ext cx="114300" cy="728663"/>
          </a:xfrm>
          <a:prstGeom prst="rect">
            <a:avLst/>
          </a:prstGeom>
        </p:spPr>
      </p:pic>
      <p:pic>
        <p:nvPicPr>
          <p:cNvPr id="37" name="Image 18" descr="preencoded.png">    </p:cNvPr>
          <p:cNvPicPr>
            <a:picLocks noChangeAspect="1"/>
          </p:cNvPicPr>
          <p:nvPr/>
        </p:nvPicPr>
        <p:blipFill>
          <a:blip r:embed="rId19">
            <a:alphaModFix amt="55000"/>
          </a:blip>
          <a:stretch>
            <a:fillRect/>
          </a:stretch>
        </p:blipFill>
        <p:spPr>
          <a:xfrm>
            <a:off x="6031669" y="2016993"/>
            <a:ext cx="114300" cy="767060"/>
          </a:xfrm>
          <a:prstGeom prst="rect">
            <a:avLst/>
          </a:prstGeom>
        </p:spPr>
      </p:pic>
      <p:sp>
        <p:nvSpPr>
          <p:cNvPr id="38" name="Text 17"/>
          <p:cNvSpPr/>
          <p:nvPr/>
        </p:nvSpPr>
        <p:spPr>
          <a:xfrm>
            <a:off x="3359907" y="2841203"/>
            <a:ext cx="1082836" cy="164592"/>
          </a:xfrm>
          <a:prstGeom prst="rect">
            <a:avLst/>
          </a:prstGeom>
          <a:noFill/>
          <a:ln/>
        </p:spPr>
        <p:txBody>
          <a:bodyPr wrap="square" lIns="0" tIns="0" rIns="0" bIns="0" rtlCol="0" anchor="t"/>
          <a:lstStyle/>
          <a:p>
            <a:pPr algn="l" indent="0" marL="0">
              <a:lnSpc>
                <a:spcPts val="844"/>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Day 0</a:t>
            </a:r>
            <a:endParaRPr lang="en-US" sz="800" dirty="0"/>
          </a:p>
        </p:txBody>
      </p:sp>
      <p:sp>
        <p:nvSpPr>
          <p:cNvPr id="39" name="Text 18"/>
          <p:cNvSpPr/>
          <p:nvPr/>
        </p:nvSpPr>
        <p:spPr>
          <a:xfrm>
            <a:off x="4457030" y="2841203"/>
            <a:ext cx="953802" cy="164592"/>
          </a:xfrm>
          <a:prstGeom prst="rect">
            <a:avLst/>
          </a:prstGeom>
          <a:noFill/>
          <a:ln/>
        </p:spPr>
        <p:txBody>
          <a:bodyPr wrap="square" lIns="0" tIns="0" rIns="0" bIns="0" rtlCol="0" anchor="t"/>
          <a:lstStyle/>
          <a:p>
            <a:pPr algn="l" indent="0" marL="0">
              <a:lnSpc>
                <a:spcPts val="844"/>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30</a:t>
            </a:r>
            <a:endParaRPr lang="en-US" sz="800" dirty="0"/>
          </a:p>
        </p:txBody>
      </p:sp>
      <p:sp>
        <p:nvSpPr>
          <p:cNvPr id="40" name="Text 19"/>
          <p:cNvSpPr/>
          <p:nvPr/>
        </p:nvSpPr>
        <p:spPr>
          <a:xfrm>
            <a:off x="5425120" y="2841203"/>
            <a:ext cx="953802" cy="164592"/>
          </a:xfrm>
          <a:prstGeom prst="rect">
            <a:avLst/>
          </a:prstGeom>
          <a:noFill/>
          <a:ln/>
        </p:spPr>
        <p:txBody>
          <a:bodyPr wrap="square" lIns="0" tIns="0" rIns="0" bIns="0" rtlCol="0" anchor="t"/>
          <a:lstStyle/>
          <a:p>
            <a:pPr algn="l" indent="0" marL="0">
              <a:lnSpc>
                <a:spcPts val="844"/>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60</a:t>
            </a:r>
            <a:endParaRPr lang="en-US" sz="800" dirty="0"/>
          </a:p>
        </p:txBody>
      </p:sp>
      <p:sp>
        <p:nvSpPr>
          <p:cNvPr id="41" name="Text 20"/>
          <p:cNvSpPr/>
          <p:nvPr/>
        </p:nvSpPr>
        <p:spPr>
          <a:xfrm>
            <a:off x="6369847" y="2841203"/>
            <a:ext cx="138166" cy="164592"/>
          </a:xfrm>
          <a:prstGeom prst="rect">
            <a:avLst/>
          </a:prstGeom>
          <a:noFill/>
          <a:ln/>
        </p:spPr>
        <p:txBody>
          <a:bodyPr wrap="none" lIns="0" tIns="0" rIns="0" bIns="0" rtlCol="0" anchor="t"/>
          <a:lstStyle/>
          <a:p>
            <a:pPr algn="l" indent="0" marL="0">
              <a:lnSpc>
                <a:spcPts val="844"/>
              </a:lnSpc>
              <a:buNone/>
            </a:pPr>
            <a:r>
              <a:rPr lang="en-US" sz="600" dirty="0">
                <a:solidFill>
                  <a:srgbClr val="71717A"/>
                </a:solidFill>
                <a:latin typeface="Liberation Sans Narrow" pitchFamily="34" charset="0"/>
                <a:ea typeface="Liberation Sans Narrow" pitchFamily="34" charset="-122"/>
                <a:cs typeface="Liberation Sans Narrow" pitchFamily="34" charset="-120"/>
              </a:rPr>
              <a:t>90</a:t>
            </a:r>
            <a:endParaRPr lang="en-US" sz="600" dirty="0"/>
          </a:p>
        </p:txBody>
      </p:sp>
      <p:sp>
        <p:nvSpPr>
          <p:cNvPr id="42" name="Text 21"/>
          <p:cNvSpPr/>
          <p:nvPr/>
        </p:nvSpPr>
        <p:spPr>
          <a:xfrm>
            <a:off x="3359907" y="3005510"/>
            <a:ext cx="3119475" cy="219894"/>
          </a:xfrm>
          <a:prstGeom prst="rect">
            <a:avLst/>
          </a:prstGeom>
          <a:noFill/>
          <a:ln/>
        </p:spPr>
        <p:txBody>
          <a:bodyPr wrap="square" lIns="0" tIns="0" rIns="0" bIns="0" rtlCol="0" anchor="t"/>
          <a:lstStyle/>
          <a:p>
            <a:pPr algn="l" indent="0" marL="0">
              <a:lnSpc>
                <a:spcPts val="866"/>
              </a:lnSpc>
              <a:buNone/>
            </a:pPr>
            <a:r>
              <a:rPr lang="en-US" sz="800" dirty="0">
                <a:solidFill>
                  <a:srgbClr val="A1A1AA"/>
                </a:solidFill>
                <a:latin typeface="Carlito" pitchFamily="34" charset="0"/>
                <a:ea typeface="Carlito" pitchFamily="34" charset="-122"/>
                <a:cs typeface="Carlito" pitchFamily="34" charset="-120"/>
              </a:rPr>
              <a:t>Captures trend + seasonality. Flags a likely shortfall on day 64 — agent pre-emptively suggests deferring a discretionary purchase.</a:t>
            </a:r>
            <a:endParaRPr lang="en-US" sz="800" dirty="0"/>
          </a:p>
        </p:txBody>
      </p:sp>
      <p:sp>
        <p:nvSpPr>
          <p:cNvPr id="43" name="Text 22"/>
          <p:cNvSpPr/>
          <p:nvPr/>
        </p:nvSpPr>
        <p:spPr>
          <a:xfrm>
            <a:off x="6718697" y="1289447"/>
            <a:ext cx="1964531" cy="2053828"/>
          </a:xfrm>
          <a:prstGeom prst="roundRect">
            <a:avLst>
              <a:gd name="adj" fmla="val 6788"/>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44" name="Text 23"/>
          <p:cNvSpPr/>
          <p:nvPr/>
        </p:nvSpPr>
        <p:spPr>
          <a:xfrm>
            <a:off x="6836569" y="1412677"/>
            <a:ext cx="1585913"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Liberation Sans Narrow" pitchFamily="34" charset="0"/>
                <a:ea typeface="Liberation Sans Narrow" pitchFamily="34" charset="-122"/>
                <a:cs typeface="Liberation Sans Narrow" pitchFamily="34" charset="-120"/>
              </a:rPr>
              <a:t>MONTE CARLO · 5-YR</a:t>
            </a:r>
            <a:endParaRPr lang="en-US" sz="800" dirty="0"/>
          </a:p>
        </p:txBody>
      </p:sp>
      <p:sp>
        <p:nvSpPr>
          <p:cNvPr id="45" name="Text 24"/>
          <p:cNvSpPr/>
          <p:nvPr/>
        </p:nvSpPr>
        <p:spPr>
          <a:xfrm>
            <a:off x="8436769" y="1407319"/>
            <a:ext cx="128588" cy="128588"/>
          </a:xfrm>
          <a:prstGeom prst="rect">
            <a:avLst/>
          </a:prstGeom>
          <a:noFill/>
          <a:ln/>
        </p:spPr>
        <p:txBody>
          <a:bodyPr wrap="none" lIns="0" tIns="0" rIns="0" bIns="0" rtlCol="0" anchor="ctr"/>
          <a:lstStyle/>
          <a:p>
            <a:pPr algn="ctr" indent="0" marL="0">
              <a:buNone/>
            </a:pPr>
            <a:r>
              <a:rPr lang="en-US" sz="1266" dirty="0">
                <a:solidFill>
                  <a:srgbClr val="34D399"/>
                </a:solidFill>
                <a:latin typeface="Segoe UI Symbol" pitchFamily="34" charset="0"/>
                <a:ea typeface="Segoe UI Symbol" pitchFamily="34" charset="-122"/>
                <a:cs typeface="Segoe UI Symbol" pitchFamily="34" charset="-120"/>
              </a:rPr>
              <a:t>⌇</a:t>
            </a:r>
            <a:endParaRPr lang="en-US" sz="1266" dirty="0"/>
          </a:p>
        </p:txBody>
      </p:sp>
      <p:pic>
        <p:nvPicPr>
          <p:cNvPr id="46" name="Image 19" descr="/tmp/h2p-svg-1792385358775-53y0ub.png">    </p:cNvPr>
          <p:cNvPicPr>
            <a:picLocks noChangeAspect="1"/>
          </p:cNvPicPr>
          <p:nvPr/>
        </p:nvPicPr>
        <p:blipFill>
          <a:blip r:embed="rId20"/>
          <a:stretch>
            <a:fillRect/>
          </a:stretch>
        </p:blipFill>
        <p:spPr>
          <a:xfrm>
            <a:off x="6836569" y="1714500"/>
            <a:ext cx="1728788" cy="857250"/>
          </a:xfrm>
          <a:prstGeom prst="rect">
            <a:avLst/>
          </a:prstGeom>
        </p:spPr>
      </p:pic>
      <p:sp>
        <p:nvSpPr>
          <p:cNvPr id="47" name="Text 25"/>
          <p:cNvSpPr/>
          <p:nvPr/>
        </p:nvSpPr>
        <p:spPr>
          <a:xfrm>
            <a:off x="6836569" y="2628900"/>
            <a:ext cx="1728787" cy="329756"/>
          </a:xfrm>
          <a:prstGeom prst="rect">
            <a:avLst/>
          </a:prstGeom>
          <a:noFill/>
          <a:ln/>
        </p:spPr>
        <p:txBody>
          <a:bodyPr wrap="none" lIns="0" tIns="0" rIns="0" bIns="0" rtlCol="0" anchor="t">
            <a:normAutofit/>
          </a:bodyPr>
          <a:lstStyle/>
          <a:p>
            <a:pPr algn="l" indent="0" marL="0">
              <a:lnSpc>
                <a:spcPts val="2700"/>
              </a:lnSpc>
              <a:buNone/>
            </a:pPr>
            <a:r>
              <a:rPr lang="en-US" sz="1800" b="1" spc="-54" kern="0" dirty="0">
                <a:solidFill>
                  <a:srgbClr val="F5F5F7"/>
                </a:solidFill>
                <a:latin typeface="Liberation Sans Narrow" pitchFamily="34" charset="0"/>
                <a:ea typeface="Liberation Sans Narrow" pitchFamily="34" charset="-122"/>
                <a:cs typeface="Liberation Sans Narrow" pitchFamily="34" charset="-120"/>
              </a:rPr>
              <a:t>5,000</a:t>
            </a:r>
            <a:endParaRPr lang="en-US" sz="1800" dirty="0"/>
          </a:p>
        </p:txBody>
      </p:sp>
      <p:sp>
        <p:nvSpPr>
          <p:cNvPr id="48" name="Text 26"/>
          <p:cNvSpPr/>
          <p:nvPr/>
        </p:nvSpPr>
        <p:spPr>
          <a:xfrm>
            <a:off x="6836569" y="2986088"/>
            <a:ext cx="1832515" cy="164592"/>
          </a:xfrm>
          <a:prstGeom prst="rect">
            <a:avLst/>
          </a:prstGeom>
          <a:noFill/>
          <a:ln/>
        </p:spPr>
        <p:txBody>
          <a:bodyPr wrap="square" lIns="0" tIns="0" rIns="0" bIns="0" rtlCol="0" anchor="t"/>
          <a:lstStyle/>
          <a:p>
            <a:pPr algn="l" indent="0" marL="0">
              <a:lnSpc>
                <a:spcPts val="928"/>
              </a:lnSpc>
              <a:buNone/>
            </a:pPr>
            <a:r>
              <a:rPr lang="en-US" sz="619" dirty="0">
                <a:solidFill>
                  <a:srgbClr val="A1A1AA"/>
                </a:solidFill>
                <a:latin typeface="Liberation Sans Narrow" pitchFamily="34" charset="0"/>
                <a:ea typeface="Liberation Sans Narrow" pitchFamily="34" charset="-122"/>
                <a:cs typeface="Liberation Sans Narrow" pitchFamily="34" charset="-120"/>
              </a:rPr>
              <a:t>simulated paths · P10–P90 envelope</a:t>
            </a:r>
            <a:endParaRPr lang="en-US" sz="619" dirty="0"/>
          </a:p>
        </p:txBody>
      </p:sp>
      <p:sp>
        <p:nvSpPr>
          <p:cNvPr id="49" name="Text 27"/>
          <p:cNvSpPr/>
          <p:nvPr/>
        </p:nvSpPr>
        <p:spPr>
          <a:xfrm>
            <a:off x="460772" y="3464719"/>
            <a:ext cx="4745794" cy="1103709"/>
          </a:xfrm>
          <a:prstGeom prst="roundRect">
            <a:avLst>
              <a:gd name="adj" fmla="val 12082"/>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50" name="Text 28"/>
          <p:cNvSpPr/>
          <p:nvPr/>
        </p:nvSpPr>
        <p:spPr>
          <a:xfrm>
            <a:off x="578644" y="3704034"/>
            <a:ext cx="4339432" cy="104727"/>
          </a:xfrm>
          <a:prstGeom prst="rect">
            <a:avLst/>
          </a:prstGeom>
          <a:noFill/>
          <a:ln/>
        </p:spPr>
        <p:txBody>
          <a:bodyPr wrap="none" lIns="0" tIns="0" rIns="0" bIns="0" rtlCol="0" anchor="t">
            <a:normAutofit/>
          </a:bodyPr>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WHAT-IF SCENARIO BUILDER</a:t>
            </a:r>
            <a:endParaRPr lang="en-US" sz="800" dirty="0"/>
          </a:p>
        </p:txBody>
      </p:sp>
      <p:sp>
        <p:nvSpPr>
          <p:cNvPr id="51" name="Text 29"/>
          <p:cNvSpPr/>
          <p:nvPr/>
        </p:nvSpPr>
        <p:spPr>
          <a:xfrm>
            <a:off x="578644" y="3836194"/>
            <a:ext cx="3878721" cy="208312"/>
          </a:xfrm>
          <a:prstGeom prst="rect">
            <a:avLst/>
          </a:prstGeom>
          <a:noFill/>
          <a:ln/>
        </p:spPr>
        <p:txBody>
          <a:bodyPr wrap="square" lIns="0" tIns="0" rIns="0" bIns="0" rtlCol="0" anchor="t"/>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Test a decision before you make it.</a:t>
            </a:r>
            <a:endParaRPr lang="en-US" sz="1013" dirty="0"/>
          </a:p>
        </p:txBody>
      </p:sp>
      <p:sp>
        <p:nvSpPr>
          <p:cNvPr id="52" name="Text 30"/>
          <p:cNvSpPr/>
          <p:nvPr/>
        </p:nvSpPr>
        <p:spPr>
          <a:xfrm>
            <a:off x="578644" y="4071938"/>
            <a:ext cx="3591409" cy="329184"/>
          </a:xfrm>
          <a:prstGeom prst="rect">
            <a:avLst/>
          </a:prstGeom>
          <a:noFill/>
          <a:ln/>
        </p:spPr>
        <p:txBody>
          <a:bodyPr wrap="square" lIns="0" tIns="0" rIns="0" bIns="0" rtlCol="0" anchor="t"/>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Adjust salary, recurring spend, savings rate, or one-off events. Health Score re-computes; forecast &amp; goal feasibility re-rank in real time.</a:t>
            </a:r>
            <a:endParaRPr lang="en-US" sz="800" dirty="0"/>
          </a:p>
        </p:txBody>
      </p:sp>
      <p:sp>
        <p:nvSpPr>
          <p:cNvPr id="53" name="Text 31"/>
          <p:cNvSpPr/>
          <p:nvPr/>
        </p:nvSpPr>
        <p:spPr>
          <a:xfrm>
            <a:off x="4224055" y="3850481"/>
            <a:ext cx="473988" cy="208312"/>
          </a:xfrm>
          <a:prstGeom prst="rect">
            <a:avLst/>
          </a:prstGeom>
          <a:noFill/>
          <a:ln/>
        </p:spPr>
        <p:txBody>
          <a:bodyPr wrap="none" lIns="0" tIns="0" rIns="0" bIns="0" rtlCol="0" anchor="t">
            <a:normAutofit/>
          </a:bodyPr>
          <a:lstStyle/>
          <a:p>
            <a:pPr algn="ctr" indent="0" marL="0">
              <a:lnSpc>
                <a:spcPts val="1856"/>
              </a:lnSpc>
              <a:buNone/>
            </a:pPr>
            <a:r>
              <a:rPr lang="en-US" sz="1238" b="1" dirty="0">
                <a:solidFill>
                  <a:srgbClr val="F43F5E"/>
                </a:solidFill>
                <a:latin typeface="Liberation Sans Narrow" pitchFamily="34" charset="0"/>
                <a:ea typeface="Liberation Sans Narrow" pitchFamily="34" charset="-122"/>
                <a:cs typeface="Liberation Sans Narrow" pitchFamily="34" charset="-120"/>
              </a:rPr>
              <a:t>62</a:t>
            </a:r>
            <a:endParaRPr lang="en-US" sz="1238" dirty="0"/>
          </a:p>
        </p:txBody>
      </p:sp>
      <p:sp>
        <p:nvSpPr>
          <p:cNvPr id="54" name="Text 32"/>
          <p:cNvSpPr/>
          <p:nvPr/>
        </p:nvSpPr>
        <p:spPr>
          <a:xfrm>
            <a:off x="4262080" y="4086225"/>
            <a:ext cx="397937" cy="164592"/>
          </a:xfrm>
          <a:prstGeom prst="rect">
            <a:avLst/>
          </a:prstGeom>
          <a:noFill/>
          <a:ln/>
        </p:spPr>
        <p:txBody>
          <a:bodyPr wrap="none" lIns="0" tIns="0" rIns="0" bIns="0" rtlCol="0" anchor="t"/>
          <a:lstStyle/>
          <a:p>
            <a:pPr algn="ctr" indent="0" marL="0">
              <a:lnSpc>
                <a:spcPts val="759"/>
              </a:lnSpc>
              <a:buNone/>
            </a:pPr>
            <a:r>
              <a:rPr lang="en-US" sz="600" spc="51" kern="0" dirty="0">
                <a:solidFill>
                  <a:srgbClr val="71717A"/>
                </a:solidFill>
                <a:latin typeface="Carlito" pitchFamily="34" charset="0"/>
                <a:ea typeface="Carlito" pitchFamily="34" charset="-122"/>
                <a:cs typeface="Carlito" pitchFamily="34" charset="-120"/>
              </a:rPr>
              <a:t>BEFORE</a:t>
            </a:r>
            <a:endParaRPr lang="en-US" sz="600" dirty="0"/>
          </a:p>
        </p:txBody>
      </p:sp>
      <p:sp>
        <p:nvSpPr>
          <p:cNvPr id="55" name="Text 33"/>
          <p:cNvSpPr/>
          <p:nvPr/>
        </p:nvSpPr>
        <p:spPr>
          <a:xfrm>
            <a:off x="4666320" y="3952280"/>
            <a:ext cx="128588" cy="128588"/>
          </a:xfrm>
          <a:prstGeom prst="rect">
            <a:avLst/>
          </a:prstGeom>
          <a:noFill/>
          <a:ln/>
        </p:spPr>
        <p:txBody>
          <a:bodyPr wrap="none" lIns="0" tIns="0" rIns="0" bIns="0" rtlCol="0" anchor="ctr"/>
          <a:lstStyle/>
          <a:p>
            <a:pPr algn="ctr" indent="0" marL="0">
              <a:buNone/>
            </a:pPr>
            <a:r>
              <a:rPr lang="en-US" sz="1266" dirty="0">
                <a:solidFill>
                  <a:srgbClr val="A1A1AA"/>
                </a:solidFill>
                <a:latin typeface="Segoe UI Symbol" pitchFamily="34" charset="0"/>
                <a:ea typeface="Segoe UI Symbol" pitchFamily="34" charset="-122"/>
                <a:cs typeface="Segoe UI Symbol" pitchFamily="34" charset="-120"/>
              </a:rPr>
              <a:t>→</a:t>
            </a:r>
            <a:endParaRPr lang="en-US" sz="1266" dirty="0"/>
          </a:p>
        </p:txBody>
      </p:sp>
      <p:sp>
        <p:nvSpPr>
          <p:cNvPr id="56" name="Text 34"/>
          <p:cNvSpPr/>
          <p:nvPr/>
        </p:nvSpPr>
        <p:spPr>
          <a:xfrm>
            <a:off x="4710075" y="3850481"/>
            <a:ext cx="378619" cy="208312"/>
          </a:xfrm>
          <a:prstGeom prst="rect">
            <a:avLst/>
          </a:prstGeom>
          <a:noFill/>
          <a:ln/>
        </p:spPr>
        <p:txBody>
          <a:bodyPr wrap="none" lIns="0" tIns="0" rIns="0" bIns="0" rtlCol="0" anchor="t">
            <a:normAutofit/>
          </a:bodyPr>
          <a:lstStyle/>
          <a:p>
            <a:pPr algn="ctr" indent="0" marL="0">
              <a:lnSpc>
                <a:spcPts val="1856"/>
              </a:lnSpc>
              <a:buNone/>
            </a:pPr>
            <a:r>
              <a:rPr lang="en-US" sz="1238" b="1" dirty="0">
                <a:solidFill>
                  <a:srgbClr val="34D399"/>
                </a:solidFill>
                <a:latin typeface="Liberation Sans Narrow" pitchFamily="34" charset="0"/>
                <a:ea typeface="Liberation Sans Narrow" pitchFamily="34" charset="-122"/>
                <a:cs typeface="Liberation Sans Narrow" pitchFamily="34" charset="-120"/>
              </a:rPr>
              <a:t>81</a:t>
            </a:r>
            <a:endParaRPr lang="en-US" sz="1238" dirty="0"/>
          </a:p>
        </p:txBody>
      </p:sp>
      <p:sp>
        <p:nvSpPr>
          <p:cNvPr id="57" name="Text 35"/>
          <p:cNvSpPr/>
          <p:nvPr/>
        </p:nvSpPr>
        <p:spPr>
          <a:xfrm>
            <a:off x="4695778" y="4086225"/>
            <a:ext cx="407213" cy="164592"/>
          </a:xfrm>
          <a:prstGeom prst="rect">
            <a:avLst/>
          </a:prstGeom>
          <a:noFill/>
          <a:ln/>
        </p:spPr>
        <p:txBody>
          <a:bodyPr wrap="square" lIns="0" tIns="0" rIns="0" bIns="0" rtlCol="0" anchor="t"/>
          <a:lstStyle/>
          <a:p>
            <a:pPr algn="ctr" indent="0" marL="0">
              <a:lnSpc>
                <a:spcPts val="759"/>
              </a:lnSpc>
              <a:buNone/>
            </a:pPr>
            <a:r>
              <a:rPr lang="en-US" sz="800" spc="51" kern="0" dirty="0">
                <a:solidFill>
                  <a:srgbClr val="71717A"/>
                </a:solidFill>
                <a:latin typeface="Carlito" pitchFamily="34" charset="0"/>
                <a:ea typeface="Carlito" pitchFamily="34" charset="-122"/>
                <a:cs typeface="Carlito" pitchFamily="34" charset="-120"/>
              </a:rPr>
              <a:t>AFTER</a:t>
            </a:r>
            <a:endParaRPr lang="en-US" sz="800" dirty="0"/>
          </a:p>
        </p:txBody>
      </p:sp>
      <p:sp>
        <p:nvSpPr>
          <p:cNvPr id="58" name="Text 36"/>
          <p:cNvSpPr/>
          <p:nvPr/>
        </p:nvSpPr>
        <p:spPr>
          <a:xfrm>
            <a:off x="5328010" y="3464719"/>
            <a:ext cx="3355218" cy="1103709"/>
          </a:xfrm>
          <a:prstGeom prst="roundRect">
            <a:avLst>
              <a:gd name="adj" fmla="val 12082"/>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59" name="Text 37"/>
          <p:cNvSpPr/>
          <p:nvPr/>
        </p:nvSpPr>
        <p:spPr>
          <a:xfrm>
            <a:off x="5445882" y="3740534"/>
            <a:ext cx="2893629" cy="104727"/>
          </a:xfrm>
          <a:prstGeom prst="rect">
            <a:avLst/>
          </a:prstGeom>
          <a:noFill/>
          <a:ln/>
        </p:spPr>
        <p:txBody>
          <a:bodyPr wrap="none" lIns="0" tIns="0" rIns="0" bIns="0" rtlCol="0" anchor="t">
            <a:normAutofit/>
          </a:bodyPr>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FINANCIAL STRESS INDEX</a:t>
            </a:r>
            <a:endParaRPr lang="en-US" sz="800" dirty="0"/>
          </a:p>
        </p:txBody>
      </p:sp>
      <p:sp>
        <p:nvSpPr>
          <p:cNvPr id="60" name="Text 38"/>
          <p:cNvSpPr/>
          <p:nvPr/>
        </p:nvSpPr>
        <p:spPr>
          <a:xfrm>
            <a:off x="5445882" y="3872694"/>
            <a:ext cx="2586417" cy="172593"/>
          </a:xfrm>
          <a:prstGeom prst="rect">
            <a:avLst/>
          </a:prstGeom>
          <a:noFill/>
          <a:ln/>
        </p:spPr>
        <p:txBody>
          <a:bodyPr wrap="square" lIns="0" tIns="0" rIns="0" bIns="0" rtlCol="0" anchor="t">
            <a:normAutofit/>
          </a:bodyPr>
          <a:lstStyle/>
          <a:p>
            <a:pPr algn="l" indent="0" marL="0">
              <a:lnSpc>
                <a:spcPts val="1350"/>
              </a:lnSpc>
              <a:buNone/>
            </a:pPr>
            <a:r>
              <a:rPr lang="en-US" sz="900" b="1" dirty="0">
                <a:solidFill>
                  <a:srgbClr val="F5F5F7"/>
                </a:solidFill>
                <a:latin typeface="Tinos" pitchFamily="34" charset="0"/>
                <a:ea typeface="Tinos" pitchFamily="34" charset="-122"/>
                <a:cs typeface="Tinos" pitchFamily="34" charset="-120"/>
              </a:rPr>
              <a:t>Cash runway · volatility · debt-service blend</a:t>
            </a:r>
            <a:endParaRPr lang="en-US" sz="900" dirty="0"/>
          </a:p>
        </p:txBody>
      </p:sp>
      <p:sp>
        <p:nvSpPr>
          <p:cNvPr id="61" name="Text 39"/>
          <p:cNvSpPr/>
          <p:nvPr/>
        </p:nvSpPr>
        <p:spPr>
          <a:xfrm>
            <a:off x="5445882" y="4072719"/>
            <a:ext cx="2394831" cy="307051"/>
          </a:xfrm>
          <a:prstGeom prst="rect">
            <a:avLst/>
          </a:prstGeom>
          <a:noFill/>
          <a:ln/>
        </p:spPr>
        <p:txBody>
          <a:bodyPr wrap="square" lIns="0" tIns="0" rIns="0" bIns="0" rtlCol="0" anchor="t"/>
          <a:lstStyle/>
          <a:p>
            <a:pPr algn="l" indent="0" marL="0">
              <a:lnSpc>
                <a:spcPts val="866"/>
              </a:lnSpc>
              <a:buNone/>
            </a:pPr>
            <a:r>
              <a:rPr lang="en-US" sz="800" dirty="0">
                <a:solidFill>
                  <a:srgbClr val="A1A1AA"/>
                </a:solidFill>
                <a:latin typeface="Carlito" pitchFamily="34" charset="0"/>
                <a:ea typeface="Carlito" pitchFamily="34" charset="-122"/>
                <a:cs typeface="Carlito" pitchFamily="34" charset="-120"/>
              </a:rPr>
              <a:t>Tracks weekly. Spikes when runway drops below 30 days or spending variance exceeds 2σ.</a:t>
            </a:r>
            <a:endParaRPr lang="en-US" sz="800" dirty="0"/>
          </a:p>
        </p:txBody>
      </p:sp>
      <p:sp>
        <p:nvSpPr>
          <p:cNvPr id="62" name="Text 40"/>
          <p:cNvSpPr/>
          <p:nvPr/>
        </p:nvSpPr>
        <p:spPr>
          <a:xfrm>
            <a:off x="7601013" y="3814763"/>
            <a:ext cx="964344" cy="258318"/>
          </a:xfrm>
          <a:prstGeom prst="rect">
            <a:avLst/>
          </a:prstGeom>
          <a:noFill/>
          <a:ln/>
        </p:spPr>
        <p:txBody>
          <a:bodyPr wrap="none" lIns="0" tIns="0" rIns="0" bIns="0" rtlCol="0" anchor="t">
            <a:normAutofit/>
          </a:bodyPr>
          <a:lstStyle/>
          <a:p>
            <a:pPr algn="r" indent="0" marL="0">
              <a:lnSpc>
                <a:spcPts val="2138"/>
              </a:lnSpc>
              <a:buNone/>
            </a:pPr>
            <a:r>
              <a:rPr lang="en-US" sz="2138" b="1" dirty="0">
                <a:solidFill>
                  <a:srgbClr val="34D399"/>
                </a:solidFill>
                <a:latin typeface="Carlito" pitchFamily="34" charset="0"/>
                <a:ea typeface="Carlito" pitchFamily="34" charset="-122"/>
                <a:cs typeface="Carlito" pitchFamily="34" charset="-120"/>
              </a:rPr>
              <a:t>Low</a:t>
            </a:r>
            <a:endParaRPr lang="en-US" sz="2138" dirty="0"/>
          </a:p>
        </p:txBody>
      </p:sp>
      <p:sp>
        <p:nvSpPr>
          <p:cNvPr id="63" name="Text 41"/>
          <p:cNvSpPr/>
          <p:nvPr/>
        </p:nvSpPr>
        <p:spPr>
          <a:xfrm>
            <a:off x="7850033" y="4100513"/>
            <a:ext cx="715323" cy="164592"/>
          </a:xfrm>
          <a:prstGeom prst="rect">
            <a:avLst/>
          </a:prstGeom>
          <a:noFill/>
          <a:ln/>
        </p:spPr>
        <p:txBody>
          <a:bodyPr wrap="none" lIns="0" tIns="0" rIns="0" bIns="0" rtlCol="0" anchor="t"/>
          <a:lstStyle/>
          <a:p>
            <a:pPr algn="r" indent="0" marL="0">
              <a:lnSpc>
                <a:spcPts val="928"/>
              </a:lnSpc>
              <a:buNone/>
            </a:pPr>
            <a:r>
              <a:rPr lang="en-US" sz="619" dirty="0">
                <a:solidFill>
                  <a:srgbClr val="71717A"/>
                </a:solidFill>
                <a:latin typeface="Liberation Sans Narrow" pitchFamily="34" charset="0"/>
                <a:ea typeface="Liberation Sans Narrow" pitchFamily="34" charset="-122"/>
                <a:cs typeface="Liberation Sans Narrow" pitchFamily="34" charset="-120"/>
              </a:rPr>
              <a:t>Index 24 / 100</a:t>
            </a:r>
            <a:endParaRPr lang="en-US" sz="619" dirty="0"/>
          </a:p>
        </p:txBody>
      </p:sp>
      <p:sp>
        <p:nvSpPr>
          <p:cNvPr id="64" name="Text 42"/>
          <p:cNvSpPr/>
          <p:nvPr/>
        </p:nvSpPr>
        <p:spPr>
          <a:xfrm>
            <a:off x="457200" y="4861322"/>
            <a:ext cx="42863" cy="42863"/>
          </a:xfrm>
          <a:prstGeom prst="roundRect">
            <a:avLst>
              <a:gd name="adj" fmla="val 22199741"/>
            </a:avLst>
          </a:prstGeom>
          <a:solidFill>
            <a:srgbClr val="6366F1"/>
          </a:solidFill>
          <a:ln/>
        </p:spPr>
        <p:txBody>
          <a:bodyPr wrap="square" rtlCol="0" anchor="ctr"/>
          <a:lstStyle/>
          <a:p>
            <a:pPr indent="0" marL="0">
              <a:buNone/>
            </a:pPr>
            <a:endParaRPr lang="en-US" dirty="0"/>
          </a:p>
        </p:txBody>
      </p:sp>
      <p:sp>
        <p:nvSpPr>
          <p:cNvPr id="65" name="Text 43"/>
          <p:cNvSpPr/>
          <p:nvPr/>
        </p:nvSpPr>
        <p:spPr>
          <a:xfrm>
            <a:off x="457200" y="4814888"/>
            <a:ext cx="786571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Carlito" pitchFamily="34" charset="0"/>
                <a:ea typeface="Carlito" pitchFamily="34" charset="-122"/>
                <a:cs typeface="Carlito" pitchFamily="34" charset="-120"/>
              </a:rPr>
              <a:t>FINWISE · TOPIC A</a:t>
            </a:r>
            <a:endParaRPr lang="en-US" sz="800" dirty="0"/>
          </a:p>
        </p:txBody>
      </p:sp>
      <p:sp>
        <p:nvSpPr>
          <p:cNvPr id="66" name="Text 44"/>
          <p:cNvSpPr/>
          <p:nvPr/>
        </p:nvSpPr>
        <p:spPr>
          <a:xfrm>
            <a:off x="8337203" y="4814888"/>
            <a:ext cx="499050"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Liberation Sans Narrow" pitchFamily="34" charset="0"/>
                <a:ea typeface="Liberation Sans Narrow" pitchFamily="34" charset="-122"/>
                <a:cs typeface="Liberation Sans Narrow" pitchFamily="34" charset="-120"/>
              </a:rPr>
              <a:t>07 /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45174"/>
            <a:ext cx="1251272" cy="224028"/>
          </a:xfrm>
          <a:prstGeom prst="roundRect">
            <a:avLst>
              <a:gd name="adj" fmla="val 4247449"/>
            </a:avLst>
          </a:prstGeom>
          <a:solidFill>
            <a:srgbClr val="10B981">
              <a:alpha val="12000"/>
            </a:srgbClr>
          </a:solidFill>
          <a:ln w="7144">
            <a:solidFill>
              <a:srgbClr val="10B981"/>
            </a:solidFill>
            <a:prstDash val="solid"/>
          </a:ln>
        </p:spPr>
        <p:txBody>
          <a:bodyPr wrap="square" rtlCol="0" anchor="ctr"/>
          <a:lstStyle/>
          <a:p>
            <a:pPr indent="0" marL="0">
              <a:buNone/>
            </a:pPr>
            <a:endParaRPr lang="en-US" dirty="0"/>
          </a:p>
        </p:txBody>
      </p:sp>
      <p:sp>
        <p:nvSpPr>
          <p:cNvPr id="3" name="Text 1"/>
          <p:cNvSpPr/>
          <p:nvPr/>
        </p:nvSpPr>
        <p:spPr>
          <a:xfrm>
            <a:off x="457200" y="257175"/>
            <a:ext cx="1251272"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34D399"/>
                </a:solidFill>
                <a:latin typeface="Liberation Sans Narrow" pitchFamily="34" charset="0"/>
                <a:ea typeface="Liberation Sans Narrow" pitchFamily="34" charset="-122"/>
                <a:cs typeface="Liberation Sans Narrow" pitchFamily="34" charset="-120"/>
              </a:rPr>
              <a:t>08 · INNOVATION LAB</a:t>
            </a:r>
            <a:endParaRPr lang="en-US" sz="800" dirty="0"/>
          </a:p>
        </p:txBody>
      </p:sp>
      <p:sp>
        <p:nvSpPr>
          <p:cNvPr id="4" name="Text 2"/>
          <p:cNvSpPr/>
          <p:nvPr/>
        </p:nvSpPr>
        <p:spPr>
          <a:xfrm>
            <a:off x="1794197" y="292894"/>
            <a:ext cx="2765091"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5 NOVEL FEATURES · BUILT ONLY BY FINWISE</a:t>
            </a:r>
            <a:endParaRPr lang="en-US" sz="800" dirty="0"/>
          </a:p>
        </p:txBody>
      </p:sp>
      <p:sp>
        <p:nvSpPr>
          <p:cNvPr id="5" name="Text 3"/>
          <p:cNvSpPr/>
          <p:nvPr/>
        </p:nvSpPr>
        <p:spPr>
          <a:xfrm>
            <a:off x="6276231" y="292894"/>
            <a:ext cx="2788573"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FINWISE · PERSONAL FINANCE INTELLIGENCE</a:t>
            </a:r>
            <a:endParaRPr lang="en-US" sz="800" dirty="0"/>
          </a:p>
        </p:txBody>
      </p:sp>
      <p:sp>
        <p:nvSpPr>
          <p:cNvPr id="6" name="Text 4"/>
          <p:cNvSpPr/>
          <p:nvPr/>
        </p:nvSpPr>
        <p:spPr>
          <a:xfrm>
            <a:off x="457200" y="557213"/>
            <a:ext cx="6433418" cy="158306"/>
          </a:xfrm>
          <a:prstGeom prst="rect">
            <a:avLst/>
          </a:prstGeom>
          <a:noFill/>
          <a:ln/>
        </p:spPr>
        <p:txBody>
          <a:bodyPr wrap="none" lIns="0" tIns="0" rIns="0" bIns="0" rtlCol="0" anchor="t">
            <a:normAutofit/>
          </a:bodyPr>
          <a:lstStyle/>
          <a:p>
            <a:pPr algn="l" indent="0" marL="0">
              <a:lnSpc>
                <a:spcPts val="1013"/>
              </a:lnSpc>
              <a:buNone/>
            </a:pPr>
            <a:r>
              <a:rPr lang="en-US" sz="800" spc="122" kern="0" dirty="0">
                <a:solidFill>
                  <a:srgbClr val="34D399"/>
                </a:solidFill>
                <a:latin typeface="Courier New" pitchFamily="34" charset="0"/>
                <a:ea typeface="Courier New" pitchFamily="34" charset="-122"/>
                <a:cs typeface="Courier New" pitchFamily="34" charset="-120"/>
              </a:rPr>
              <a:t>INNOVATION LAB</a:t>
            </a:r>
            <a:endParaRPr lang="en-US" sz="800" dirty="0"/>
          </a:p>
        </p:txBody>
      </p:sp>
      <p:sp>
        <p:nvSpPr>
          <p:cNvPr id="7" name="Text 5"/>
          <p:cNvSpPr/>
          <p:nvPr/>
        </p:nvSpPr>
        <p:spPr>
          <a:xfrm>
            <a:off x="457200" y="742950"/>
            <a:ext cx="5345490" cy="324041"/>
          </a:xfrm>
          <a:prstGeom prst="rect">
            <a:avLst/>
          </a:prstGeom>
          <a:noFill/>
          <a:ln/>
        </p:spPr>
        <p:txBody>
          <a:bodyPr wrap="square" lIns="0" tIns="0" rIns="0" bIns="0" rtlCol="0" anchor="t"/>
          <a:lstStyle/>
          <a:p>
            <a:pPr algn="l" indent="0" marL="0">
              <a:lnSpc>
                <a:spcPts val="2363"/>
              </a:lnSpc>
              <a:buNone/>
            </a:pPr>
            <a:r>
              <a:rPr lang="en-US" sz="2250" b="1" spc="-56" kern="0" dirty="0">
                <a:solidFill>
                  <a:srgbClr val="FFFFFF"/>
                </a:solidFill>
                <a:latin typeface="Tinos" pitchFamily="34" charset="0"/>
                <a:ea typeface="Tinos" pitchFamily="34" charset="-122"/>
                <a:cs typeface="Tinos" pitchFamily="34" charset="-120"/>
              </a:rPr>
              <a:t>Five features you won't find </a:t>
            </a:r>
            <a:pPr algn="l" indent="0" marL="0">
              <a:lnSpc>
                <a:spcPts val="2363"/>
              </a:lnSpc>
              <a:buNone/>
            </a:pPr>
            <a:r>
              <a:rPr lang="en-US" sz="2250" b="1" i="1" spc="-56" kern="0" dirty="0">
                <a:solidFill>
                  <a:srgbClr val="34D399"/>
                </a:solidFill>
                <a:latin typeface="Tinos" pitchFamily="34" charset="0"/>
                <a:ea typeface="Tinos" pitchFamily="34" charset="-122"/>
                <a:cs typeface="Tinos" pitchFamily="34" charset="-120"/>
              </a:rPr>
              <a:t>anywhere else.</a:t>
            </a:r>
            <a:endParaRPr lang="en-US" sz="2250" dirty="0"/>
          </a:p>
        </p:txBody>
      </p:sp>
      <p:sp>
        <p:nvSpPr>
          <p:cNvPr id="8" name="Text 6"/>
          <p:cNvSpPr/>
          <p:nvPr/>
        </p:nvSpPr>
        <p:spPr>
          <a:xfrm>
            <a:off x="6686550" y="785813"/>
            <a:ext cx="2000250" cy="329184"/>
          </a:xfrm>
          <a:prstGeom prst="rect">
            <a:avLst/>
          </a:prstGeom>
          <a:noFill/>
          <a:ln/>
        </p:spPr>
        <p:txBody>
          <a:bodyPr wrap="square" lIns="0" tIns="0" rIns="0" bIns="0" rtlCol="0" anchor="t"/>
          <a:lstStyle/>
          <a:p>
            <a:pPr algn="r" indent="0" marL="0">
              <a:lnSpc>
                <a:spcPts val="1013"/>
              </a:lnSpc>
              <a:buNone/>
            </a:pPr>
            <a:r>
              <a:rPr lang="en-US" sz="800" dirty="0">
                <a:solidFill>
                  <a:srgbClr val="A1A1AA"/>
                </a:solidFill>
                <a:latin typeface="Carlito" pitchFamily="34" charset="0"/>
                <a:ea typeface="Carlito" pitchFamily="34" charset="-122"/>
                <a:cs typeface="Carlito" pitchFamily="34" charset="-120"/>
              </a:rPr>
              <a:t>Each goes beyond dashboards into behavioral and probabilistic finance.</a:t>
            </a:r>
            <a:endParaRPr lang="en-US" sz="800" dirty="0"/>
          </a:p>
        </p:txBody>
      </p:sp>
      <p:sp>
        <p:nvSpPr>
          <p:cNvPr id="9" name="Text 7"/>
          <p:cNvSpPr/>
          <p:nvPr/>
        </p:nvSpPr>
        <p:spPr>
          <a:xfrm>
            <a:off x="460772" y="1432322"/>
            <a:ext cx="2659819" cy="1507331"/>
          </a:xfrm>
          <a:prstGeom prst="roundRect">
            <a:avLst>
              <a:gd name="adj" fmla="val 8847"/>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0" name="Text 8"/>
          <p:cNvSpPr/>
          <p:nvPr/>
        </p:nvSpPr>
        <p:spPr>
          <a:xfrm>
            <a:off x="2619747" y="1507331"/>
            <a:ext cx="382972" cy="164592"/>
          </a:xfrm>
          <a:prstGeom prst="rect">
            <a:avLst/>
          </a:prstGeom>
          <a:noFill/>
          <a:ln/>
        </p:spPr>
        <p:txBody>
          <a:bodyPr wrap="none" lIns="0" tIns="0" rIns="0" bIns="0" rtlCol="0" anchor="t"/>
          <a:lstStyle/>
          <a:p>
            <a:pPr algn="l" indent="0" marL="0">
              <a:lnSpc>
                <a:spcPts val="928"/>
              </a:lnSpc>
              <a:buNone/>
            </a:pPr>
            <a:r>
              <a:rPr lang="en-US" sz="619" spc="74" kern="0" dirty="0">
                <a:solidFill>
                  <a:srgbClr val="71717A"/>
                </a:solidFill>
                <a:latin typeface="Liberation Sans Narrow" pitchFamily="34" charset="0"/>
                <a:ea typeface="Liberation Sans Narrow" pitchFamily="34" charset="-122"/>
                <a:cs typeface="Liberation Sans Narrow" pitchFamily="34" charset="-120"/>
              </a:rPr>
              <a:t>01 / 05</a:t>
            </a:r>
            <a:endParaRPr lang="en-US" sz="619" dirty="0"/>
          </a:p>
        </p:txBody>
      </p:sp>
      <p:sp>
        <p:nvSpPr>
          <p:cNvPr id="11" name="Text 9"/>
          <p:cNvSpPr/>
          <p:nvPr/>
        </p:nvSpPr>
        <p:spPr>
          <a:xfrm>
            <a:off x="582216" y="1539478"/>
            <a:ext cx="250031" cy="250031"/>
          </a:xfrm>
          <a:prstGeom prst="roundRect">
            <a:avLst>
              <a:gd name="adj" fmla="val 38095"/>
            </a:avLst>
          </a:prstGeom>
          <a:solidFill>
            <a:srgbClr val="6366F1">
              <a:alpha val="14000"/>
            </a:srgbClr>
          </a:solidFill>
          <a:ln w="7144">
            <a:solidFill>
              <a:srgbClr val="6366F1"/>
            </a:solidFill>
            <a:prstDash val="solid"/>
          </a:ln>
        </p:spPr>
        <p:txBody>
          <a:bodyPr wrap="square" rtlCol="0" anchor="ctr"/>
          <a:lstStyle/>
          <a:p>
            <a:pPr indent="0" marL="0">
              <a:buNone/>
            </a:pPr>
            <a:endParaRPr lang="en-US" dirty="0"/>
          </a:p>
        </p:txBody>
      </p:sp>
      <p:sp>
        <p:nvSpPr>
          <p:cNvPr id="12" name="Text 10"/>
          <p:cNvSpPr/>
          <p:nvPr/>
        </p:nvSpPr>
        <p:spPr>
          <a:xfrm>
            <a:off x="603647" y="1560909"/>
            <a:ext cx="207169" cy="207169"/>
          </a:xfrm>
          <a:prstGeom prst="rect">
            <a:avLst/>
          </a:prstGeom>
          <a:noFill/>
          <a:ln/>
        </p:spPr>
        <p:txBody>
          <a:bodyPr wrap="none" lIns="0" tIns="0" rIns="0" bIns="0" rtlCol="0" anchor="ctr"/>
          <a:lstStyle/>
          <a:p>
            <a:pPr algn="ctr" indent="0" marL="0">
              <a:buNone/>
            </a:pPr>
            <a:r>
              <a:rPr lang="en-US" sz="1406" dirty="0">
                <a:solidFill>
                  <a:srgbClr val="818CF8"/>
                </a:solidFill>
                <a:latin typeface="Segoe UI Symbol" pitchFamily="34" charset="0"/>
                <a:ea typeface="Segoe UI Symbol" pitchFamily="34" charset="-122"/>
                <a:cs typeface="Segoe UI Symbol" pitchFamily="34" charset="-120"/>
              </a:rPr>
              <a:t>⎙</a:t>
            </a:r>
            <a:endParaRPr lang="en-US" sz="1406" dirty="0"/>
          </a:p>
        </p:txBody>
      </p:sp>
      <p:sp>
        <p:nvSpPr>
          <p:cNvPr id="13" name="Text 11"/>
          <p:cNvSpPr/>
          <p:nvPr/>
        </p:nvSpPr>
        <p:spPr>
          <a:xfrm>
            <a:off x="578644" y="1864519"/>
            <a:ext cx="2533803" cy="150809"/>
          </a:xfrm>
          <a:prstGeom prst="rect">
            <a:avLst/>
          </a:prstGeom>
          <a:noFill/>
          <a:ln/>
        </p:spPr>
        <p:txBody>
          <a:bodyPr wrap="square" lIns="0" tIns="0" rIns="0" bIns="0" rtlCol="0" anchor="t"/>
          <a:lstStyle/>
          <a:p>
            <a:pPr algn="l" indent="0" marL="0">
              <a:lnSpc>
                <a:spcPts val="1100"/>
              </a:lnSpc>
              <a:buNone/>
            </a:pPr>
            <a:r>
              <a:rPr lang="en-US" sz="956" b="1" dirty="0">
                <a:solidFill>
                  <a:srgbClr val="F5F5F7"/>
                </a:solidFill>
                <a:latin typeface="Tinos" pitchFamily="34" charset="0"/>
                <a:ea typeface="Tinos" pitchFamily="34" charset="-122"/>
                <a:cs typeface="Tinos" pitchFamily="34" charset="-120"/>
              </a:rPr>
              <a:t>Financial Personality DNA</a:t>
            </a:r>
            <a:endParaRPr lang="en-US" sz="956" dirty="0"/>
          </a:p>
        </p:txBody>
      </p:sp>
      <p:sp>
        <p:nvSpPr>
          <p:cNvPr id="14" name="Text 12"/>
          <p:cNvSpPr/>
          <p:nvPr/>
        </p:nvSpPr>
        <p:spPr>
          <a:xfrm>
            <a:off x="578644" y="2047019"/>
            <a:ext cx="2424075" cy="386571"/>
          </a:xfrm>
          <a:prstGeom prst="rect">
            <a:avLst/>
          </a:prstGeom>
          <a:noFill/>
          <a:ln/>
        </p:spPr>
        <p:txBody>
          <a:bodyPr wrap="square" lIns="0" tIns="0" rIns="0" bIns="0" rtlCol="0" anchor="t">
            <a:normAutofit/>
          </a:bodyPr>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Clusters your behavior into a 4-axis profile: Saver ↔ Spender, Planner ↔ Spontaneous, Cautious ↔ Bold, Steady ↔ Volatile.</a:t>
            </a:r>
            <a:endParaRPr lang="en-US" sz="800" dirty="0"/>
          </a:p>
        </p:txBody>
      </p:sp>
      <p:sp>
        <p:nvSpPr>
          <p:cNvPr id="15" name="Text 13"/>
          <p:cNvSpPr/>
          <p:nvPr/>
        </p:nvSpPr>
        <p:spPr>
          <a:xfrm>
            <a:off x="578644" y="2489597"/>
            <a:ext cx="541782" cy="164592"/>
          </a:xfrm>
          <a:prstGeom prst="rect">
            <a:avLst/>
          </a:prstGeom>
          <a:noFill/>
          <a:ln/>
        </p:spPr>
        <p:txBody>
          <a:bodyPr wrap="none" lIns="0" tIns="0" rIns="0" bIns="0" rtlCol="0" anchor="t"/>
          <a:lstStyle/>
          <a:p>
            <a:pPr algn="l" indent="0" marL="0">
              <a:lnSpc>
                <a:spcPts val="759"/>
              </a:lnSpc>
              <a:buNone/>
            </a:pPr>
            <a:r>
              <a:rPr lang="en-US" sz="800" dirty="0">
                <a:solidFill>
                  <a:srgbClr val="A1A1AA"/>
                </a:solidFill>
                <a:latin typeface="Courier New" pitchFamily="34" charset="0"/>
                <a:ea typeface="Courier New" pitchFamily="34" charset="-122"/>
                <a:cs typeface="Courier New" pitchFamily="34" charset="-120"/>
              </a:rPr>
              <a:t>SAVER</a:t>
            </a:r>
            <a:endParaRPr lang="en-US" sz="800" dirty="0"/>
          </a:p>
        </p:txBody>
      </p:sp>
      <p:pic>
        <p:nvPicPr>
          <p:cNvPr id="16" name="Image 0" descr="preencoded.png">    </p:cNvPr>
          <p:cNvPicPr>
            <a:picLocks noChangeAspect="1"/>
          </p:cNvPicPr>
          <p:nvPr/>
        </p:nvPicPr>
        <p:blipFill>
          <a:blip r:embed="rId1"/>
          <a:stretch>
            <a:fillRect/>
          </a:stretch>
        </p:blipFill>
        <p:spPr>
          <a:xfrm>
            <a:off x="964406" y="2523530"/>
            <a:ext cx="1745307" cy="28575"/>
          </a:xfrm>
          <a:prstGeom prst="rect">
            <a:avLst/>
          </a:prstGeom>
        </p:spPr>
      </p:pic>
      <p:sp>
        <p:nvSpPr>
          <p:cNvPr id="17" name="Text 14"/>
          <p:cNvSpPr/>
          <p:nvPr/>
        </p:nvSpPr>
        <p:spPr>
          <a:xfrm>
            <a:off x="2752576" y="2489597"/>
            <a:ext cx="250143" cy="164592"/>
          </a:xfrm>
          <a:prstGeom prst="rect">
            <a:avLst/>
          </a:prstGeom>
          <a:noFill/>
          <a:ln/>
        </p:spPr>
        <p:txBody>
          <a:bodyPr wrap="square" lIns="0" tIns="0" rIns="0" bIns="0" rtlCol="0" anchor="t"/>
          <a:lstStyle/>
          <a:p>
            <a:pPr algn="l" indent="0" marL="0">
              <a:lnSpc>
                <a:spcPts val="759"/>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72</a:t>
            </a:r>
            <a:endParaRPr lang="en-US" sz="800" dirty="0"/>
          </a:p>
        </p:txBody>
      </p:sp>
      <p:sp>
        <p:nvSpPr>
          <p:cNvPr id="18" name="Text 15"/>
          <p:cNvSpPr/>
          <p:nvPr/>
        </p:nvSpPr>
        <p:spPr>
          <a:xfrm>
            <a:off x="578644" y="2614613"/>
            <a:ext cx="438912" cy="164592"/>
          </a:xfrm>
          <a:prstGeom prst="rect">
            <a:avLst/>
          </a:prstGeom>
          <a:noFill/>
          <a:ln/>
        </p:spPr>
        <p:txBody>
          <a:bodyPr wrap="none" lIns="0" tIns="0" rIns="0" bIns="0" rtlCol="0" anchor="t"/>
          <a:lstStyle/>
          <a:p>
            <a:pPr algn="l" indent="0" marL="0">
              <a:lnSpc>
                <a:spcPts val="759"/>
              </a:lnSpc>
              <a:buNone/>
            </a:pPr>
            <a:r>
              <a:rPr lang="en-US" sz="600" dirty="0">
                <a:solidFill>
                  <a:srgbClr val="A1A1AA"/>
                </a:solidFill>
                <a:latin typeface="Courier New" pitchFamily="34" charset="0"/>
                <a:ea typeface="Courier New" pitchFamily="34" charset="-122"/>
                <a:cs typeface="Courier New" pitchFamily="34" charset="-120"/>
              </a:rPr>
              <a:t>PLANNER</a:t>
            </a:r>
            <a:endParaRPr lang="en-US" sz="600" dirty="0"/>
          </a:p>
        </p:txBody>
      </p:sp>
      <p:pic>
        <p:nvPicPr>
          <p:cNvPr id="19" name="Image 1" descr="preencoded.png">    </p:cNvPr>
          <p:cNvPicPr>
            <a:picLocks noChangeAspect="1"/>
          </p:cNvPicPr>
          <p:nvPr/>
        </p:nvPicPr>
        <p:blipFill>
          <a:blip r:embed="rId2"/>
          <a:stretch>
            <a:fillRect/>
          </a:stretch>
        </p:blipFill>
        <p:spPr>
          <a:xfrm>
            <a:off x="964406" y="2648545"/>
            <a:ext cx="1551310" cy="28575"/>
          </a:xfrm>
          <a:prstGeom prst="rect">
            <a:avLst/>
          </a:prstGeom>
        </p:spPr>
      </p:pic>
      <p:sp>
        <p:nvSpPr>
          <p:cNvPr id="20" name="Text 16"/>
          <p:cNvSpPr/>
          <p:nvPr/>
        </p:nvSpPr>
        <p:spPr>
          <a:xfrm>
            <a:off x="2558579" y="2614613"/>
            <a:ext cx="444140" cy="164592"/>
          </a:xfrm>
          <a:prstGeom prst="rect">
            <a:avLst/>
          </a:prstGeom>
          <a:noFill/>
          <a:ln/>
        </p:spPr>
        <p:txBody>
          <a:bodyPr wrap="square" lIns="0" tIns="0" rIns="0" bIns="0" rtlCol="0" anchor="t"/>
          <a:lstStyle/>
          <a:p>
            <a:pPr algn="l" indent="0" marL="0">
              <a:lnSpc>
                <a:spcPts val="759"/>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64</a:t>
            </a:r>
            <a:endParaRPr lang="en-US" sz="800" dirty="0"/>
          </a:p>
        </p:txBody>
      </p:sp>
      <p:sp>
        <p:nvSpPr>
          <p:cNvPr id="21" name="Text 17"/>
          <p:cNvSpPr/>
          <p:nvPr/>
        </p:nvSpPr>
        <p:spPr>
          <a:xfrm>
            <a:off x="557328" y="2739628"/>
            <a:ext cx="481543" cy="96441"/>
          </a:xfrm>
          <a:prstGeom prst="rect">
            <a:avLst/>
          </a:prstGeom>
          <a:noFill/>
          <a:ln/>
        </p:spPr>
        <p:txBody>
          <a:bodyPr wrap="none" lIns="0" tIns="0" rIns="0" bIns="0" rtlCol="0" anchor="t"/>
          <a:lstStyle/>
          <a:p>
            <a:pPr algn="l" indent="0" marL="0">
              <a:lnSpc>
                <a:spcPts val="759"/>
              </a:lnSpc>
              <a:buNone/>
            </a:pPr>
            <a:r>
              <a:rPr lang="en-US" sz="800" dirty="0">
                <a:solidFill>
                  <a:srgbClr val="A1A1AA"/>
                </a:solidFill>
                <a:latin typeface="Courier New" pitchFamily="34" charset="0"/>
                <a:ea typeface="Courier New" pitchFamily="34" charset="-122"/>
                <a:cs typeface="Courier New" pitchFamily="34" charset="-120"/>
              </a:rPr>
              <a:t>STEADY</a:t>
            </a:r>
            <a:endParaRPr lang="en-US" sz="800" dirty="0"/>
          </a:p>
        </p:txBody>
      </p:sp>
      <p:pic>
        <p:nvPicPr>
          <p:cNvPr id="22" name="Image 2" descr="preencoded.png">    </p:cNvPr>
          <p:cNvPicPr>
            <a:picLocks noChangeAspect="1"/>
          </p:cNvPicPr>
          <p:nvPr/>
        </p:nvPicPr>
        <p:blipFill>
          <a:blip r:embed="rId3"/>
          <a:stretch>
            <a:fillRect/>
          </a:stretch>
        </p:blipFill>
        <p:spPr>
          <a:xfrm>
            <a:off x="964406" y="2773561"/>
            <a:ext cx="1405868" cy="28575"/>
          </a:xfrm>
          <a:prstGeom prst="rect">
            <a:avLst/>
          </a:prstGeom>
        </p:spPr>
      </p:pic>
      <p:sp>
        <p:nvSpPr>
          <p:cNvPr id="23" name="Text 18"/>
          <p:cNvSpPr/>
          <p:nvPr/>
        </p:nvSpPr>
        <p:spPr>
          <a:xfrm>
            <a:off x="2413136" y="2739628"/>
            <a:ext cx="589583" cy="96441"/>
          </a:xfrm>
          <a:prstGeom prst="rect">
            <a:avLst/>
          </a:prstGeom>
          <a:noFill/>
          <a:ln/>
        </p:spPr>
        <p:txBody>
          <a:bodyPr wrap="square" lIns="0" tIns="0" rIns="0" bIns="0" rtlCol="0" anchor="t"/>
          <a:lstStyle/>
          <a:p>
            <a:pPr algn="l" indent="0" marL="0">
              <a:lnSpc>
                <a:spcPts val="759"/>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58</a:t>
            </a:r>
            <a:endParaRPr lang="en-US" sz="800" dirty="0"/>
          </a:p>
        </p:txBody>
      </p:sp>
      <p:sp>
        <p:nvSpPr>
          <p:cNvPr id="24" name="Text 19"/>
          <p:cNvSpPr/>
          <p:nvPr/>
        </p:nvSpPr>
        <p:spPr>
          <a:xfrm>
            <a:off x="3242035" y="1432322"/>
            <a:ext cx="2659819" cy="1507331"/>
          </a:xfrm>
          <a:prstGeom prst="roundRect">
            <a:avLst>
              <a:gd name="adj" fmla="val 8847"/>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25" name="Text 20"/>
          <p:cNvSpPr/>
          <p:nvPr/>
        </p:nvSpPr>
        <p:spPr>
          <a:xfrm>
            <a:off x="5401010" y="1507331"/>
            <a:ext cx="382972" cy="164592"/>
          </a:xfrm>
          <a:prstGeom prst="rect">
            <a:avLst/>
          </a:prstGeom>
          <a:noFill/>
          <a:ln/>
        </p:spPr>
        <p:txBody>
          <a:bodyPr wrap="none" lIns="0" tIns="0" rIns="0" bIns="0" rtlCol="0" anchor="t"/>
          <a:lstStyle/>
          <a:p>
            <a:pPr algn="l" indent="0" marL="0">
              <a:lnSpc>
                <a:spcPts val="928"/>
              </a:lnSpc>
              <a:buNone/>
            </a:pPr>
            <a:r>
              <a:rPr lang="en-US" sz="619" spc="74" kern="0" dirty="0">
                <a:solidFill>
                  <a:srgbClr val="71717A"/>
                </a:solidFill>
                <a:latin typeface="Liberation Sans Narrow" pitchFamily="34" charset="0"/>
                <a:ea typeface="Liberation Sans Narrow" pitchFamily="34" charset="-122"/>
                <a:cs typeface="Liberation Sans Narrow" pitchFamily="34" charset="-120"/>
              </a:rPr>
              <a:t>02 / 05</a:t>
            </a:r>
            <a:endParaRPr lang="en-US" sz="619" dirty="0"/>
          </a:p>
        </p:txBody>
      </p:sp>
      <p:sp>
        <p:nvSpPr>
          <p:cNvPr id="26" name="Text 21"/>
          <p:cNvSpPr/>
          <p:nvPr/>
        </p:nvSpPr>
        <p:spPr>
          <a:xfrm>
            <a:off x="3363478" y="1539478"/>
            <a:ext cx="250031" cy="250031"/>
          </a:xfrm>
          <a:prstGeom prst="roundRect">
            <a:avLst>
              <a:gd name="adj" fmla="val 38095"/>
            </a:avLst>
          </a:prstGeom>
          <a:solidFill>
            <a:srgbClr val="10B981">
              <a:alpha val="14000"/>
            </a:srgbClr>
          </a:solidFill>
          <a:ln w="7144">
            <a:solidFill>
              <a:srgbClr val="10B981"/>
            </a:solidFill>
            <a:prstDash val="solid"/>
          </a:ln>
        </p:spPr>
        <p:txBody>
          <a:bodyPr wrap="square" rtlCol="0" anchor="ctr"/>
          <a:lstStyle/>
          <a:p>
            <a:pPr indent="0" marL="0">
              <a:buNone/>
            </a:pPr>
            <a:endParaRPr lang="en-US" dirty="0"/>
          </a:p>
        </p:txBody>
      </p:sp>
      <p:sp>
        <p:nvSpPr>
          <p:cNvPr id="27" name="Text 22"/>
          <p:cNvSpPr/>
          <p:nvPr/>
        </p:nvSpPr>
        <p:spPr>
          <a:xfrm>
            <a:off x="3384910" y="1560909"/>
            <a:ext cx="207169" cy="207169"/>
          </a:xfrm>
          <a:prstGeom prst="rect">
            <a:avLst/>
          </a:prstGeom>
          <a:noFill/>
          <a:ln/>
        </p:spPr>
        <p:txBody>
          <a:bodyPr wrap="none" lIns="0" tIns="0" rIns="0" bIns="0" rtlCol="0" anchor="ctr"/>
          <a:lstStyle/>
          <a:p>
            <a:pPr algn="ctr" indent="0" marL="0">
              <a:buNone/>
            </a:pPr>
            <a:r>
              <a:rPr lang="en-US" sz="1406" dirty="0">
                <a:solidFill>
                  <a:srgbClr val="34D399"/>
                </a:solidFill>
                <a:latin typeface="Segoe UI Symbol" pitchFamily="34" charset="0"/>
                <a:ea typeface="Segoe UI Symbol" pitchFamily="34" charset="-122"/>
                <a:cs typeface="Segoe UI Symbol" pitchFamily="34" charset="-120"/>
              </a:rPr>
              <a:t>☺</a:t>
            </a:r>
            <a:endParaRPr lang="en-US" sz="1406" dirty="0"/>
          </a:p>
        </p:txBody>
      </p:sp>
      <p:sp>
        <p:nvSpPr>
          <p:cNvPr id="28" name="Text 23"/>
          <p:cNvSpPr/>
          <p:nvPr/>
        </p:nvSpPr>
        <p:spPr>
          <a:xfrm>
            <a:off x="3359907" y="1864519"/>
            <a:ext cx="2424075" cy="150809"/>
          </a:xfrm>
          <a:prstGeom prst="rect">
            <a:avLst/>
          </a:prstGeom>
          <a:noFill/>
          <a:ln/>
        </p:spPr>
        <p:txBody>
          <a:bodyPr wrap="none" lIns="0" tIns="0" rIns="0" bIns="0" rtlCol="0" anchor="t"/>
          <a:lstStyle/>
          <a:p>
            <a:pPr algn="l" indent="0" marL="0">
              <a:lnSpc>
                <a:spcPts val="1100"/>
              </a:lnSpc>
              <a:buNone/>
            </a:pPr>
            <a:r>
              <a:rPr lang="en-US" sz="956" b="1" dirty="0">
                <a:solidFill>
                  <a:srgbClr val="F5F5F7"/>
                </a:solidFill>
                <a:latin typeface="Tinos" pitchFamily="34" charset="0"/>
                <a:ea typeface="Tinos" pitchFamily="34" charset="-122"/>
                <a:cs typeface="Tinos" pitchFamily="34" charset="-120"/>
              </a:rPr>
              <a:t>Future Self Simulator</a:t>
            </a:r>
            <a:endParaRPr lang="en-US" sz="956" dirty="0"/>
          </a:p>
        </p:txBody>
      </p:sp>
      <p:sp>
        <p:nvSpPr>
          <p:cNvPr id="29" name="Text 24"/>
          <p:cNvSpPr/>
          <p:nvPr/>
        </p:nvSpPr>
        <p:spPr>
          <a:xfrm>
            <a:off x="3359907" y="2047019"/>
            <a:ext cx="2424075" cy="450864"/>
          </a:xfrm>
          <a:prstGeom prst="rect">
            <a:avLst/>
          </a:prstGeom>
          <a:noFill/>
          <a:ln/>
        </p:spPr>
        <p:txBody>
          <a:bodyPr wrap="square" lIns="0" tIns="0" rIns="0" bIns="0" rtlCol="0" anchor="t">
            <a:normAutofit/>
          </a:bodyPr>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Renders net-worth trajectory at +1, +5, +10, +20 years under your current behavior — and under the agent's recommended path.</a:t>
            </a:r>
            <a:endParaRPr lang="en-US" sz="800" dirty="0"/>
          </a:p>
        </p:txBody>
      </p:sp>
      <p:sp>
        <p:nvSpPr>
          <p:cNvPr id="30" name="Text 25"/>
          <p:cNvSpPr/>
          <p:nvPr/>
        </p:nvSpPr>
        <p:spPr>
          <a:xfrm>
            <a:off x="3359907" y="2525316"/>
            <a:ext cx="362570" cy="165449"/>
          </a:xfrm>
          <a:prstGeom prst="rect">
            <a:avLst/>
          </a:prstGeom>
          <a:noFill/>
          <a:ln/>
        </p:spPr>
        <p:txBody>
          <a:bodyPr wrap="none" lIns="0" tIns="0" rIns="0" bIns="0" rtlCol="0" anchor="t">
            <a:normAutofit/>
          </a:bodyPr>
          <a:lstStyle/>
          <a:p>
            <a:pPr algn="ctr" indent="0" marL="0">
              <a:lnSpc>
                <a:spcPts val="1519"/>
              </a:lnSpc>
              <a:buNone/>
            </a:pPr>
            <a:r>
              <a:rPr lang="en-US" sz="1013" b="1" dirty="0">
                <a:solidFill>
                  <a:srgbClr val="F5F5F7"/>
                </a:solidFill>
                <a:latin typeface="Liberation Sans Narrow" pitchFamily="34" charset="0"/>
                <a:ea typeface="Liberation Sans Narrow" pitchFamily="34" charset="-122"/>
                <a:cs typeface="Liberation Sans Narrow" pitchFamily="34" charset="-120"/>
              </a:rPr>
              <a:t>+1y</a:t>
            </a:r>
            <a:endParaRPr lang="en-US" sz="1013" dirty="0"/>
          </a:p>
        </p:txBody>
      </p:sp>
      <p:sp>
        <p:nvSpPr>
          <p:cNvPr id="31" name="Text 26"/>
          <p:cNvSpPr/>
          <p:nvPr/>
        </p:nvSpPr>
        <p:spPr>
          <a:xfrm>
            <a:off x="3359907" y="2718197"/>
            <a:ext cx="362570" cy="117872"/>
          </a:xfrm>
          <a:prstGeom prst="rect">
            <a:avLst/>
          </a:prstGeom>
          <a:noFill/>
          <a:ln/>
        </p:spPr>
        <p:txBody>
          <a:bodyPr wrap="none" lIns="0" tIns="0" rIns="0" bIns="0" rtlCol="0" anchor="t"/>
          <a:lstStyle/>
          <a:p>
            <a:pPr algn="ctr" indent="0" marL="0">
              <a:lnSpc>
                <a:spcPts val="928"/>
              </a:lnSpc>
              <a:buNone/>
            </a:pPr>
            <a:r>
              <a:rPr lang="en-US" sz="800" dirty="0">
                <a:solidFill>
                  <a:srgbClr val="34D399"/>
                </a:solidFill>
                <a:latin typeface="Liberation Sans Narrow" pitchFamily="34" charset="0"/>
                <a:ea typeface="Liberation Sans Narrow" pitchFamily="34" charset="-122"/>
                <a:cs typeface="Liberation Sans Narrow" pitchFamily="34" charset="-120"/>
              </a:rPr>
              <a:t>$24k</a:t>
            </a:r>
            <a:endParaRPr lang="en-US" sz="800" dirty="0"/>
          </a:p>
        </p:txBody>
      </p:sp>
      <p:sp>
        <p:nvSpPr>
          <p:cNvPr id="32" name="Text 27"/>
          <p:cNvSpPr/>
          <p:nvPr/>
        </p:nvSpPr>
        <p:spPr>
          <a:xfrm>
            <a:off x="3616611" y="2525316"/>
            <a:ext cx="444078" cy="165449"/>
          </a:xfrm>
          <a:prstGeom prst="rect">
            <a:avLst/>
          </a:prstGeom>
          <a:noFill/>
          <a:ln/>
        </p:spPr>
        <p:txBody>
          <a:bodyPr wrap="none" lIns="0" tIns="0" rIns="0" bIns="0" rtlCol="0" anchor="t">
            <a:normAutofit/>
          </a:bodyPr>
          <a:lstStyle/>
          <a:p>
            <a:pPr algn="ctr" indent="0" marL="0">
              <a:lnSpc>
                <a:spcPts val="1519"/>
              </a:lnSpc>
              <a:buNone/>
            </a:pPr>
            <a:r>
              <a:rPr lang="en-US" sz="1013" b="1" dirty="0">
                <a:solidFill>
                  <a:srgbClr val="F5F5F7"/>
                </a:solidFill>
                <a:latin typeface="Liberation Sans Narrow" pitchFamily="34" charset="0"/>
                <a:ea typeface="Liberation Sans Narrow" pitchFamily="34" charset="-122"/>
                <a:cs typeface="Liberation Sans Narrow" pitchFamily="34" charset="-120"/>
              </a:rPr>
              <a:t>+5y</a:t>
            </a:r>
            <a:endParaRPr lang="en-US" sz="1013" dirty="0"/>
          </a:p>
        </p:txBody>
      </p:sp>
      <p:sp>
        <p:nvSpPr>
          <p:cNvPr id="33" name="Text 28"/>
          <p:cNvSpPr/>
          <p:nvPr/>
        </p:nvSpPr>
        <p:spPr>
          <a:xfrm>
            <a:off x="3616611" y="2718197"/>
            <a:ext cx="444078" cy="117872"/>
          </a:xfrm>
          <a:prstGeom prst="rect">
            <a:avLst/>
          </a:prstGeom>
          <a:noFill/>
          <a:ln/>
        </p:spPr>
        <p:txBody>
          <a:bodyPr wrap="none" lIns="0" tIns="0" rIns="0" bIns="0" rtlCol="0" anchor="t"/>
          <a:lstStyle/>
          <a:p>
            <a:pPr algn="ctr" indent="0" marL="0">
              <a:lnSpc>
                <a:spcPts val="928"/>
              </a:lnSpc>
              <a:buNone/>
            </a:pPr>
            <a:r>
              <a:rPr lang="en-US" sz="800" dirty="0">
                <a:solidFill>
                  <a:srgbClr val="34D399"/>
                </a:solidFill>
                <a:latin typeface="Liberation Sans Narrow" pitchFamily="34" charset="0"/>
                <a:ea typeface="Liberation Sans Narrow" pitchFamily="34" charset="-122"/>
                <a:cs typeface="Liberation Sans Narrow" pitchFamily="34" charset="-120"/>
              </a:rPr>
              <a:t>$148k</a:t>
            </a:r>
            <a:endParaRPr lang="en-US" sz="800" dirty="0"/>
          </a:p>
        </p:txBody>
      </p:sp>
      <p:sp>
        <p:nvSpPr>
          <p:cNvPr id="34" name="Text 29"/>
          <p:cNvSpPr/>
          <p:nvPr/>
        </p:nvSpPr>
        <p:spPr>
          <a:xfrm>
            <a:off x="3928862" y="2525316"/>
            <a:ext cx="585520" cy="165449"/>
          </a:xfrm>
          <a:prstGeom prst="rect">
            <a:avLst/>
          </a:prstGeom>
          <a:noFill/>
          <a:ln/>
        </p:spPr>
        <p:txBody>
          <a:bodyPr wrap="none" lIns="0" tIns="0" rIns="0" bIns="0" rtlCol="0" anchor="t">
            <a:normAutofit/>
          </a:bodyPr>
          <a:lstStyle/>
          <a:p>
            <a:pPr algn="ctr" indent="0" marL="0">
              <a:lnSpc>
                <a:spcPts val="1519"/>
              </a:lnSpc>
              <a:buNone/>
            </a:pPr>
            <a:r>
              <a:rPr lang="en-US" sz="1013" b="1" dirty="0">
                <a:solidFill>
                  <a:srgbClr val="F5F5F7"/>
                </a:solidFill>
                <a:latin typeface="Liberation Sans Narrow" pitchFamily="34" charset="0"/>
                <a:ea typeface="Liberation Sans Narrow" pitchFamily="34" charset="-122"/>
                <a:cs typeface="Liberation Sans Narrow" pitchFamily="34" charset="-120"/>
              </a:rPr>
              <a:t>+10y</a:t>
            </a:r>
            <a:endParaRPr lang="en-US" sz="1013" dirty="0"/>
          </a:p>
        </p:txBody>
      </p:sp>
      <p:sp>
        <p:nvSpPr>
          <p:cNvPr id="35" name="Text 30"/>
          <p:cNvSpPr/>
          <p:nvPr/>
        </p:nvSpPr>
        <p:spPr>
          <a:xfrm>
            <a:off x="3928862" y="2718197"/>
            <a:ext cx="585520" cy="117872"/>
          </a:xfrm>
          <a:prstGeom prst="rect">
            <a:avLst/>
          </a:prstGeom>
          <a:noFill/>
          <a:ln/>
        </p:spPr>
        <p:txBody>
          <a:bodyPr wrap="none" lIns="0" tIns="0" rIns="0" bIns="0" rtlCol="0" anchor="t"/>
          <a:lstStyle/>
          <a:p>
            <a:pPr algn="ctr" indent="0" marL="0">
              <a:lnSpc>
                <a:spcPts val="928"/>
              </a:lnSpc>
              <a:buNone/>
            </a:pPr>
            <a:r>
              <a:rPr lang="en-US" sz="800" dirty="0">
                <a:solidFill>
                  <a:srgbClr val="34D399"/>
                </a:solidFill>
                <a:latin typeface="Liberation Sans Narrow" pitchFamily="34" charset="0"/>
                <a:ea typeface="Liberation Sans Narrow" pitchFamily="34" charset="-122"/>
                <a:cs typeface="Liberation Sans Narrow" pitchFamily="34" charset="-120"/>
              </a:rPr>
              <a:t>$412k</a:t>
            </a:r>
            <a:endParaRPr lang="en-US" sz="800" dirty="0"/>
          </a:p>
        </p:txBody>
      </p:sp>
      <p:sp>
        <p:nvSpPr>
          <p:cNvPr id="36" name="Text 31"/>
          <p:cNvSpPr/>
          <p:nvPr/>
        </p:nvSpPr>
        <p:spPr>
          <a:xfrm>
            <a:off x="4356594" y="2525316"/>
            <a:ext cx="585520" cy="165449"/>
          </a:xfrm>
          <a:prstGeom prst="rect">
            <a:avLst/>
          </a:prstGeom>
          <a:noFill/>
          <a:ln/>
        </p:spPr>
        <p:txBody>
          <a:bodyPr wrap="none" lIns="0" tIns="0" rIns="0" bIns="0" rtlCol="0" anchor="t">
            <a:normAutofit/>
          </a:bodyPr>
          <a:lstStyle/>
          <a:p>
            <a:pPr algn="ctr" indent="0" marL="0">
              <a:lnSpc>
                <a:spcPts val="1519"/>
              </a:lnSpc>
              <a:buNone/>
            </a:pPr>
            <a:r>
              <a:rPr lang="en-US" sz="1013" b="1" dirty="0">
                <a:solidFill>
                  <a:srgbClr val="F5F5F7"/>
                </a:solidFill>
                <a:latin typeface="Liberation Sans Narrow" pitchFamily="34" charset="0"/>
                <a:ea typeface="Liberation Sans Narrow" pitchFamily="34" charset="-122"/>
                <a:cs typeface="Liberation Sans Narrow" pitchFamily="34" charset="-120"/>
              </a:rPr>
              <a:t>+20y</a:t>
            </a:r>
            <a:endParaRPr lang="en-US" sz="1013" dirty="0"/>
          </a:p>
        </p:txBody>
      </p:sp>
      <p:sp>
        <p:nvSpPr>
          <p:cNvPr id="37" name="Text 32"/>
          <p:cNvSpPr/>
          <p:nvPr/>
        </p:nvSpPr>
        <p:spPr>
          <a:xfrm>
            <a:off x="4356594" y="2718197"/>
            <a:ext cx="585520" cy="117872"/>
          </a:xfrm>
          <a:prstGeom prst="rect">
            <a:avLst/>
          </a:prstGeom>
          <a:noFill/>
          <a:ln/>
        </p:spPr>
        <p:txBody>
          <a:bodyPr wrap="none" lIns="0" tIns="0" rIns="0" bIns="0" rtlCol="0" anchor="t"/>
          <a:lstStyle/>
          <a:p>
            <a:pPr algn="ctr" indent="0" marL="0">
              <a:lnSpc>
                <a:spcPts val="928"/>
              </a:lnSpc>
              <a:buNone/>
            </a:pPr>
            <a:r>
              <a:rPr lang="en-US" sz="800" dirty="0">
                <a:solidFill>
                  <a:srgbClr val="34D399"/>
                </a:solidFill>
                <a:latin typeface="Liberation Sans Narrow" pitchFamily="34" charset="0"/>
                <a:ea typeface="Liberation Sans Narrow" pitchFamily="34" charset="-122"/>
                <a:cs typeface="Liberation Sans Narrow" pitchFamily="34" charset="-120"/>
              </a:rPr>
              <a:t>$1.6M</a:t>
            </a:r>
            <a:endParaRPr lang="en-US" sz="800" dirty="0"/>
          </a:p>
        </p:txBody>
      </p:sp>
      <p:sp>
        <p:nvSpPr>
          <p:cNvPr id="38" name="Text 33"/>
          <p:cNvSpPr/>
          <p:nvPr/>
        </p:nvSpPr>
        <p:spPr>
          <a:xfrm>
            <a:off x="6023297" y="1432322"/>
            <a:ext cx="2659931" cy="1507331"/>
          </a:xfrm>
          <a:prstGeom prst="roundRect">
            <a:avLst>
              <a:gd name="adj" fmla="val 8847"/>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39" name="Text 34"/>
          <p:cNvSpPr/>
          <p:nvPr/>
        </p:nvSpPr>
        <p:spPr>
          <a:xfrm>
            <a:off x="8182384" y="1507331"/>
            <a:ext cx="382972" cy="164592"/>
          </a:xfrm>
          <a:prstGeom prst="rect">
            <a:avLst/>
          </a:prstGeom>
          <a:noFill/>
          <a:ln/>
        </p:spPr>
        <p:txBody>
          <a:bodyPr wrap="none" lIns="0" tIns="0" rIns="0" bIns="0" rtlCol="0" anchor="t"/>
          <a:lstStyle/>
          <a:p>
            <a:pPr algn="l" indent="0" marL="0">
              <a:lnSpc>
                <a:spcPts val="928"/>
              </a:lnSpc>
              <a:buNone/>
            </a:pPr>
            <a:r>
              <a:rPr lang="en-US" sz="619" spc="74" kern="0" dirty="0">
                <a:solidFill>
                  <a:srgbClr val="71717A"/>
                </a:solidFill>
                <a:latin typeface="Liberation Sans Narrow" pitchFamily="34" charset="0"/>
                <a:ea typeface="Liberation Sans Narrow" pitchFamily="34" charset="-122"/>
                <a:cs typeface="Liberation Sans Narrow" pitchFamily="34" charset="-120"/>
              </a:rPr>
              <a:t>03 / 05</a:t>
            </a:r>
            <a:endParaRPr lang="en-US" sz="619" dirty="0"/>
          </a:p>
        </p:txBody>
      </p:sp>
      <p:sp>
        <p:nvSpPr>
          <p:cNvPr id="40" name="Text 35"/>
          <p:cNvSpPr/>
          <p:nvPr/>
        </p:nvSpPr>
        <p:spPr>
          <a:xfrm>
            <a:off x="6144741" y="1539478"/>
            <a:ext cx="250031" cy="250031"/>
          </a:xfrm>
          <a:prstGeom prst="roundRect">
            <a:avLst>
              <a:gd name="adj" fmla="val 38095"/>
            </a:avLst>
          </a:prstGeom>
          <a:solidFill>
            <a:srgbClr val="6366F1">
              <a:alpha val="14000"/>
            </a:srgbClr>
          </a:solidFill>
          <a:ln w="7144">
            <a:solidFill>
              <a:srgbClr val="6366F1"/>
            </a:solidFill>
            <a:prstDash val="solid"/>
          </a:ln>
        </p:spPr>
        <p:txBody>
          <a:bodyPr wrap="square" rtlCol="0" anchor="ctr"/>
          <a:lstStyle/>
          <a:p>
            <a:pPr indent="0" marL="0">
              <a:buNone/>
            </a:pPr>
            <a:endParaRPr lang="en-US" dirty="0"/>
          </a:p>
        </p:txBody>
      </p:sp>
      <p:sp>
        <p:nvSpPr>
          <p:cNvPr id="41" name="Text 36"/>
          <p:cNvSpPr/>
          <p:nvPr/>
        </p:nvSpPr>
        <p:spPr>
          <a:xfrm>
            <a:off x="6166172" y="1560909"/>
            <a:ext cx="207169" cy="207169"/>
          </a:xfrm>
          <a:prstGeom prst="rect">
            <a:avLst/>
          </a:prstGeom>
          <a:noFill/>
          <a:ln/>
        </p:spPr>
        <p:txBody>
          <a:bodyPr wrap="none" lIns="0" tIns="0" rIns="0" bIns="0" rtlCol="0" anchor="ctr"/>
          <a:lstStyle/>
          <a:p>
            <a:pPr algn="ctr" indent="0" marL="0">
              <a:buNone/>
            </a:pPr>
            <a:r>
              <a:rPr lang="en-US" sz="1406" dirty="0">
                <a:solidFill>
                  <a:srgbClr val="818CF8"/>
                </a:solidFill>
                <a:latin typeface="Segoe UI Symbol" pitchFamily="34" charset="0"/>
                <a:ea typeface="Segoe UI Symbol" pitchFamily="34" charset="-122"/>
                <a:cs typeface="Segoe UI Symbol" pitchFamily="34" charset="-120"/>
              </a:rPr>
              <a:t>◯</a:t>
            </a:r>
            <a:endParaRPr lang="en-US" sz="1406" dirty="0"/>
          </a:p>
        </p:txBody>
      </p:sp>
      <p:sp>
        <p:nvSpPr>
          <p:cNvPr id="42" name="Text 37"/>
          <p:cNvSpPr/>
          <p:nvPr/>
        </p:nvSpPr>
        <p:spPr>
          <a:xfrm>
            <a:off x="6141169" y="1864519"/>
            <a:ext cx="2533915" cy="150809"/>
          </a:xfrm>
          <a:prstGeom prst="rect">
            <a:avLst/>
          </a:prstGeom>
          <a:noFill/>
          <a:ln/>
        </p:spPr>
        <p:txBody>
          <a:bodyPr wrap="square" lIns="0" tIns="0" rIns="0" bIns="0" rtlCol="0" anchor="t"/>
          <a:lstStyle/>
          <a:p>
            <a:pPr algn="l" indent="0" marL="0">
              <a:lnSpc>
                <a:spcPts val="1100"/>
              </a:lnSpc>
              <a:buNone/>
            </a:pPr>
            <a:r>
              <a:rPr lang="en-US" sz="956" b="1" dirty="0">
                <a:solidFill>
                  <a:srgbClr val="F5F5F7"/>
                </a:solidFill>
                <a:latin typeface="Tinos" pitchFamily="34" charset="0"/>
                <a:ea typeface="Tinos" pitchFamily="34" charset="-122"/>
                <a:cs typeface="Tinos" pitchFamily="34" charset="-120"/>
              </a:rPr>
              <a:t>Behavioral Trigger Detection</a:t>
            </a:r>
            <a:endParaRPr lang="en-US" sz="956" dirty="0"/>
          </a:p>
        </p:txBody>
      </p:sp>
      <p:sp>
        <p:nvSpPr>
          <p:cNvPr id="43" name="Text 38"/>
          <p:cNvSpPr/>
          <p:nvPr/>
        </p:nvSpPr>
        <p:spPr>
          <a:xfrm>
            <a:off x="6141169" y="2047019"/>
            <a:ext cx="2424187" cy="583024"/>
          </a:xfrm>
          <a:prstGeom prst="rect">
            <a:avLst/>
          </a:prstGeom>
          <a:noFill/>
          <a:ln/>
        </p:spPr>
        <p:txBody>
          <a:bodyPr wrap="square" lIns="0" tIns="0" rIns="0" bIns="0" rtlCol="0" anchor="t">
            <a:normAutofit/>
          </a:bodyPr>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Detects spending patterns tied to time-of-day, weekday, mood proxies, or merchant types — then suggests frictionless interventions.</a:t>
            </a:r>
            <a:endParaRPr lang="en-US" sz="800" dirty="0"/>
          </a:p>
        </p:txBody>
      </p:sp>
      <p:sp>
        <p:nvSpPr>
          <p:cNvPr id="44" name="Text 39"/>
          <p:cNvSpPr/>
          <p:nvPr/>
        </p:nvSpPr>
        <p:spPr>
          <a:xfrm>
            <a:off x="6144741" y="2689622"/>
            <a:ext cx="1297149" cy="142875"/>
          </a:xfrm>
          <a:prstGeom prst="roundRect">
            <a:avLst>
              <a:gd name="adj" fmla="val 26667"/>
            </a:avLst>
          </a:prstGeom>
          <a:solidFill>
            <a:srgbClr val="F59E0B">
              <a:alpha val="16000"/>
            </a:srgbClr>
          </a:solidFill>
          <a:ln w="7144">
            <a:solidFill>
              <a:srgbClr val="F59E0B"/>
            </a:solidFill>
            <a:prstDash val="solid"/>
          </a:ln>
        </p:spPr>
        <p:txBody>
          <a:bodyPr wrap="square" rtlCol="0" anchor="ctr"/>
          <a:lstStyle/>
          <a:p>
            <a:pPr indent="0" marL="0">
              <a:buNone/>
            </a:pPr>
            <a:endParaRPr lang="en-US" dirty="0"/>
          </a:p>
        </p:txBody>
      </p:sp>
      <p:sp>
        <p:nvSpPr>
          <p:cNvPr id="45" name="Text 40"/>
          <p:cNvSpPr/>
          <p:nvPr/>
        </p:nvSpPr>
        <p:spPr>
          <a:xfrm>
            <a:off x="6141169" y="2686050"/>
            <a:ext cx="1304292" cy="150019"/>
          </a:xfrm>
          <a:prstGeom prst="rect">
            <a:avLst/>
          </a:prstGeom>
          <a:noFill/>
          <a:ln/>
        </p:spPr>
        <p:txBody>
          <a:bodyPr wrap="square" lIns="42863" tIns="14288" rIns="42863" bIns="14288" rtlCol="0" anchor="t"/>
          <a:lstStyle/>
          <a:p>
            <a:pPr algn="l" indent="0" marL="0">
              <a:lnSpc>
                <a:spcPts val="844"/>
              </a:lnSpc>
              <a:buNone/>
            </a:pPr>
            <a:r>
              <a:rPr lang="en-US" sz="600" dirty="0">
                <a:solidFill>
                  <a:srgbClr val="F59E0B"/>
                </a:solidFill>
                <a:latin typeface="Liberation Sans Narrow" pitchFamily="34" charset="0"/>
                <a:ea typeface="Liberation Sans Narrow" pitchFamily="34" charset="-122"/>
                <a:cs typeface="Liberation Sans Narrow" pitchFamily="34" charset="-120"/>
              </a:rPr>
              <a:t>Fri 9pm · food delivery ↑38%</a:t>
            </a:r>
            <a:endParaRPr lang="en-US" sz="600" dirty="0"/>
          </a:p>
        </p:txBody>
      </p:sp>
      <p:sp>
        <p:nvSpPr>
          <p:cNvPr id="46" name="Text 41"/>
          <p:cNvSpPr/>
          <p:nvPr/>
        </p:nvSpPr>
        <p:spPr>
          <a:xfrm>
            <a:off x="7510425" y="2677049"/>
            <a:ext cx="917191" cy="168021"/>
          </a:xfrm>
          <a:prstGeom prst="roundRect">
            <a:avLst>
              <a:gd name="adj" fmla="val 22676"/>
            </a:avLst>
          </a:prstGeom>
          <a:solidFill>
            <a:srgbClr val="F59E0B">
              <a:alpha val="16000"/>
            </a:srgbClr>
          </a:solidFill>
          <a:ln w="7144">
            <a:solidFill>
              <a:srgbClr val="F59E0B"/>
            </a:solidFill>
            <a:prstDash val="solid"/>
          </a:ln>
        </p:spPr>
        <p:txBody>
          <a:bodyPr wrap="square" rtlCol="0" anchor="ctr"/>
          <a:lstStyle/>
          <a:p>
            <a:pPr indent="0" marL="0">
              <a:buNone/>
            </a:pPr>
            <a:endParaRPr lang="en-US" dirty="0"/>
          </a:p>
        </p:txBody>
      </p:sp>
      <p:sp>
        <p:nvSpPr>
          <p:cNvPr id="47" name="Text 42"/>
          <p:cNvSpPr/>
          <p:nvPr/>
        </p:nvSpPr>
        <p:spPr>
          <a:xfrm>
            <a:off x="7510425" y="2686050"/>
            <a:ext cx="917191" cy="150019"/>
          </a:xfrm>
          <a:prstGeom prst="rect">
            <a:avLst/>
          </a:prstGeom>
          <a:noFill/>
          <a:ln/>
        </p:spPr>
        <p:txBody>
          <a:bodyPr wrap="none" lIns="0" tIns="0" rIns="0" bIns="0" rtlCol="0" anchor="ctr"/>
          <a:lstStyle/>
          <a:p>
            <a:pPr algn="ctr" indent="0" marL="0">
              <a:lnSpc>
                <a:spcPts val="844"/>
              </a:lnSpc>
              <a:buNone/>
            </a:pPr>
            <a:r>
              <a:rPr lang="en-US" sz="800" dirty="0">
                <a:solidFill>
                  <a:srgbClr val="F59E0B"/>
                </a:solidFill>
                <a:latin typeface="Courier New" pitchFamily="34" charset="0"/>
                <a:ea typeface="Courier New" pitchFamily="34" charset="-122"/>
                <a:cs typeface="Courier New" pitchFamily="34" charset="-120"/>
              </a:rPr>
              <a:t>Post-payday splurge</a:t>
            </a:r>
            <a:endParaRPr lang="en-US" sz="800" dirty="0"/>
          </a:p>
        </p:txBody>
      </p:sp>
      <p:sp>
        <p:nvSpPr>
          <p:cNvPr id="48" name="Text 43"/>
          <p:cNvSpPr/>
          <p:nvPr/>
        </p:nvSpPr>
        <p:spPr>
          <a:xfrm>
            <a:off x="460772" y="3061097"/>
            <a:ext cx="4050506" cy="1507331"/>
          </a:xfrm>
          <a:prstGeom prst="roundRect">
            <a:avLst>
              <a:gd name="adj" fmla="val 8847"/>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49" name="Text 44"/>
          <p:cNvSpPr/>
          <p:nvPr/>
        </p:nvSpPr>
        <p:spPr>
          <a:xfrm>
            <a:off x="4010434" y="3136106"/>
            <a:ext cx="382972" cy="164592"/>
          </a:xfrm>
          <a:prstGeom prst="rect">
            <a:avLst/>
          </a:prstGeom>
          <a:noFill/>
          <a:ln/>
        </p:spPr>
        <p:txBody>
          <a:bodyPr wrap="none" lIns="0" tIns="0" rIns="0" bIns="0" rtlCol="0" anchor="t"/>
          <a:lstStyle/>
          <a:p>
            <a:pPr algn="l" indent="0" marL="0">
              <a:lnSpc>
                <a:spcPts val="928"/>
              </a:lnSpc>
              <a:buNone/>
            </a:pPr>
            <a:r>
              <a:rPr lang="en-US" sz="619" spc="74" kern="0" dirty="0">
                <a:solidFill>
                  <a:srgbClr val="71717A"/>
                </a:solidFill>
                <a:latin typeface="Liberation Sans Narrow" pitchFamily="34" charset="0"/>
                <a:ea typeface="Liberation Sans Narrow" pitchFamily="34" charset="-122"/>
                <a:cs typeface="Liberation Sans Narrow" pitchFamily="34" charset="-120"/>
              </a:rPr>
              <a:t>04 / 05</a:t>
            </a:r>
            <a:endParaRPr lang="en-US" sz="619" dirty="0"/>
          </a:p>
        </p:txBody>
      </p:sp>
      <p:sp>
        <p:nvSpPr>
          <p:cNvPr id="50" name="Text 45"/>
          <p:cNvSpPr/>
          <p:nvPr/>
        </p:nvSpPr>
        <p:spPr>
          <a:xfrm>
            <a:off x="582216" y="3168253"/>
            <a:ext cx="250031" cy="250031"/>
          </a:xfrm>
          <a:prstGeom prst="roundRect">
            <a:avLst>
              <a:gd name="adj" fmla="val 38095"/>
            </a:avLst>
          </a:prstGeom>
          <a:solidFill>
            <a:srgbClr val="10B981">
              <a:alpha val="14000"/>
            </a:srgbClr>
          </a:solidFill>
          <a:ln w="7144">
            <a:solidFill>
              <a:srgbClr val="10B981"/>
            </a:solidFill>
            <a:prstDash val="solid"/>
          </a:ln>
        </p:spPr>
        <p:txBody>
          <a:bodyPr wrap="square" rtlCol="0" anchor="ctr"/>
          <a:lstStyle/>
          <a:p>
            <a:pPr indent="0" marL="0">
              <a:buNone/>
            </a:pPr>
            <a:endParaRPr lang="en-US" dirty="0"/>
          </a:p>
        </p:txBody>
      </p:sp>
      <p:sp>
        <p:nvSpPr>
          <p:cNvPr id="51" name="Text 46"/>
          <p:cNvSpPr/>
          <p:nvPr/>
        </p:nvSpPr>
        <p:spPr>
          <a:xfrm>
            <a:off x="603647" y="3189684"/>
            <a:ext cx="207169" cy="207169"/>
          </a:xfrm>
          <a:prstGeom prst="rect">
            <a:avLst/>
          </a:prstGeom>
          <a:noFill/>
          <a:ln/>
        </p:spPr>
        <p:txBody>
          <a:bodyPr wrap="none" lIns="0" tIns="0" rIns="0" bIns="0" rtlCol="0" anchor="ctr"/>
          <a:lstStyle/>
          <a:p>
            <a:pPr algn="ctr" indent="0" marL="0">
              <a:buNone/>
            </a:pPr>
            <a:r>
              <a:rPr lang="en-US" sz="1406" dirty="0">
                <a:solidFill>
                  <a:srgbClr val="34D399"/>
                </a:solidFill>
                <a:latin typeface="Segoe UI Symbol" pitchFamily="34" charset="0"/>
                <a:ea typeface="Segoe UI Symbol" pitchFamily="34" charset="-122"/>
                <a:cs typeface="Segoe UI Symbol" pitchFamily="34" charset="-120"/>
              </a:rPr>
              <a:t>◔</a:t>
            </a:r>
            <a:endParaRPr lang="en-US" sz="1406" dirty="0"/>
          </a:p>
        </p:txBody>
      </p:sp>
      <p:sp>
        <p:nvSpPr>
          <p:cNvPr id="52" name="Text 47"/>
          <p:cNvSpPr/>
          <p:nvPr/>
        </p:nvSpPr>
        <p:spPr>
          <a:xfrm>
            <a:off x="578644" y="3493294"/>
            <a:ext cx="3814763" cy="150809"/>
          </a:xfrm>
          <a:prstGeom prst="rect">
            <a:avLst/>
          </a:prstGeom>
          <a:noFill/>
          <a:ln/>
        </p:spPr>
        <p:txBody>
          <a:bodyPr wrap="none" lIns="0" tIns="0" rIns="0" bIns="0" rtlCol="0" anchor="t"/>
          <a:lstStyle/>
          <a:p>
            <a:pPr algn="l" indent="0" marL="0">
              <a:lnSpc>
                <a:spcPts val="1100"/>
              </a:lnSpc>
              <a:buNone/>
            </a:pPr>
            <a:r>
              <a:rPr lang="en-US" sz="956" b="1" dirty="0">
                <a:solidFill>
                  <a:srgbClr val="F5F5F7"/>
                </a:solidFill>
                <a:latin typeface="Tinos" pitchFamily="34" charset="0"/>
                <a:ea typeface="Tinos" pitchFamily="34" charset="-122"/>
                <a:cs typeface="Tinos" pitchFamily="34" charset="-120"/>
              </a:rPr>
              <a:t>Time-Value Calculator</a:t>
            </a:r>
            <a:endParaRPr lang="en-US" sz="956" dirty="0"/>
          </a:p>
        </p:txBody>
      </p:sp>
      <p:sp>
        <p:nvSpPr>
          <p:cNvPr id="53" name="Text 48"/>
          <p:cNvSpPr/>
          <p:nvPr/>
        </p:nvSpPr>
        <p:spPr>
          <a:xfrm>
            <a:off x="578644" y="3675794"/>
            <a:ext cx="3814763" cy="504443"/>
          </a:xfrm>
          <a:prstGeom prst="rect">
            <a:avLst/>
          </a:prstGeom>
          <a:noFill/>
          <a:ln/>
        </p:spPr>
        <p:txBody>
          <a:bodyPr wrap="square" lIns="0" tIns="0" rIns="0" bIns="0" rtlCol="0" anchor="t">
            <a:normAutofit/>
          </a:bodyPr>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Translates every discretionary purchase into its future value at retirement. "This $60 dinner costs $340 of 25-year-old-you's retirement." Reframes spending in the unit that actually motivates — time.</a:t>
            </a:r>
            <a:endParaRPr lang="en-US" sz="800" dirty="0"/>
          </a:p>
        </p:txBody>
      </p:sp>
      <p:sp>
        <p:nvSpPr>
          <p:cNvPr id="54" name="Text 49"/>
          <p:cNvSpPr/>
          <p:nvPr/>
        </p:nvSpPr>
        <p:spPr>
          <a:xfrm>
            <a:off x="536084" y="4207669"/>
            <a:ext cx="984569" cy="257175"/>
          </a:xfrm>
          <a:prstGeom prst="rect">
            <a:avLst/>
          </a:prstGeom>
          <a:noFill/>
          <a:ln/>
        </p:spPr>
        <p:txBody>
          <a:bodyPr wrap="none" lIns="0" tIns="0" rIns="0" bIns="0" rtlCol="0" anchor="t"/>
          <a:lstStyle/>
          <a:p>
            <a:pPr algn="l" indent="0" marL="0">
              <a:lnSpc>
                <a:spcPts val="2025"/>
              </a:lnSpc>
              <a:buNone/>
            </a:pPr>
            <a:r>
              <a:rPr lang="en-US" sz="1350" b="1" dirty="0">
                <a:solidFill>
                  <a:srgbClr val="F5F5F7"/>
                </a:solidFill>
                <a:latin typeface="Liberation Sans Narrow" pitchFamily="34" charset="0"/>
                <a:ea typeface="Liberation Sans Narrow" pitchFamily="34" charset="-122"/>
                <a:cs typeface="Liberation Sans Narrow" pitchFamily="34" charset="-120"/>
              </a:rPr>
              <a:t>$60</a:t>
            </a:r>
            <a:pPr algn="l" indent="0" marL="0">
              <a:lnSpc>
                <a:spcPts val="2025"/>
              </a:lnSpc>
              <a:buNone/>
            </a:pPr>
            <a:r>
              <a:rPr lang="en-US" sz="800" b="1" dirty="0">
                <a:solidFill>
                  <a:srgbClr val="71717A"/>
                </a:solidFill>
                <a:latin typeface="Carlito" pitchFamily="34" charset="0"/>
                <a:ea typeface="Carlito" pitchFamily="34" charset="-122"/>
                <a:cs typeface="Carlito" pitchFamily="34" charset="-120"/>
              </a:rPr>
              <a:t> today</a:t>
            </a:r>
            <a:endParaRPr lang="en-US" sz="1350" dirty="0"/>
          </a:p>
        </p:txBody>
      </p:sp>
      <p:sp>
        <p:nvSpPr>
          <p:cNvPr id="55" name="Text 50"/>
          <p:cNvSpPr/>
          <p:nvPr/>
        </p:nvSpPr>
        <p:spPr>
          <a:xfrm>
            <a:off x="1321929" y="4264819"/>
            <a:ext cx="142875" cy="142875"/>
          </a:xfrm>
          <a:prstGeom prst="rect">
            <a:avLst/>
          </a:prstGeom>
          <a:noFill/>
          <a:ln/>
        </p:spPr>
        <p:txBody>
          <a:bodyPr wrap="none" lIns="0" tIns="0" rIns="0" bIns="0" rtlCol="0" anchor="ctr"/>
          <a:lstStyle/>
          <a:p>
            <a:pPr algn="ctr" indent="0" marL="0">
              <a:buNone/>
            </a:pPr>
            <a:r>
              <a:rPr lang="en-US" sz="1406" dirty="0">
                <a:solidFill>
                  <a:srgbClr val="A1A1AA"/>
                </a:solidFill>
                <a:latin typeface="Segoe UI Symbol" pitchFamily="34" charset="0"/>
                <a:ea typeface="Segoe UI Symbol" pitchFamily="34" charset="-122"/>
                <a:cs typeface="Segoe UI Symbol" pitchFamily="34" charset="-120"/>
              </a:rPr>
              <a:t>→</a:t>
            </a:r>
            <a:endParaRPr lang="en-US" sz="1406" dirty="0"/>
          </a:p>
        </p:txBody>
      </p:sp>
      <p:sp>
        <p:nvSpPr>
          <p:cNvPr id="56" name="Text 51"/>
          <p:cNvSpPr/>
          <p:nvPr/>
        </p:nvSpPr>
        <p:spPr>
          <a:xfrm>
            <a:off x="1579104" y="4207669"/>
            <a:ext cx="2814303" cy="257175"/>
          </a:xfrm>
          <a:prstGeom prst="rect">
            <a:avLst/>
          </a:prstGeom>
          <a:noFill/>
          <a:ln/>
        </p:spPr>
        <p:txBody>
          <a:bodyPr wrap="none" lIns="0" tIns="0" rIns="0" bIns="0" rtlCol="0" anchor="t"/>
          <a:lstStyle/>
          <a:p>
            <a:pPr algn="l" indent="0" marL="0">
              <a:lnSpc>
                <a:spcPts val="2025"/>
              </a:lnSpc>
              <a:buNone/>
            </a:pPr>
            <a:r>
              <a:rPr lang="en-US" sz="1350" b="1" dirty="0">
                <a:solidFill>
                  <a:srgbClr val="34D399"/>
                </a:solidFill>
                <a:latin typeface="Liberation Sans Narrow" pitchFamily="34" charset="0"/>
                <a:ea typeface="Liberation Sans Narrow" pitchFamily="34" charset="-122"/>
                <a:cs typeface="Liberation Sans Narrow" pitchFamily="34" charset="-120"/>
              </a:rPr>
              <a:t>$340</a:t>
            </a:r>
            <a:pPr algn="l" indent="0" marL="0">
              <a:lnSpc>
                <a:spcPts val="2025"/>
              </a:lnSpc>
              <a:buNone/>
            </a:pPr>
            <a:r>
              <a:rPr lang="en-US" sz="800" b="1" dirty="0">
                <a:solidFill>
                  <a:srgbClr val="71717A"/>
                </a:solidFill>
                <a:latin typeface="Liberation Sans Narrow" pitchFamily="34" charset="0"/>
                <a:ea typeface="Liberation Sans Narrow" pitchFamily="34" charset="-122"/>
                <a:cs typeface="Liberation Sans Narrow" pitchFamily="34" charset="-120"/>
              </a:rPr>
              <a:t> at 65</a:t>
            </a:r>
            <a:endParaRPr lang="en-US" sz="1350" dirty="0"/>
          </a:p>
        </p:txBody>
      </p:sp>
      <p:sp>
        <p:nvSpPr>
          <p:cNvPr id="57" name="Text 52"/>
          <p:cNvSpPr/>
          <p:nvPr/>
        </p:nvSpPr>
        <p:spPr>
          <a:xfrm>
            <a:off x="4632722" y="3061097"/>
            <a:ext cx="4050506" cy="1507331"/>
          </a:xfrm>
          <a:prstGeom prst="roundRect">
            <a:avLst>
              <a:gd name="adj" fmla="val 8847"/>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58" name="Text 53"/>
          <p:cNvSpPr/>
          <p:nvPr/>
        </p:nvSpPr>
        <p:spPr>
          <a:xfrm>
            <a:off x="8182384" y="3136106"/>
            <a:ext cx="382972" cy="164592"/>
          </a:xfrm>
          <a:prstGeom prst="rect">
            <a:avLst/>
          </a:prstGeom>
          <a:noFill/>
          <a:ln/>
        </p:spPr>
        <p:txBody>
          <a:bodyPr wrap="none" lIns="0" tIns="0" rIns="0" bIns="0" rtlCol="0" anchor="t"/>
          <a:lstStyle/>
          <a:p>
            <a:pPr algn="l" indent="0" marL="0">
              <a:lnSpc>
                <a:spcPts val="928"/>
              </a:lnSpc>
              <a:buNone/>
            </a:pPr>
            <a:r>
              <a:rPr lang="en-US" sz="619" spc="74" kern="0" dirty="0">
                <a:solidFill>
                  <a:srgbClr val="71717A"/>
                </a:solidFill>
                <a:latin typeface="Liberation Sans Narrow" pitchFamily="34" charset="0"/>
                <a:ea typeface="Liberation Sans Narrow" pitchFamily="34" charset="-122"/>
                <a:cs typeface="Liberation Sans Narrow" pitchFamily="34" charset="-120"/>
              </a:rPr>
              <a:t>05 / 05</a:t>
            </a:r>
            <a:endParaRPr lang="en-US" sz="619" dirty="0"/>
          </a:p>
        </p:txBody>
      </p:sp>
      <p:sp>
        <p:nvSpPr>
          <p:cNvPr id="59" name="Text 54"/>
          <p:cNvSpPr/>
          <p:nvPr/>
        </p:nvSpPr>
        <p:spPr>
          <a:xfrm>
            <a:off x="4754166" y="3168253"/>
            <a:ext cx="250031" cy="250031"/>
          </a:xfrm>
          <a:prstGeom prst="roundRect">
            <a:avLst>
              <a:gd name="adj" fmla="val 38095"/>
            </a:avLst>
          </a:prstGeom>
          <a:solidFill>
            <a:srgbClr val="6366F1">
              <a:alpha val="14000"/>
            </a:srgbClr>
          </a:solidFill>
          <a:ln w="7144">
            <a:solidFill>
              <a:srgbClr val="6366F1"/>
            </a:solidFill>
            <a:prstDash val="solid"/>
          </a:ln>
        </p:spPr>
        <p:txBody>
          <a:bodyPr wrap="square" rtlCol="0" anchor="ctr"/>
          <a:lstStyle/>
          <a:p>
            <a:pPr indent="0" marL="0">
              <a:buNone/>
            </a:pPr>
            <a:endParaRPr lang="en-US" dirty="0"/>
          </a:p>
        </p:txBody>
      </p:sp>
      <p:sp>
        <p:nvSpPr>
          <p:cNvPr id="60" name="Text 55"/>
          <p:cNvSpPr/>
          <p:nvPr/>
        </p:nvSpPr>
        <p:spPr>
          <a:xfrm>
            <a:off x="4775597" y="3189684"/>
            <a:ext cx="207169" cy="207169"/>
          </a:xfrm>
          <a:prstGeom prst="rect">
            <a:avLst/>
          </a:prstGeom>
          <a:noFill/>
          <a:ln/>
        </p:spPr>
        <p:txBody>
          <a:bodyPr wrap="none" lIns="0" tIns="0" rIns="0" bIns="0" rtlCol="0" anchor="ctr"/>
          <a:lstStyle/>
          <a:p>
            <a:pPr algn="ctr" indent="0" marL="0">
              <a:buNone/>
            </a:pPr>
            <a:r>
              <a:rPr lang="en-US" sz="1406" dirty="0">
                <a:solidFill>
                  <a:srgbClr val="818CF8"/>
                </a:solidFill>
                <a:latin typeface="Segoe UI Symbol" pitchFamily="34" charset="0"/>
                <a:ea typeface="Segoe UI Symbol" pitchFamily="34" charset="-122"/>
                <a:cs typeface="Segoe UI Symbol" pitchFamily="34" charset="-120"/>
              </a:rPr>
              <a:t>✦</a:t>
            </a:r>
            <a:endParaRPr lang="en-US" sz="1406" dirty="0"/>
          </a:p>
        </p:txBody>
      </p:sp>
      <p:sp>
        <p:nvSpPr>
          <p:cNvPr id="61" name="Text 56"/>
          <p:cNvSpPr/>
          <p:nvPr/>
        </p:nvSpPr>
        <p:spPr>
          <a:xfrm>
            <a:off x="4750594" y="3493294"/>
            <a:ext cx="3814763" cy="150809"/>
          </a:xfrm>
          <a:prstGeom prst="rect">
            <a:avLst/>
          </a:prstGeom>
          <a:noFill/>
          <a:ln/>
        </p:spPr>
        <p:txBody>
          <a:bodyPr wrap="none" lIns="0" tIns="0" rIns="0" bIns="0" rtlCol="0" anchor="t"/>
          <a:lstStyle/>
          <a:p>
            <a:pPr algn="l" indent="0" marL="0">
              <a:lnSpc>
                <a:spcPts val="1100"/>
              </a:lnSpc>
              <a:buNone/>
            </a:pPr>
            <a:r>
              <a:rPr lang="en-US" sz="956" b="1" dirty="0">
                <a:solidFill>
                  <a:srgbClr val="F5F5F7"/>
                </a:solidFill>
                <a:latin typeface="Tinos" pitchFamily="34" charset="0"/>
                <a:ea typeface="Tinos" pitchFamily="34" charset="-122"/>
                <a:cs typeface="Tinos" pitchFamily="34" charset="-120"/>
              </a:rPr>
              <a:t>Goal Collision Detector</a:t>
            </a:r>
            <a:endParaRPr lang="en-US" sz="956" dirty="0"/>
          </a:p>
        </p:txBody>
      </p:sp>
      <p:sp>
        <p:nvSpPr>
          <p:cNvPr id="62" name="Text 57"/>
          <p:cNvSpPr/>
          <p:nvPr/>
        </p:nvSpPr>
        <p:spPr>
          <a:xfrm>
            <a:off x="4750594" y="3675794"/>
            <a:ext cx="3814763" cy="515158"/>
          </a:xfrm>
          <a:prstGeom prst="rect">
            <a:avLst/>
          </a:prstGeom>
          <a:noFill/>
          <a:ln/>
        </p:spPr>
        <p:txBody>
          <a:bodyPr wrap="square" lIns="0" tIns="0" rIns="0" bIns="0" rtlCol="0" anchor="t">
            <a:normAutofit/>
          </a:bodyPr>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When two goals compete for the same monthly cash — e.g. "save for Japan trip" vs. "build emergency fund" — FinWise flags the conflict and offers a Pareto-optimal rebalance.</a:t>
            </a:r>
            <a:endParaRPr lang="en-US" sz="800" dirty="0"/>
          </a:p>
        </p:txBody>
      </p:sp>
      <p:sp>
        <p:nvSpPr>
          <p:cNvPr id="63" name="Text 58"/>
          <p:cNvSpPr/>
          <p:nvPr/>
        </p:nvSpPr>
        <p:spPr>
          <a:xfrm>
            <a:off x="4754166" y="4221956"/>
            <a:ext cx="3807619" cy="239316"/>
          </a:xfrm>
          <a:prstGeom prst="roundRect">
            <a:avLst>
              <a:gd name="adj" fmla="val 31841"/>
            </a:avLst>
          </a:prstGeom>
          <a:solidFill>
            <a:srgbClr val="F43F5E">
              <a:alpha val="10000"/>
            </a:srgbClr>
          </a:solidFill>
          <a:ln w="7144">
            <a:solidFill>
              <a:srgbClr val="F43F5E"/>
            </a:solidFill>
            <a:prstDash val="solid"/>
          </a:ln>
        </p:spPr>
        <p:txBody>
          <a:bodyPr wrap="square" rtlCol="0" anchor="ctr"/>
          <a:lstStyle/>
          <a:p>
            <a:pPr indent="0" marL="0">
              <a:buNone/>
            </a:pPr>
            <a:endParaRPr lang="en-US" dirty="0"/>
          </a:p>
        </p:txBody>
      </p:sp>
      <p:sp>
        <p:nvSpPr>
          <p:cNvPr id="64" name="Text 59"/>
          <p:cNvSpPr/>
          <p:nvPr/>
        </p:nvSpPr>
        <p:spPr>
          <a:xfrm>
            <a:off x="4750594" y="4218384"/>
            <a:ext cx="3814763" cy="246459"/>
          </a:xfrm>
          <a:prstGeom prst="rect">
            <a:avLst/>
          </a:prstGeom>
          <a:noFill/>
          <a:ln/>
        </p:spPr>
        <p:txBody>
          <a:bodyPr wrap="square" lIns="71438" tIns="57150" rIns="71438" bIns="57150" rtlCol="0" anchor="t"/>
          <a:lstStyle/>
          <a:p>
            <a:pPr algn="l" indent="0" marL="0">
              <a:lnSpc>
                <a:spcPts val="928"/>
              </a:lnSpc>
              <a:buNone/>
            </a:pPr>
            <a:r>
              <a:rPr lang="en-US" sz="800" b="1" dirty="0">
                <a:solidFill>
                  <a:srgbClr val="F43F5E"/>
                </a:solidFill>
                <a:latin typeface="Carlito" pitchFamily="34" charset="0"/>
                <a:ea typeface="Carlito" pitchFamily="34" charset="-122"/>
                <a:cs typeface="Carlito" pitchFamily="34" charset="-120"/>
              </a:rPr>
              <a:t>Collision:</a:t>
            </a:r>
            <a:pPr algn="l" indent="0" marL="0">
              <a:lnSpc>
                <a:spcPts val="928"/>
              </a:lnSpc>
              <a:buNone/>
            </a:pPr>
            <a:r>
              <a:rPr lang="en-US" sz="800" dirty="0">
                <a:solidFill>
                  <a:srgbClr val="A1A1AA"/>
                </a:solidFill>
                <a:latin typeface="Carlito" pitchFamily="34" charset="0"/>
                <a:ea typeface="Carlito" pitchFamily="34" charset="-122"/>
                <a:cs typeface="Carlito" pitchFamily="34" charset="-120"/>
              </a:rPr>
              <a:t> "Japan Trip" + "Emergency Fund" need </a:t>
            </a:r>
            <a:pPr algn="l" indent="0" marL="0">
              <a:lnSpc>
                <a:spcPts val="928"/>
              </a:lnSpc>
              <a:buNone/>
            </a:pPr>
            <a:r>
              <a:rPr lang="en-US" sz="800" dirty="0">
                <a:solidFill>
                  <a:srgbClr val="F5F5F7"/>
                </a:solidFill>
                <a:latin typeface="Liberation Sans Narrow" pitchFamily="34" charset="0"/>
                <a:ea typeface="Liberation Sans Narrow" pitchFamily="34" charset="-122"/>
                <a:cs typeface="Liberation Sans Narrow" pitchFamily="34" charset="-120"/>
              </a:rPr>
              <a:t>$642/mo</a:t>
            </a:r>
            <a:pPr algn="l" indent="0" marL="0">
              <a:lnSpc>
                <a:spcPts val="928"/>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 combined; only $480 free.</a:t>
            </a:r>
            <a:endParaRPr lang="en-US" sz="800" dirty="0"/>
          </a:p>
        </p:txBody>
      </p:sp>
      <p:sp>
        <p:nvSpPr>
          <p:cNvPr id="65" name="Text 60"/>
          <p:cNvSpPr/>
          <p:nvPr/>
        </p:nvSpPr>
        <p:spPr>
          <a:xfrm>
            <a:off x="457200" y="4861322"/>
            <a:ext cx="42863" cy="42863"/>
          </a:xfrm>
          <a:prstGeom prst="roundRect">
            <a:avLst>
              <a:gd name="adj" fmla="val 22199741"/>
            </a:avLst>
          </a:prstGeom>
          <a:solidFill>
            <a:srgbClr val="10B981"/>
          </a:solidFill>
          <a:ln/>
        </p:spPr>
        <p:txBody>
          <a:bodyPr wrap="square" rtlCol="0" anchor="ctr"/>
          <a:lstStyle/>
          <a:p>
            <a:pPr indent="0" marL="0">
              <a:buNone/>
            </a:pPr>
            <a:endParaRPr lang="en-US" dirty="0"/>
          </a:p>
        </p:txBody>
      </p:sp>
      <p:sp>
        <p:nvSpPr>
          <p:cNvPr id="66" name="Text 61"/>
          <p:cNvSpPr/>
          <p:nvPr/>
        </p:nvSpPr>
        <p:spPr>
          <a:xfrm>
            <a:off x="457200" y="4814888"/>
            <a:ext cx="786571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Carlito" pitchFamily="34" charset="0"/>
                <a:ea typeface="Carlito" pitchFamily="34" charset="-122"/>
                <a:cs typeface="Carlito" pitchFamily="34" charset="-120"/>
              </a:rPr>
              <a:t>FINWISE · TOPIC A</a:t>
            </a:r>
            <a:endParaRPr lang="en-US" sz="800" dirty="0"/>
          </a:p>
        </p:txBody>
      </p:sp>
      <p:sp>
        <p:nvSpPr>
          <p:cNvPr id="67" name="Text 62"/>
          <p:cNvSpPr/>
          <p:nvPr/>
        </p:nvSpPr>
        <p:spPr>
          <a:xfrm>
            <a:off x="8337203" y="4814888"/>
            <a:ext cx="499050"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Liberation Sans Narrow" pitchFamily="34" charset="0"/>
                <a:ea typeface="Liberation Sans Narrow" pitchFamily="34" charset="-122"/>
                <a:cs typeface="Liberation Sans Narrow" pitchFamily="34" charset="-120"/>
              </a:rPr>
              <a:t>08 /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45174"/>
            <a:ext cx="884597" cy="224028"/>
          </a:xfrm>
          <a:prstGeom prst="roundRect">
            <a:avLst>
              <a:gd name="adj" fmla="val 4247449"/>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3" name="Text 1"/>
          <p:cNvSpPr/>
          <p:nvPr/>
        </p:nvSpPr>
        <p:spPr>
          <a:xfrm>
            <a:off x="449522" y="257175"/>
            <a:ext cx="899952"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09 · SECURITY</a:t>
            </a:r>
            <a:endParaRPr lang="en-US" sz="800" dirty="0"/>
          </a:p>
        </p:txBody>
      </p:sp>
      <p:sp>
        <p:nvSpPr>
          <p:cNvPr id="4" name="Text 2"/>
          <p:cNvSpPr/>
          <p:nvPr/>
        </p:nvSpPr>
        <p:spPr>
          <a:xfrm>
            <a:off x="1427522" y="292894"/>
            <a:ext cx="2831959"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3-TIER PERMISSIONS · AUDIT · PRIVACY MODE</a:t>
            </a:r>
            <a:endParaRPr lang="en-US" sz="800" dirty="0"/>
          </a:p>
        </p:txBody>
      </p:sp>
      <p:sp>
        <p:nvSpPr>
          <p:cNvPr id="5" name="Text 3"/>
          <p:cNvSpPr/>
          <p:nvPr/>
        </p:nvSpPr>
        <p:spPr>
          <a:xfrm>
            <a:off x="6276231" y="292894"/>
            <a:ext cx="2788573"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FINWISE · PERSONAL FINANCE INTELLIGENCE</a:t>
            </a:r>
            <a:endParaRPr lang="en-US" sz="800" dirty="0"/>
          </a:p>
        </p:txBody>
      </p:sp>
      <p:sp>
        <p:nvSpPr>
          <p:cNvPr id="6" name="Text 4"/>
          <p:cNvSpPr/>
          <p:nvPr/>
        </p:nvSpPr>
        <p:spPr>
          <a:xfrm>
            <a:off x="457200" y="557213"/>
            <a:ext cx="8636000" cy="158306"/>
          </a:xfrm>
          <a:prstGeom prst="rect">
            <a:avLst/>
          </a:prstGeom>
          <a:noFill/>
          <a:ln/>
        </p:spPr>
        <p:txBody>
          <a:bodyPr wrap="none" lIns="0" tIns="0" rIns="0" bIns="0" rtlCol="0" anchor="t">
            <a:normAutofit/>
          </a:bodyPr>
          <a:lstStyle/>
          <a:p>
            <a:pPr algn="l" indent="0" marL="0">
              <a:lnSpc>
                <a:spcPts val="1013"/>
              </a:lnSpc>
              <a:buNone/>
            </a:pPr>
            <a:r>
              <a:rPr lang="en-US" sz="800" spc="122" kern="0" dirty="0">
                <a:solidFill>
                  <a:srgbClr val="818CF8"/>
                </a:solidFill>
                <a:latin typeface="Courier New" pitchFamily="34" charset="0"/>
                <a:ea typeface="Courier New" pitchFamily="34" charset="-122"/>
                <a:cs typeface="Courier New" pitchFamily="34" charset="-120"/>
              </a:rPr>
              <a:t>SECURITY &amp; COMPLIANCE</a:t>
            </a:r>
            <a:endParaRPr lang="en-US" sz="800" dirty="0"/>
          </a:p>
        </p:txBody>
      </p:sp>
      <p:sp>
        <p:nvSpPr>
          <p:cNvPr id="7" name="Text 5"/>
          <p:cNvSpPr/>
          <p:nvPr/>
        </p:nvSpPr>
        <p:spPr>
          <a:xfrm>
            <a:off x="457200" y="742950"/>
            <a:ext cx="8636000" cy="324041"/>
          </a:xfrm>
          <a:prstGeom prst="rect">
            <a:avLst/>
          </a:prstGeom>
          <a:noFill/>
          <a:ln/>
        </p:spPr>
        <p:txBody>
          <a:bodyPr wrap="square" lIns="0" tIns="0" rIns="0" bIns="0" rtlCol="0" anchor="t"/>
          <a:lstStyle/>
          <a:p>
            <a:pPr algn="l" indent="0" marL="0">
              <a:lnSpc>
                <a:spcPts val="2363"/>
              </a:lnSpc>
              <a:buNone/>
            </a:pPr>
            <a:r>
              <a:rPr lang="en-US" sz="2250" b="1" spc="-56" kern="0" dirty="0">
                <a:solidFill>
                  <a:srgbClr val="FFFFFF"/>
                </a:solidFill>
                <a:latin typeface="Tinos" pitchFamily="34" charset="0"/>
                <a:ea typeface="Tinos" pitchFamily="34" charset="-122"/>
                <a:cs typeface="Tinos" pitchFamily="34" charset="-120"/>
              </a:rPr>
              <a:t>An agentic system has to be </a:t>
            </a:r>
            <a:pPr algn="l" indent="0" marL="0">
              <a:lnSpc>
                <a:spcPts val="2363"/>
              </a:lnSpc>
              <a:buNone/>
            </a:pPr>
            <a:r>
              <a:rPr lang="en-US" sz="2250" b="1" i="1" spc="-56" kern="0" dirty="0">
                <a:solidFill>
                  <a:srgbClr val="34D399"/>
                </a:solidFill>
                <a:latin typeface="Tinos" pitchFamily="34" charset="0"/>
                <a:ea typeface="Tinos" pitchFamily="34" charset="-122"/>
                <a:cs typeface="Tinos" pitchFamily="34" charset="-120"/>
              </a:rPr>
              <a:t>trustworthy by design.</a:t>
            </a:r>
            <a:endParaRPr lang="en-US" sz="2250" dirty="0"/>
          </a:p>
        </p:txBody>
      </p:sp>
      <p:sp>
        <p:nvSpPr>
          <p:cNvPr id="8" name="Text 6"/>
          <p:cNvSpPr/>
          <p:nvPr/>
        </p:nvSpPr>
        <p:spPr>
          <a:xfrm>
            <a:off x="457200" y="1285875"/>
            <a:ext cx="5728455"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Liberation Sans Narrow" pitchFamily="34" charset="0"/>
                <a:ea typeface="Liberation Sans Narrow" pitchFamily="34" charset="-122"/>
                <a:cs typeface="Liberation Sans Narrow" pitchFamily="34" charset="-120"/>
              </a:rPr>
              <a:t>3-TIER PERMISSION MODEL</a:t>
            </a:r>
            <a:endParaRPr lang="en-US" sz="800" dirty="0"/>
          </a:p>
        </p:txBody>
      </p:sp>
      <p:sp>
        <p:nvSpPr>
          <p:cNvPr id="9" name="Text 7"/>
          <p:cNvSpPr/>
          <p:nvPr/>
        </p:nvSpPr>
        <p:spPr>
          <a:xfrm>
            <a:off x="460772" y="1493044"/>
            <a:ext cx="1516038" cy="857250"/>
          </a:xfrm>
          <a:prstGeom prst="roundRect">
            <a:avLst>
              <a:gd name="adj" fmla="val 15556"/>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0" name="Text 8"/>
          <p:cNvSpPr/>
          <p:nvPr/>
        </p:nvSpPr>
        <p:spPr>
          <a:xfrm>
            <a:off x="564356" y="1628775"/>
            <a:ext cx="128588" cy="128588"/>
          </a:xfrm>
          <a:prstGeom prst="rect">
            <a:avLst/>
          </a:prstGeom>
          <a:noFill/>
          <a:ln/>
        </p:spPr>
        <p:txBody>
          <a:bodyPr wrap="none" lIns="0" tIns="0" rIns="0" bIns="0" rtlCol="0" anchor="ctr"/>
          <a:lstStyle/>
          <a:p>
            <a:pPr algn="ctr" indent="0" marL="0">
              <a:buNone/>
            </a:pPr>
            <a:r>
              <a:rPr lang="en-US" sz="1266" dirty="0">
                <a:solidFill>
                  <a:srgbClr val="A1A1AA"/>
                </a:solidFill>
                <a:latin typeface="Segoe UI Symbol" pitchFamily="34" charset="0"/>
                <a:ea typeface="Segoe UI Symbol" pitchFamily="34" charset="-122"/>
                <a:cs typeface="Segoe UI Symbol" pitchFamily="34" charset="-120"/>
              </a:rPr>
              <a:t>◉</a:t>
            </a:r>
            <a:endParaRPr lang="en-US" sz="1266" dirty="0"/>
          </a:p>
        </p:txBody>
      </p:sp>
      <p:sp>
        <p:nvSpPr>
          <p:cNvPr id="11" name="Text 9"/>
          <p:cNvSpPr/>
          <p:nvPr/>
        </p:nvSpPr>
        <p:spPr>
          <a:xfrm>
            <a:off x="750094" y="1596628"/>
            <a:ext cx="1123131" cy="208312"/>
          </a:xfrm>
          <a:prstGeom prst="rect">
            <a:avLst/>
          </a:prstGeom>
          <a:noFill/>
          <a:ln/>
        </p:spPr>
        <p:txBody>
          <a:bodyPr wrap="none" lIns="0" tIns="0" rIns="0" bIns="0" rtlCol="0" anchor="t"/>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Viewer</a:t>
            </a:r>
            <a:endParaRPr lang="en-US" sz="1013" dirty="0"/>
          </a:p>
        </p:txBody>
      </p:sp>
      <p:sp>
        <p:nvSpPr>
          <p:cNvPr id="12" name="Text 10"/>
          <p:cNvSpPr/>
          <p:nvPr/>
        </p:nvSpPr>
        <p:spPr>
          <a:xfrm>
            <a:off x="564356" y="1832372"/>
            <a:ext cx="1387401" cy="208312"/>
          </a:xfrm>
          <a:prstGeom prst="rect">
            <a:avLst/>
          </a:prstGeom>
          <a:noFill/>
          <a:ln/>
        </p:spPr>
        <p:txBody>
          <a:bodyPr wrap="square" lIns="0" tIns="0" rIns="0" bIns="0" rtlCol="0" anchor="t">
            <a:normAutofit/>
          </a:bodyPr>
          <a:lstStyle/>
          <a:p>
            <a:pPr algn="l" indent="0" marL="0">
              <a:lnSpc>
                <a:spcPts val="928"/>
              </a:lnSpc>
              <a:buNone/>
            </a:pPr>
            <a:r>
              <a:rPr lang="en-US" sz="800" dirty="0">
                <a:solidFill>
                  <a:srgbClr val="A1A1AA"/>
                </a:solidFill>
                <a:latin typeface="Carlito" pitchFamily="34" charset="0"/>
                <a:ea typeface="Carlito" pitchFamily="34" charset="-122"/>
                <a:cs typeface="Carlito" pitchFamily="34" charset="-120"/>
              </a:rPr>
              <a:t>Read-only access. Cannot invoke write tools.</a:t>
            </a:r>
            <a:endParaRPr lang="en-US" sz="800" dirty="0"/>
          </a:p>
        </p:txBody>
      </p:sp>
      <p:sp>
        <p:nvSpPr>
          <p:cNvPr id="13" name="Text 11"/>
          <p:cNvSpPr/>
          <p:nvPr/>
        </p:nvSpPr>
        <p:spPr>
          <a:xfrm>
            <a:off x="564356" y="2087690"/>
            <a:ext cx="272132" cy="168021"/>
          </a:xfrm>
          <a:prstGeom prst="roundRect">
            <a:avLst>
              <a:gd name="adj" fmla="val 22676"/>
            </a:avLst>
          </a:prstGeom>
          <a:solidFill>
            <a:srgbClr val="10B981">
              <a:alpha val="16000"/>
            </a:srgbClr>
          </a:solidFill>
          <a:ln w="7144">
            <a:solidFill>
              <a:srgbClr val="10B981"/>
            </a:solidFill>
            <a:prstDash val="solid"/>
          </a:ln>
        </p:spPr>
        <p:txBody>
          <a:bodyPr wrap="square" rtlCol="0" anchor="ctr"/>
          <a:lstStyle/>
          <a:p>
            <a:pPr indent="0" marL="0">
              <a:buNone/>
            </a:pPr>
            <a:endParaRPr lang="en-US" dirty="0"/>
          </a:p>
        </p:txBody>
      </p:sp>
      <p:sp>
        <p:nvSpPr>
          <p:cNvPr id="14" name="Text 12"/>
          <p:cNvSpPr/>
          <p:nvPr/>
        </p:nvSpPr>
        <p:spPr>
          <a:xfrm>
            <a:off x="533981" y="2096691"/>
            <a:ext cx="332882" cy="150019"/>
          </a:xfrm>
          <a:prstGeom prst="rect">
            <a:avLst/>
          </a:prstGeom>
          <a:noFill/>
          <a:ln/>
        </p:spPr>
        <p:txBody>
          <a:bodyPr wrap="none" lIns="0" tIns="0" rIns="0" bIns="0" rtlCol="0" anchor="ctr"/>
          <a:lstStyle/>
          <a:p>
            <a:pPr algn="ctr" indent="0" marL="0">
              <a:lnSpc>
                <a:spcPts val="844"/>
              </a:lnSpc>
              <a:buNone/>
            </a:pPr>
            <a:r>
              <a:rPr lang="en-US" sz="800" dirty="0">
                <a:solidFill>
                  <a:srgbClr val="34D399"/>
                </a:solidFill>
                <a:latin typeface="Courier New" pitchFamily="34" charset="0"/>
                <a:ea typeface="Courier New" pitchFamily="34" charset="-122"/>
                <a:cs typeface="Courier New" pitchFamily="34" charset="-120"/>
              </a:rPr>
              <a:t>READ</a:t>
            </a:r>
            <a:endParaRPr lang="en-US" sz="800" dirty="0"/>
          </a:p>
        </p:txBody>
      </p:sp>
      <p:sp>
        <p:nvSpPr>
          <p:cNvPr id="15" name="Text 13"/>
          <p:cNvSpPr/>
          <p:nvPr/>
        </p:nvSpPr>
        <p:spPr>
          <a:xfrm>
            <a:off x="901452" y="2087690"/>
            <a:ext cx="315106" cy="168021"/>
          </a:xfrm>
          <a:prstGeom prst="roundRect">
            <a:avLst>
              <a:gd name="adj" fmla="val 22676"/>
            </a:avLst>
          </a:prstGeom>
          <a:solidFill>
            <a:srgbClr val="F43F5E">
              <a:alpha val="10000"/>
            </a:srgbClr>
          </a:solidFill>
          <a:ln w="7144">
            <a:solidFill>
              <a:srgbClr val="F43F5E"/>
            </a:solidFill>
            <a:prstDash val="solid"/>
          </a:ln>
        </p:spPr>
        <p:txBody>
          <a:bodyPr wrap="square" rtlCol="0" anchor="ctr"/>
          <a:lstStyle/>
          <a:p>
            <a:pPr indent="0" marL="0">
              <a:buNone/>
            </a:pPr>
            <a:endParaRPr lang="en-US" dirty="0"/>
          </a:p>
        </p:txBody>
      </p:sp>
      <p:sp>
        <p:nvSpPr>
          <p:cNvPr id="16" name="Text 14"/>
          <p:cNvSpPr/>
          <p:nvPr/>
        </p:nvSpPr>
        <p:spPr>
          <a:xfrm>
            <a:off x="855399" y="2096691"/>
            <a:ext cx="407213" cy="150019"/>
          </a:xfrm>
          <a:prstGeom prst="rect">
            <a:avLst/>
          </a:prstGeom>
          <a:noFill/>
          <a:ln/>
        </p:spPr>
        <p:txBody>
          <a:bodyPr wrap="none" lIns="0" tIns="0" rIns="0" bIns="0" rtlCol="0" anchor="ctr"/>
          <a:lstStyle/>
          <a:p>
            <a:pPr algn="ctr" indent="0" marL="0">
              <a:lnSpc>
                <a:spcPts val="844"/>
              </a:lnSpc>
              <a:buNone/>
            </a:pPr>
            <a:r>
              <a:rPr lang="en-US" sz="800" dirty="0">
                <a:solidFill>
                  <a:srgbClr val="F43F5E"/>
                </a:solidFill>
                <a:latin typeface="Courier New" pitchFamily="34" charset="0"/>
                <a:ea typeface="Courier New" pitchFamily="34" charset="-122"/>
                <a:cs typeface="Courier New" pitchFamily="34" charset="-120"/>
              </a:rPr>
              <a:t>WRITE</a:t>
            </a:r>
            <a:endParaRPr lang="en-US" sz="800" dirty="0"/>
          </a:p>
        </p:txBody>
      </p:sp>
      <p:pic>
        <p:nvPicPr>
          <p:cNvPr id="17" name="Image 0" descr="preencoded.png">    </p:cNvPr>
          <p:cNvPicPr>
            <a:picLocks noChangeAspect="1"/>
          </p:cNvPicPr>
          <p:nvPr/>
        </p:nvPicPr>
        <p:blipFill>
          <a:blip r:embed="rId1"/>
          <a:stretch>
            <a:fillRect/>
          </a:stretch>
        </p:blipFill>
        <p:spPr>
          <a:xfrm>
            <a:off x="2066106" y="1489472"/>
            <a:ext cx="1523181" cy="864394"/>
          </a:xfrm>
          <a:prstGeom prst="rect">
            <a:avLst/>
          </a:prstGeom>
        </p:spPr>
      </p:pic>
      <p:sp>
        <p:nvSpPr>
          <p:cNvPr id="18" name="Text 15"/>
          <p:cNvSpPr/>
          <p:nvPr/>
        </p:nvSpPr>
        <p:spPr>
          <a:xfrm>
            <a:off x="2069678" y="1493044"/>
            <a:ext cx="1516038" cy="857250"/>
          </a:xfrm>
          <a:prstGeom prst="roundRect">
            <a:avLst>
              <a:gd name="adj" fmla="val 15556"/>
            </a:avLst>
          </a:prstGeom>
          <a:noFill/>
          <a:ln w="7144">
            <a:solidFill>
              <a:srgbClr val="6366F1"/>
            </a:solidFill>
            <a:prstDash val="solid"/>
          </a:ln>
        </p:spPr>
        <p:txBody>
          <a:bodyPr wrap="square" rtlCol="0" anchor="ctr"/>
          <a:lstStyle/>
          <a:p>
            <a:pPr indent="0" marL="0">
              <a:buNone/>
            </a:pPr>
            <a:endParaRPr lang="en-US" dirty="0"/>
          </a:p>
        </p:txBody>
      </p:sp>
      <p:sp>
        <p:nvSpPr>
          <p:cNvPr id="19" name="Text 16"/>
          <p:cNvSpPr/>
          <p:nvPr/>
        </p:nvSpPr>
        <p:spPr>
          <a:xfrm>
            <a:off x="2173263" y="1628775"/>
            <a:ext cx="128588" cy="128588"/>
          </a:xfrm>
          <a:prstGeom prst="rect">
            <a:avLst/>
          </a:prstGeom>
          <a:noFill/>
          <a:ln/>
        </p:spPr>
        <p:txBody>
          <a:bodyPr wrap="none" lIns="0" tIns="0" rIns="0" bIns="0" rtlCol="0" anchor="ctr"/>
          <a:lstStyle/>
          <a:p>
            <a:pPr algn="ctr" indent="0" marL="0">
              <a:buNone/>
            </a:pPr>
            <a:r>
              <a:rPr lang="en-US" sz="1266" dirty="0">
                <a:solidFill>
                  <a:srgbClr val="818CF8"/>
                </a:solidFill>
                <a:latin typeface="Segoe UI Symbol" pitchFamily="34" charset="0"/>
                <a:ea typeface="Segoe UI Symbol" pitchFamily="34" charset="-122"/>
                <a:cs typeface="Segoe UI Symbol" pitchFamily="34" charset="-120"/>
              </a:rPr>
              <a:t>✎</a:t>
            </a:r>
            <a:endParaRPr lang="en-US" sz="1266" dirty="0"/>
          </a:p>
        </p:txBody>
      </p:sp>
      <p:sp>
        <p:nvSpPr>
          <p:cNvPr id="20" name="Text 17"/>
          <p:cNvSpPr/>
          <p:nvPr/>
        </p:nvSpPr>
        <p:spPr>
          <a:xfrm>
            <a:off x="2359000" y="1596628"/>
            <a:ext cx="1123131" cy="208312"/>
          </a:xfrm>
          <a:prstGeom prst="rect">
            <a:avLst/>
          </a:prstGeom>
          <a:noFill/>
          <a:ln/>
        </p:spPr>
        <p:txBody>
          <a:bodyPr wrap="none" lIns="0" tIns="0" rIns="0" bIns="0" rtlCol="0" anchor="t"/>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Editor</a:t>
            </a:r>
            <a:endParaRPr lang="en-US" sz="1013" dirty="0"/>
          </a:p>
        </p:txBody>
      </p:sp>
      <p:sp>
        <p:nvSpPr>
          <p:cNvPr id="21" name="Text 18"/>
          <p:cNvSpPr/>
          <p:nvPr/>
        </p:nvSpPr>
        <p:spPr>
          <a:xfrm>
            <a:off x="2173263" y="1832372"/>
            <a:ext cx="1387401" cy="208312"/>
          </a:xfrm>
          <a:prstGeom prst="rect">
            <a:avLst/>
          </a:prstGeom>
          <a:noFill/>
          <a:ln/>
        </p:spPr>
        <p:txBody>
          <a:bodyPr wrap="square" lIns="0" tIns="0" rIns="0" bIns="0" rtlCol="0" anchor="t">
            <a:normAutofit/>
          </a:bodyPr>
          <a:lstStyle/>
          <a:p>
            <a:pPr algn="l" indent="0" marL="0">
              <a:lnSpc>
                <a:spcPts val="928"/>
              </a:lnSpc>
              <a:buNone/>
            </a:pPr>
            <a:r>
              <a:rPr lang="en-US" sz="800" dirty="0">
                <a:solidFill>
                  <a:srgbClr val="A1A1AA"/>
                </a:solidFill>
                <a:latin typeface="Carlito" pitchFamily="34" charset="0"/>
                <a:ea typeface="Carlito" pitchFamily="34" charset="-122"/>
                <a:cs typeface="Carlito" pitchFamily="34" charset="-120"/>
              </a:rPr>
              <a:t>Adds transactions, updates budgets, manages goals.</a:t>
            </a:r>
            <a:endParaRPr lang="en-US" sz="800" dirty="0"/>
          </a:p>
        </p:txBody>
      </p:sp>
      <p:sp>
        <p:nvSpPr>
          <p:cNvPr id="22" name="Text 19"/>
          <p:cNvSpPr/>
          <p:nvPr/>
        </p:nvSpPr>
        <p:spPr>
          <a:xfrm>
            <a:off x="2173263" y="2087690"/>
            <a:ext cx="272132" cy="168021"/>
          </a:xfrm>
          <a:prstGeom prst="roundRect">
            <a:avLst>
              <a:gd name="adj" fmla="val 22676"/>
            </a:avLst>
          </a:prstGeom>
          <a:solidFill>
            <a:srgbClr val="10B981">
              <a:alpha val="16000"/>
            </a:srgbClr>
          </a:solidFill>
          <a:ln w="7144">
            <a:solidFill>
              <a:srgbClr val="10B981"/>
            </a:solidFill>
            <a:prstDash val="solid"/>
          </a:ln>
        </p:spPr>
        <p:txBody>
          <a:bodyPr wrap="square" rtlCol="0" anchor="ctr"/>
          <a:lstStyle/>
          <a:p>
            <a:pPr indent="0" marL="0">
              <a:buNone/>
            </a:pPr>
            <a:endParaRPr lang="en-US" dirty="0"/>
          </a:p>
        </p:txBody>
      </p:sp>
      <p:sp>
        <p:nvSpPr>
          <p:cNvPr id="23" name="Text 20"/>
          <p:cNvSpPr/>
          <p:nvPr/>
        </p:nvSpPr>
        <p:spPr>
          <a:xfrm>
            <a:off x="2142888" y="2096691"/>
            <a:ext cx="332882" cy="150019"/>
          </a:xfrm>
          <a:prstGeom prst="rect">
            <a:avLst/>
          </a:prstGeom>
          <a:noFill/>
          <a:ln/>
        </p:spPr>
        <p:txBody>
          <a:bodyPr wrap="none" lIns="0" tIns="0" rIns="0" bIns="0" rtlCol="0" anchor="ctr"/>
          <a:lstStyle/>
          <a:p>
            <a:pPr algn="ctr" indent="0" marL="0">
              <a:lnSpc>
                <a:spcPts val="844"/>
              </a:lnSpc>
              <a:buNone/>
            </a:pPr>
            <a:r>
              <a:rPr lang="en-US" sz="800" dirty="0">
                <a:solidFill>
                  <a:srgbClr val="34D399"/>
                </a:solidFill>
                <a:latin typeface="Courier New" pitchFamily="34" charset="0"/>
                <a:ea typeface="Courier New" pitchFamily="34" charset="-122"/>
                <a:cs typeface="Courier New" pitchFamily="34" charset="-120"/>
              </a:rPr>
              <a:t>READ</a:t>
            </a:r>
            <a:endParaRPr lang="en-US" sz="800" dirty="0"/>
          </a:p>
        </p:txBody>
      </p:sp>
      <p:sp>
        <p:nvSpPr>
          <p:cNvPr id="24" name="Text 21"/>
          <p:cNvSpPr/>
          <p:nvPr/>
        </p:nvSpPr>
        <p:spPr>
          <a:xfrm>
            <a:off x="2510358" y="2087690"/>
            <a:ext cx="315106" cy="168021"/>
          </a:xfrm>
          <a:prstGeom prst="roundRect">
            <a:avLst>
              <a:gd name="adj" fmla="val 22676"/>
            </a:avLst>
          </a:prstGeom>
          <a:solidFill>
            <a:srgbClr val="10B981">
              <a:alpha val="16000"/>
            </a:srgbClr>
          </a:solidFill>
          <a:ln w="7144">
            <a:solidFill>
              <a:srgbClr val="10B981"/>
            </a:solidFill>
            <a:prstDash val="solid"/>
          </a:ln>
        </p:spPr>
        <p:txBody>
          <a:bodyPr wrap="square" rtlCol="0" anchor="ctr"/>
          <a:lstStyle/>
          <a:p>
            <a:pPr indent="0" marL="0">
              <a:buNone/>
            </a:pPr>
            <a:endParaRPr lang="en-US" dirty="0"/>
          </a:p>
        </p:txBody>
      </p:sp>
      <p:sp>
        <p:nvSpPr>
          <p:cNvPr id="25" name="Text 22"/>
          <p:cNvSpPr/>
          <p:nvPr/>
        </p:nvSpPr>
        <p:spPr>
          <a:xfrm>
            <a:off x="2464305" y="2096691"/>
            <a:ext cx="407213" cy="150019"/>
          </a:xfrm>
          <a:prstGeom prst="rect">
            <a:avLst/>
          </a:prstGeom>
          <a:noFill/>
          <a:ln/>
        </p:spPr>
        <p:txBody>
          <a:bodyPr wrap="none" lIns="0" tIns="0" rIns="0" bIns="0" rtlCol="0" anchor="ctr"/>
          <a:lstStyle/>
          <a:p>
            <a:pPr algn="ctr" indent="0" marL="0">
              <a:lnSpc>
                <a:spcPts val="844"/>
              </a:lnSpc>
              <a:buNone/>
            </a:pPr>
            <a:r>
              <a:rPr lang="en-US" sz="800" dirty="0">
                <a:solidFill>
                  <a:srgbClr val="34D399"/>
                </a:solidFill>
                <a:latin typeface="Courier New" pitchFamily="34" charset="0"/>
                <a:ea typeface="Courier New" pitchFamily="34" charset="-122"/>
                <a:cs typeface="Courier New" pitchFamily="34" charset="-120"/>
              </a:rPr>
              <a:t>WRITE</a:t>
            </a:r>
            <a:endParaRPr lang="en-US" sz="800" dirty="0"/>
          </a:p>
        </p:txBody>
      </p:sp>
      <p:sp>
        <p:nvSpPr>
          <p:cNvPr id="26" name="Text 23"/>
          <p:cNvSpPr/>
          <p:nvPr/>
        </p:nvSpPr>
        <p:spPr>
          <a:xfrm>
            <a:off x="2890428" y="2087690"/>
            <a:ext cx="315106" cy="168021"/>
          </a:xfrm>
          <a:prstGeom prst="roundRect">
            <a:avLst>
              <a:gd name="adj" fmla="val 22676"/>
            </a:avLst>
          </a:prstGeom>
          <a:solidFill>
            <a:srgbClr val="F43F5E">
              <a:alpha val="10000"/>
            </a:srgbClr>
          </a:solidFill>
          <a:ln w="7144">
            <a:solidFill>
              <a:srgbClr val="F43F5E"/>
            </a:solidFill>
            <a:prstDash val="solid"/>
          </a:ln>
        </p:spPr>
        <p:txBody>
          <a:bodyPr wrap="square" rtlCol="0" anchor="ctr"/>
          <a:lstStyle/>
          <a:p>
            <a:pPr indent="0" marL="0">
              <a:buNone/>
            </a:pPr>
            <a:endParaRPr lang="en-US" dirty="0"/>
          </a:p>
        </p:txBody>
      </p:sp>
      <p:sp>
        <p:nvSpPr>
          <p:cNvPr id="27" name="Text 24"/>
          <p:cNvSpPr/>
          <p:nvPr/>
        </p:nvSpPr>
        <p:spPr>
          <a:xfrm>
            <a:off x="2844375" y="2096691"/>
            <a:ext cx="407213" cy="150019"/>
          </a:xfrm>
          <a:prstGeom prst="rect">
            <a:avLst/>
          </a:prstGeom>
          <a:noFill/>
          <a:ln/>
        </p:spPr>
        <p:txBody>
          <a:bodyPr wrap="none" lIns="0" tIns="0" rIns="0" bIns="0" rtlCol="0" anchor="ctr"/>
          <a:lstStyle/>
          <a:p>
            <a:pPr algn="ctr" indent="0" marL="0">
              <a:lnSpc>
                <a:spcPts val="844"/>
              </a:lnSpc>
              <a:buNone/>
            </a:pPr>
            <a:r>
              <a:rPr lang="en-US" sz="800" dirty="0">
                <a:solidFill>
                  <a:srgbClr val="F43F5E"/>
                </a:solidFill>
                <a:latin typeface="Courier New" pitchFamily="34" charset="0"/>
                <a:ea typeface="Courier New" pitchFamily="34" charset="-122"/>
                <a:cs typeface="Courier New" pitchFamily="34" charset="-120"/>
              </a:rPr>
              <a:t>PERMS</a:t>
            </a:r>
            <a:endParaRPr lang="en-US" sz="800" dirty="0"/>
          </a:p>
        </p:txBody>
      </p:sp>
      <p:sp>
        <p:nvSpPr>
          <p:cNvPr id="28" name="Text 25"/>
          <p:cNvSpPr/>
          <p:nvPr/>
        </p:nvSpPr>
        <p:spPr>
          <a:xfrm>
            <a:off x="3678585" y="1493044"/>
            <a:ext cx="1516038" cy="857250"/>
          </a:xfrm>
          <a:prstGeom prst="roundRect">
            <a:avLst>
              <a:gd name="adj" fmla="val 15556"/>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29" name="Text 26"/>
          <p:cNvSpPr/>
          <p:nvPr/>
        </p:nvSpPr>
        <p:spPr>
          <a:xfrm>
            <a:off x="3782169" y="1628775"/>
            <a:ext cx="128588" cy="128588"/>
          </a:xfrm>
          <a:prstGeom prst="rect">
            <a:avLst/>
          </a:prstGeom>
          <a:noFill/>
          <a:ln/>
        </p:spPr>
        <p:txBody>
          <a:bodyPr wrap="none" lIns="0" tIns="0" rIns="0" bIns="0" rtlCol="0" anchor="ctr"/>
          <a:lstStyle/>
          <a:p>
            <a:pPr algn="ctr" indent="0" marL="0">
              <a:buNone/>
            </a:pPr>
            <a:r>
              <a:rPr lang="en-US" sz="1266" dirty="0">
                <a:solidFill>
                  <a:srgbClr val="34D399"/>
                </a:solidFill>
                <a:latin typeface="Segoe UI Symbol" pitchFamily="34" charset="0"/>
                <a:ea typeface="Segoe UI Symbol" pitchFamily="34" charset="-122"/>
                <a:cs typeface="Segoe UI Symbol" pitchFamily="34" charset="-120"/>
              </a:rPr>
              <a:t>⛨</a:t>
            </a:r>
            <a:endParaRPr lang="en-US" sz="1266" dirty="0"/>
          </a:p>
        </p:txBody>
      </p:sp>
      <p:sp>
        <p:nvSpPr>
          <p:cNvPr id="30" name="Text 27"/>
          <p:cNvSpPr/>
          <p:nvPr/>
        </p:nvSpPr>
        <p:spPr>
          <a:xfrm>
            <a:off x="3967907" y="1596628"/>
            <a:ext cx="1123131" cy="208312"/>
          </a:xfrm>
          <a:prstGeom prst="rect">
            <a:avLst/>
          </a:prstGeom>
          <a:noFill/>
          <a:ln/>
        </p:spPr>
        <p:txBody>
          <a:bodyPr wrap="none" lIns="0" tIns="0" rIns="0" bIns="0" rtlCol="0" anchor="t"/>
          <a:lstStyle/>
          <a:p>
            <a:pPr algn="l" indent="0" marL="0">
              <a:lnSpc>
                <a:spcPts val="1519"/>
              </a:lnSpc>
              <a:buNone/>
            </a:pPr>
            <a:r>
              <a:rPr lang="en-US" sz="1013" b="1" dirty="0">
                <a:solidFill>
                  <a:srgbClr val="F5F5F7"/>
                </a:solidFill>
                <a:latin typeface="Tinos" pitchFamily="34" charset="0"/>
                <a:ea typeface="Tinos" pitchFamily="34" charset="-122"/>
                <a:cs typeface="Tinos" pitchFamily="34" charset="-120"/>
              </a:rPr>
              <a:t>Approver</a:t>
            </a:r>
            <a:endParaRPr lang="en-US" sz="1013" dirty="0"/>
          </a:p>
        </p:txBody>
      </p:sp>
      <p:sp>
        <p:nvSpPr>
          <p:cNvPr id="31" name="Text 28"/>
          <p:cNvSpPr/>
          <p:nvPr/>
        </p:nvSpPr>
        <p:spPr>
          <a:xfrm>
            <a:off x="3782169" y="1832372"/>
            <a:ext cx="1387401" cy="208312"/>
          </a:xfrm>
          <a:prstGeom prst="rect">
            <a:avLst/>
          </a:prstGeom>
          <a:noFill/>
          <a:ln/>
        </p:spPr>
        <p:txBody>
          <a:bodyPr wrap="square" lIns="0" tIns="0" rIns="0" bIns="0" rtlCol="0" anchor="t">
            <a:normAutofit/>
          </a:bodyPr>
          <a:lstStyle/>
          <a:p>
            <a:pPr algn="l" indent="0" marL="0">
              <a:lnSpc>
                <a:spcPts val="928"/>
              </a:lnSpc>
              <a:buNone/>
            </a:pPr>
            <a:r>
              <a:rPr lang="en-US" sz="800" dirty="0">
                <a:solidFill>
                  <a:srgbClr val="A1A1AA"/>
                </a:solidFill>
                <a:latin typeface="Carlito" pitchFamily="34" charset="0"/>
                <a:ea typeface="Carlito" pitchFamily="34" charset="-122"/>
                <a:cs typeface="Carlito" pitchFamily="34" charset="-120"/>
              </a:rPr>
              <a:t>All editor rights + permission grants + audit review.</a:t>
            </a:r>
            <a:endParaRPr lang="en-US" sz="800" dirty="0"/>
          </a:p>
        </p:txBody>
      </p:sp>
      <p:sp>
        <p:nvSpPr>
          <p:cNvPr id="32" name="Text 29"/>
          <p:cNvSpPr/>
          <p:nvPr/>
        </p:nvSpPr>
        <p:spPr>
          <a:xfrm>
            <a:off x="3782169" y="2087690"/>
            <a:ext cx="272132" cy="168021"/>
          </a:xfrm>
          <a:prstGeom prst="roundRect">
            <a:avLst>
              <a:gd name="adj" fmla="val 22676"/>
            </a:avLst>
          </a:prstGeom>
          <a:solidFill>
            <a:srgbClr val="10B981">
              <a:alpha val="16000"/>
            </a:srgbClr>
          </a:solidFill>
          <a:ln w="7144">
            <a:solidFill>
              <a:srgbClr val="10B981"/>
            </a:solidFill>
            <a:prstDash val="solid"/>
          </a:ln>
        </p:spPr>
        <p:txBody>
          <a:bodyPr wrap="square" rtlCol="0" anchor="ctr"/>
          <a:lstStyle/>
          <a:p>
            <a:pPr indent="0" marL="0">
              <a:buNone/>
            </a:pPr>
            <a:endParaRPr lang="en-US" dirty="0"/>
          </a:p>
        </p:txBody>
      </p:sp>
      <p:sp>
        <p:nvSpPr>
          <p:cNvPr id="33" name="Text 30"/>
          <p:cNvSpPr/>
          <p:nvPr/>
        </p:nvSpPr>
        <p:spPr>
          <a:xfrm>
            <a:off x="3751794" y="2096691"/>
            <a:ext cx="332882" cy="150019"/>
          </a:xfrm>
          <a:prstGeom prst="rect">
            <a:avLst/>
          </a:prstGeom>
          <a:noFill/>
          <a:ln/>
        </p:spPr>
        <p:txBody>
          <a:bodyPr wrap="none" lIns="0" tIns="0" rIns="0" bIns="0" rtlCol="0" anchor="ctr"/>
          <a:lstStyle/>
          <a:p>
            <a:pPr algn="ctr" indent="0" marL="0">
              <a:lnSpc>
                <a:spcPts val="844"/>
              </a:lnSpc>
              <a:buNone/>
            </a:pPr>
            <a:r>
              <a:rPr lang="en-US" sz="800" dirty="0">
                <a:solidFill>
                  <a:srgbClr val="34D399"/>
                </a:solidFill>
                <a:latin typeface="Courier New" pitchFamily="34" charset="0"/>
                <a:ea typeface="Courier New" pitchFamily="34" charset="-122"/>
                <a:cs typeface="Courier New" pitchFamily="34" charset="-120"/>
              </a:rPr>
              <a:t>READ</a:t>
            </a:r>
            <a:endParaRPr lang="en-US" sz="800" dirty="0"/>
          </a:p>
        </p:txBody>
      </p:sp>
      <p:sp>
        <p:nvSpPr>
          <p:cNvPr id="34" name="Text 31"/>
          <p:cNvSpPr/>
          <p:nvPr/>
        </p:nvSpPr>
        <p:spPr>
          <a:xfrm>
            <a:off x="4119265" y="2087690"/>
            <a:ext cx="315106" cy="168021"/>
          </a:xfrm>
          <a:prstGeom prst="roundRect">
            <a:avLst>
              <a:gd name="adj" fmla="val 22676"/>
            </a:avLst>
          </a:prstGeom>
          <a:solidFill>
            <a:srgbClr val="10B981">
              <a:alpha val="16000"/>
            </a:srgbClr>
          </a:solidFill>
          <a:ln w="7144">
            <a:solidFill>
              <a:srgbClr val="10B981"/>
            </a:solidFill>
            <a:prstDash val="solid"/>
          </a:ln>
        </p:spPr>
        <p:txBody>
          <a:bodyPr wrap="square" rtlCol="0" anchor="ctr"/>
          <a:lstStyle/>
          <a:p>
            <a:pPr indent="0" marL="0">
              <a:buNone/>
            </a:pPr>
            <a:endParaRPr lang="en-US" dirty="0"/>
          </a:p>
        </p:txBody>
      </p:sp>
      <p:sp>
        <p:nvSpPr>
          <p:cNvPr id="35" name="Text 32"/>
          <p:cNvSpPr/>
          <p:nvPr/>
        </p:nvSpPr>
        <p:spPr>
          <a:xfrm>
            <a:off x="4073212" y="2096691"/>
            <a:ext cx="407213" cy="150019"/>
          </a:xfrm>
          <a:prstGeom prst="rect">
            <a:avLst/>
          </a:prstGeom>
          <a:noFill/>
          <a:ln/>
        </p:spPr>
        <p:txBody>
          <a:bodyPr wrap="none" lIns="0" tIns="0" rIns="0" bIns="0" rtlCol="0" anchor="ctr"/>
          <a:lstStyle/>
          <a:p>
            <a:pPr algn="ctr" indent="0" marL="0">
              <a:lnSpc>
                <a:spcPts val="844"/>
              </a:lnSpc>
              <a:buNone/>
            </a:pPr>
            <a:r>
              <a:rPr lang="en-US" sz="800" dirty="0">
                <a:solidFill>
                  <a:srgbClr val="34D399"/>
                </a:solidFill>
                <a:latin typeface="Courier New" pitchFamily="34" charset="0"/>
                <a:ea typeface="Courier New" pitchFamily="34" charset="-122"/>
                <a:cs typeface="Courier New" pitchFamily="34" charset="-120"/>
              </a:rPr>
              <a:t>WRITE</a:t>
            </a:r>
            <a:endParaRPr lang="en-US" sz="800" dirty="0"/>
          </a:p>
        </p:txBody>
      </p:sp>
      <p:sp>
        <p:nvSpPr>
          <p:cNvPr id="36" name="Text 33"/>
          <p:cNvSpPr/>
          <p:nvPr/>
        </p:nvSpPr>
        <p:spPr>
          <a:xfrm>
            <a:off x="4499335" y="2087690"/>
            <a:ext cx="315106" cy="168021"/>
          </a:xfrm>
          <a:prstGeom prst="roundRect">
            <a:avLst>
              <a:gd name="adj" fmla="val 22676"/>
            </a:avLst>
          </a:prstGeom>
          <a:solidFill>
            <a:srgbClr val="10B981">
              <a:alpha val="16000"/>
            </a:srgbClr>
          </a:solidFill>
          <a:ln w="7144">
            <a:solidFill>
              <a:srgbClr val="10B981"/>
            </a:solidFill>
            <a:prstDash val="solid"/>
          </a:ln>
        </p:spPr>
        <p:txBody>
          <a:bodyPr wrap="square" rtlCol="0" anchor="ctr"/>
          <a:lstStyle/>
          <a:p>
            <a:pPr indent="0" marL="0">
              <a:buNone/>
            </a:pPr>
            <a:endParaRPr lang="en-US" dirty="0"/>
          </a:p>
        </p:txBody>
      </p:sp>
      <p:sp>
        <p:nvSpPr>
          <p:cNvPr id="37" name="Text 34"/>
          <p:cNvSpPr/>
          <p:nvPr/>
        </p:nvSpPr>
        <p:spPr>
          <a:xfrm>
            <a:off x="4453281" y="2096691"/>
            <a:ext cx="407213" cy="150019"/>
          </a:xfrm>
          <a:prstGeom prst="rect">
            <a:avLst/>
          </a:prstGeom>
          <a:noFill/>
          <a:ln/>
        </p:spPr>
        <p:txBody>
          <a:bodyPr wrap="none" lIns="0" tIns="0" rIns="0" bIns="0" rtlCol="0" anchor="ctr"/>
          <a:lstStyle/>
          <a:p>
            <a:pPr algn="ctr" indent="0" marL="0">
              <a:lnSpc>
                <a:spcPts val="844"/>
              </a:lnSpc>
              <a:buNone/>
            </a:pPr>
            <a:r>
              <a:rPr lang="en-US" sz="800" dirty="0">
                <a:solidFill>
                  <a:srgbClr val="34D399"/>
                </a:solidFill>
                <a:latin typeface="Courier New" pitchFamily="34" charset="0"/>
                <a:ea typeface="Courier New" pitchFamily="34" charset="-122"/>
                <a:cs typeface="Courier New" pitchFamily="34" charset="-120"/>
              </a:rPr>
              <a:t>PERMS</a:t>
            </a:r>
            <a:endParaRPr lang="en-US" sz="800" dirty="0"/>
          </a:p>
        </p:txBody>
      </p:sp>
      <p:sp>
        <p:nvSpPr>
          <p:cNvPr id="38" name="Text 35"/>
          <p:cNvSpPr/>
          <p:nvPr/>
        </p:nvSpPr>
        <p:spPr>
          <a:xfrm>
            <a:off x="460772" y="2471738"/>
            <a:ext cx="2320491" cy="810816"/>
          </a:xfrm>
          <a:prstGeom prst="roundRect">
            <a:avLst>
              <a:gd name="adj" fmla="val 18796"/>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39" name="Text 36"/>
          <p:cNvSpPr/>
          <p:nvPr/>
        </p:nvSpPr>
        <p:spPr>
          <a:xfrm>
            <a:off x="578644" y="2605683"/>
            <a:ext cx="128588" cy="128588"/>
          </a:xfrm>
          <a:prstGeom prst="rect">
            <a:avLst/>
          </a:prstGeom>
          <a:noFill/>
          <a:ln/>
        </p:spPr>
        <p:txBody>
          <a:bodyPr wrap="none" lIns="0" tIns="0" rIns="0" bIns="0" rtlCol="0" anchor="ctr"/>
          <a:lstStyle/>
          <a:p>
            <a:pPr algn="ctr" indent="0" marL="0">
              <a:buNone/>
            </a:pPr>
            <a:r>
              <a:rPr lang="en-US" sz="1266" dirty="0">
                <a:solidFill>
                  <a:srgbClr val="818CF8"/>
                </a:solidFill>
                <a:latin typeface="Segoe UI Symbol" pitchFamily="34" charset="0"/>
                <a:ea typeface="Segoe UI Symbol" pitchFamily="34" charset="-122"/>
                <a:cs typeface="Segoe UI Symbol" pitchFamily="34" charset="-120"/>
              </a:rPr>
              <a:t>⚿</a:t>
            </a:r>
            <a:endParaRPr lang="en-US" sz="1266" dirty="0"/>
          </a:p>
        </p:txBody>
      </p:sp>
      <p:sp>
        <p:nvSpPr>
          <p:cNvPr id="40" name="Text 37"/>
          <p:cNvSpPr/>
          <p:nvPr/>
        </p:nvSpPr>
        <p:spPr>
          <a:xfrm>
            <a:off x="764381" y="2589609"/>
            <a:ext cx="1899010" cy="173593"/>
          </a:xfrm>
          <a:prstGeom prst="rect">
            <a:avLst/>
          </a:prstGeom>
          <a:noFill/>
          <a:ln/>
        </p:spPr>
        <p:txBody>
          <a:bodyPr wrap="none" lIns="0" tIns="0" rIns="0" bIns="0" rtlCol="0" anchor="t"/>
          <a:lstStyle/>
          <a:p>
            <a:pPr algn="l" indent="0" marL="0">
              <a:lnSpc>
                <a:spcPts val="1266"/>
              </a:lnSpc>
              <a:buNone/>
            </a:pPr>
            <a:r>
              <a:rPr lang="en-US" sz="844" b="1" dirty="0">
                <a:solidFill>
                  <a:srgbClr val="F5F5F7"/>
                </a:solidFill>
                <a:latin typeface="Tinos" pitchFamily="34" charset="0"/>
                <a:ea typeface="Tinos" pitchFamily="34" charset="-122"/>
                <a:cs typeface="Tinos" pitchFamily="34" charset="-120"/>
              </a:rPr>
              <a:t>Privacy Mode</a:t>
            </a:r>
            <a:endParaRPr lang="en-US" sz="844" dirty="0"/>
          </a:p>
        </p:txBody>
      </p:sp>
      <p:sp>
        <p:nvSpPr>
          <p:cNvPr id="41" name="Text 38"/>
          <p:cNvSpPr/>
          <p:nvPr/>
        </p:nvSpPr>
        <p:spPr>
          <a:xfrm>
            <a:off x="578644" y="2778919"/>
            <a:ext cx="2084747" cy="385763"/>
          </a:xfrm>
          <a:prstGeom prst="rect">
            <a:avLst/>
          </a:prstGeom>
          <a:noFill/>
          <a:ln/>
        </p:spPr>
        <p:txBody>
          <a:bodyPr wrap="square" lIns="0" tIns="0" rIns="0" bIns="0" rtlCol="0" anchor="t"/>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One-toggles mask sensitive balances, merchant names, and goal amounts on shared screens. Default ON for demos.</a:t>
            </a:r>
            <a:endParaRPr lang="en-US" sz="800" dirty="0"/>
          </a:p>
        </p:txBody>
      </p:sp>
      <p:sp>
        <p:nvSpPr>
          <p:cNvPr id="42" name="Text 39"/>
          <p:cNvSpPr/>
          <p:nvPr/>
        </p:nvSpPr>
        <p:spPr>
          <a:xfrm>
            <a:off x="2874132" y="2471738"/>
            <a:ext cx="2320491" cy="810816"/>
          </a:xfrm>
          <a:prstGeom prst="roundRect">
            <a:avLst>
              <a:gd name="adj" fmla="val 18796"/>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43" name="Text 40"/>
          <p:cNvSpPr/>
          <p:nvPr/>
        </p:nvSpPr>
        <p:spPr>
          <a:xfrm>
            <a:off x="2992003" y="2605683"/>
            <a:ext cx="128588" cy="128588"/>
          </a:xfrm>
          <a:prstGeom prst="rect">
            <a:avLst/>
          </a:prstGeom>
          <a:noFill/>
          <a:ln/>
        </p:spPr>
        <p:txBody>
          <a:bodyPr wrap="none" lIns="0" tIns="0" rIns="0" bIns="0" rtlCol="0" anchor="ctr"/>
          <a:lstStyle/>
          <a:p>
            <a:pPr algn="ctr" indent="0" marL="0">
              <a:buNone/>
            </a:pPr>
            <a:r>
              <a:rPr lang="en-US" sz="1266" dirty="0">
                <a:solidFill>
                  <a:srgbClr val="34D399"/>
                </a:solidFill>
                <a:latin typeface="Segoe UI Symbol" pitchFamily="34" charset="0"/>
                <a:ea typeface="Segoe UI Symbol" pitchFamily="34" charset="-122"/>
                <a:cs typeface="Segoe UI Symbol" pitchFamily="34" charset="-120"/>
              </a:rPr>
              <a:t>✦</a:t>
            </a:r>
            <a:endParaRPr lang="en-US" sz="1266" dirty="0"/>
          </a:p>
        </p:txBody>
      </p:sp>
      <p:sp>
        <p:nvSpPr>
          <p:cNvPr id="44" name="Text 41"/>
          <p:cNvSpPr/>
          <p:nvPr/>
        </p:nvSpPr>
        <p:spPr>
          <a:xfrm>
            <a:off x="3177741" y="2589609"/>
            <a:ext cx="1899010" cy="173593"/>
          </a:xfrm>
          <a:prstGeom prst="rect">
            <a:avLst/>
          </a:prstGeom>
          <a:noFill/>
          <a:ln/>
        </p:spPr>
        <p:txBody>
          <a:bodyPr wrap="none" lIns="0" tIns="0" rIns="0" bIns="0" rtlCol="0" anchor="t"/>
          <a:lstStyle/>
          <a:p>
            <a:pPr algn="l" indent="0" marL="0">
              <a:lnSpc>
                <a:spcPts val="1266"/>
              </a:lnSpc>
              <a:buNone/>
            </a:pPr>
            <a:r>
              <a:rPr lang="en-US" sz="844" b="1" dirty="0">
                <a:solidFill>
                  <a:srgbClr val="F5F5F7"/>
                </a:solidFill>
                <a:latin typeface="Tinos" pitchFamily="34" charset="0"/>
                <a:ea typeface="Tinos" pitchFamily="34" charset="-122"/>
                <a:cs typeface="Tinos" pitchFamily="34" charset="-120"/>
              </a:rPr>
              <a:t>Audit Trail</a:t>
            </a:r>
            <a:endParaRPr lang="en-US" sz="844" dirty="0"/>
          </a:p>
        </p:txBody>
      </p:sp>
      <p:sp>
        <p:nvSpPr>
          <p:cNvPr id="45" name="Text 42"/>
          <p:cNvSpPr/>
          <p:nvPr/>
        </p:nvSpPr>
        <p:spPr>
          <a:xfrm>
            <a:off x="2992003" y="2778919"/>
            <a:ext cx="2084747" cy="385763"/>
          </a:xfrm>
          <a:prstGeom prst="rect">
            <a:avLst/>
          </a:prstGeom>
          <a:noFill/>
          <a:ln/>
        </p:spPr>
        <p:txBody>
          <a:bodyPr wrap="square" lIns="0" tIns="0" rIns="0" bIns="0" rtlCol="0" anchor="t"/>
          <a:lstStyle/>
          <a:p>
            <a:pPr algn="l" indent="0" marL="0">
              <a:lnSpc>
                <a:spcPts val="1013"/>
              </a:lnSpc>
              <a:buNone/>
            </a:pPr>
            <a:r>
              <a:rPr lang="en-US" sz="800" dirty="0">
                <a:solidFill>
                  <a:srgbClr val="A1A1AA"/>
                </a:solidFill>
                <a:latin typeface="Carlito" pitchFamily="34" charset="0"/>
                <a:ea typeface="Carlito" pitchFamily="34" charset="-122"/>
                <a:cs typeface="Carlito" pitchFamily="34" charset="-120"/>
              </a:rPr>
              <a:t>Every write tool call is logged with actor, tool, payload diff, and timestamp. Searchable &amp; exportable.</a:t>
            </a:r>
            <a:endParaRPr lang="en-US" sz="800" dirty="0"/>
          </a:p>
        </p:txBody>
      </p:sp>
      <p:sp>
        <p:nvSpPr>
          <p:cNvPr id="46" name="Text 43"/>
          <p:cNvSpPr/>
          <p:nvPr/>
        </p:nvSpPr>
        <p:spPr>
          <a:xfrm>
            <a:off x="460772" y="3403997"/>
            <a:ext cx="4733851" cy="805681"/>
          </a:xfrm>
          <a:prstGeom prst="roundRect">
            <a:avLst>
              <a:gd name="adj" fmla="val 18916"/>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47" name="Text 44"/>
          <p:cNvSpPr/>
          <p:nvPr/>
        </p:nvSpPr>
        <p:spPr>
          <a:xfrm>
            <a:off x="578644" y="3537942"/>
            <a:ext cx="128588" cy="128588"/>
          </a:xfrm>
          <a:prstGeom prst="rect">
            <a:avLst/>
          </a:prstGeom>
          <a:noFill/>
          <a:ln/>
        </p:spPr>
        <p:txBody>
          <a:bodyPr wrap="none" lIns="0" tIns="0" rIns="0" bIns="0" rtlCol="0" anchor="ctr"/>
          <a:lstStyle/>
          <a:p>
            <a:pPr algn="ctr" indent="0" marL="0">
              <a:buNone/>
            </a:pPr>
            <a:r>
              <a:rPr lang="en-US" sz="1266" dirty="0">
                <a:solidFill>
                  <a:srgbClr val="F59E0B"/>
                </a:solidFill>
                <a:latin typeface="Segoe UI Symbol" pitchFamily="34" charset="0"/>
                <a:ea typeface="Segoe UI Symbol" pitchFamily="34" charset="-122"/>
                <a:cs typeface="Segoe UI Symbol" pitchFamily="34" charset="-120"/>
              </a:rPr>
              <a:t>⛨</a:t>
            </a:r>
            <a:endParaRPr lang="en-US" sz="1266" dirty="0"/>
          </a:p>
        </p:txBody>
      </p:sp>
      <p:sp>
        <p:nvSpPr>
          <p:cNvPr id="48" name="Text 45"/>
          <p:cNvSpPr/>
          <p:nvPr/>
        </p:nvSpPr>
        <p:spPr>
          <a:xfrm>
            <a:off x="764381" y="3521869"/>
            <a:ext cx="1615139" cy="173593"/>
          </a:xfrm>
          <a:prstGeom prst="rect">
            <a:avLst/>
          </a:prstGeom>
          <a:noFill/>
          <a:ln/>
        </p:spPr>
        <p:txBody>
          <a:bodyPr wrap="square" lIns="0" tIns="0" rIns="0" bIns="0" rtlCol="0" anchor="t"/>
          <a:lstStyle/>
          <a:p>
            <a:pPr algn="l" indent="0" marL="0">
              <a:lnSpc>
                <a:spcPts val="1266"/>
              </a:lnSpc>
              <a:buNone/>
            </a:pPr>
            <a:r>
              <a:rPr lang="en-US" sz="844" b="1" dirty="0">
                <a:solidFill>
                  <a:srgbClr val="F5F5F7"/>
                </a:solidFill>
                <a:latin typeface="Liberation Sans Narrow" pitchFamily="34" charset="0"/>
                <a:ea typeface="Liberation Sans Narrow" pitchFamily="34" charset="-122"/>
                <a:cs typeface="Liberation Sans Narrow" pitchFamily="34" charset="-120"/>
              </a:rPr>
              <a:t>Risk Register · Top 3 mitigations</a:t>
            </a:r>
            <a:endParaRPr lang="en-US" sz="844" dirty="0"/>
          </a:p>
        </p:txBody>
      </p:sp>
      <p:sp>
        <p:nvSpPr>
          <p:cNvPr id="49" name="Text 46"/>
          <p:cNvSpPr/>
          <p:nvPr/>
        </p:nvSpPr>
        <p:spPr>
          <a:xfrm>
            <a:off x="4883843" y="3548658"/>
            <a:ext cx="213695" cy="164592"/>
          </a:xfrm>
          <a:prstGeom prst="rect">
            <a:avLst/>
          </a:prstGeom>
          <a:noFill/>
          <a:ln/>
        </p:spPr>
        <p:txBody>
          <a:bodyPr wrap="none" lIns="0" tIns="0" rIns="0" bIns="0" rtlCol="0" anchor="t"/>
          <a:lstStyle/>
          <a:p>
            <a:pPr algn="l" indent="0" marL="0">
              <a:lnSpc>
                <a:spcPts val="844"/>
              </a:lnSpc>
              <a:buNone/>
            </a:pPr>
            <a:r>
              <a:rPr lang="en-US" sz="600" dirty="0">
                <a:solidFill>
                  <a:srgbClr val="71717A"/>
                </a:solidFill>
                <a:latin typeface="Courier New" pitchFamily="34" charset="0"/>
                <a:ea typeface="Courier New" pitchFamily="34" charset="-122"/>
                <a:cs typeface="Courier New" pitchFamily="34" charset="-120"/>
              </a:rPr>
              <a:t>live</a:t>
            </a:r>
            <a:endParaRPr lang="en-US" sz="600" dirty="0"/>
          </a:p>
        </p:txBody>
      </p:sp>
      <p:sp>
        <p:nvSpPr>
          <p:cNvPr id="50" name="Text 47"/>
          <p:cNvSpPr/>
          <p:nvPr/>
        </p:nvSpPr>
        <p:spPr>
          <a:xfrm>
            <a:off x="578644" y="3739753"/>
            <a:ext cx="1858232" cy="104727"/>
          </a:xfrm>
          <a:prstGeom prst="rect">
            <a:avLst/>
          </a:prstGeom>
          <a:noFill/>
          <a:ln/>
        </p:spPr>
        <p:txBody>
          <a:bodyPr wrap="none" lIns="0" tIns="0" rIns="0" bIns="0" rtlCol="0" anchor="t">
            <a:normAutofit/>
          </a:bodyPr>
          <a:lstStyle/>
          <a:p>
            <a:pPr algn="l" indent="0" marL="0">
              <a:lnSpc>
                <a:spcPts val="928"/>
              </a:lnSpc>
              <a:buNone/>
            </a:pPr>
            <a:r>
              <a:rPr lang="en-US" sz="800" dirty="0">
                <a:solidFill>
                  <a:srgbClr val="34D399"/>
                </a:solidFill>
                <a:latin typeface="Courier New" pitchFamily="34" charset="0"/>
                <a:ea typeface="Courier New" pitchFamily="34" charset="-122"/>
                <a:cs typeface="Courier New" pitchFamily="34" charset="-120"/>
              </a:rPr>
              <a:t>MITIGATED</a:t>
            </a:r>
            <a:endParaRPr lang="en-US" sz="800" dirty="0"/>
          </a:p>
        </p:txBody>
      </p:sp>
      <p:sp>
        <p:nvSpPr>
          <p:cNvPr id="51" name="Text 48"/>
          <p:cNvSpPr/>
          <p:nvPr/>
        </p:nvSpPr>
        <p:spPr>
          <a:xfrm>
            <a:off x="578644" y="3871913"/>
            <a:ext cx="1538849" cy="219894"/>
          </a:xfrm>
          <a:prstGeom prst="rect">
            <a:avLst/>
          </a:prstGeom>
          <a:noFill/>
          <a:ln/>
        </p:spPr>
        <p:txBody>
          <a:bodyPr wrap="square" lIns="0" tIns="0" rIns="0" bIns="0" rtlCol="0" anchor="t"/>
          <a:lstStyle/>
          <a:p>
            <a:pPr algn="l" indent="0" marL="0">
              <a:lnSpc>
                <a:spcPts val="866"/>
              </a:lnSpc>
              <a:buNone/>
            </a:pPr>
            <a:r>
              <a:rPr lang="en-US" sz="800" dirty="0">
                <a:solidFill>
                  <a:srgbClr val="A1A1AA"/>
                </a:solidFill>
                <a:latin typeface="Carlito" pitchFamily="34" charset="0"/>
                <a:ea typeface="Carlito" pitchFamily="34" charset="-122"/>
                <a:cs typeface="Carlito" pitchFamily="34" charset="-120"/>
              </a:rPr>
              <a:t>Hallucinated writes → tool schemas + supervisor validation</a:t>
            </a:r>
            <a:endParaRPr lang="en-US" sz="800" dirty="0"/>
          </a:p>
        </p:txBody>
      </p:sp>
      <p:sp>
        <p:nvSpPr>
          <p:cNvPr id="52" name="Text 49"/>
          <p:cNvSpPr/>
          <p:nvPr/>
        </p:nvSpPr>
        <p:spPr>
          <a:xfrm>
            <a:off x="2101825" y="3739753"/>
            <a:ext cx="1858232" cy="104727"/>
          </a:xfrm>
          <a:prstGeom prst="rect">
            <a:avLst/>
          </a:prstGeom>
          <a:noFill/>
          <a:ln/>
        </p:spPr>
        <p:txBody>
          <a:bodyPr wrap="none" lIns="0" tIns="0" rIns="0" bIns="0" rtlCol="0" anchor="t">
            <a:normAutofit/>
          </a:bodyPr>
          <a:lstStyle/>
          <a:p>
            <a:pPr algn="l" indent="0" marL="0">
              <a:lnSpc>
                <a:spcPts val="928"/>
              </a:lnSpc>
              <a:buNone/>
            </a:pPr>
            <a:r>
              <a:rPr lang="en-US" sz="800" dirty="0">
                <a:solidFill>
                  <a:srgbClr val="34D399"/>
                </a:solidFill>
                <a:latin typeface="Courier New" pitchFamily="34" charset="0"/>
                <a:ea typeface="Courier New" pitchFamily="34" charset="-122"/>
                <a:cs typeface="Courier New" pitchFamily="34" charset="-120"/>
              </a:rPr>
              <a:t>MITIGATED</a:t>
            </a:r>
            <a:endParaRPr lang="en-US" sz="800" dirty="0"/>
          </a:p>
        </p:txBody>
      </p:sp>
      <p:sp>
        <p:nvSpPr>
          <p:cNvPr id="53" name="Text 50"/>
          <p:cNvSpPr/>
          <p:nvPr/>
        </p:nvSpPr>
        <p:spPr>
          <a:xfrm>
            <a:off x="2101825" y="3871913"/>
            <a:ext cx="1538849" cy="219894"/>
          </a:xfrm>
          <a:prstGeom prst="rect">
            <a:avLst/>
          </a:prstGeom>
          <a:noFill/>
          <a:ln/>
        </p:spPr>
        <p:txBody>
          <a:bodyPr wrap="square" lIns="0" tIns="0" rIns="0" bIns="0" rtlCol="0" anchor="t"/>
          <a:lstStyle/>
          <a:p>
            <a:pPr algn="l" indent="0" marL="0">
              <a:lnSpc>
                <a:spcPts val="866"/>
              </a:lnSpc>
              <a:buNone/>
            </a:pPr>
            <a:r>
              <a:rPr lang="en-US" sz="800" dirty="0">
                <a:solidFill>
                  <a:srgbClr val="A1A1AA"/>
                </a:solidFill>
                <a:latin typeface="Carlito" pitchFamily="34" charset="0"/>
                <a:ea typeface="Carlito" pitchFamily="34" charset="-122"/>
                <a:cs typeface="Carlito" pitchFamily="34" charset="-120"/>
              </a:rPr>
              <a:t>Privilege escalation → permission check at tool boundary</a:t>
            </a:r>
            <a:endParaRPr lang="en-US" sz="800" dirty="0"/>
          </a:p>
        </p:txBody>
      </p:sp>
      <p:sp>
        <p:nvSpPr>
          <p:cNvPr id="54" name="Text 51"/>
          <p:cNvSpPr/>
          <p:nvPr/>
        </p:nvSpPr>
        <p:spPr>
          <a:xfrm>
            <a:off x="3625007" y="3739753"/>
            <a:ext cx="1451744" cy="104727"/>
          </a:xfrm>
          <a:prstGeom prst="rect">
            <a:avLst/>
          </a:prstGeom>
          <a:noFill/>
          <a:ln/>
        </p:spPr>
        <p:txBody>
          <a:bodyPr wrap="none" lIns="0" tIns="0" rIns="0" bIns="0" rtlCol="0" anchor="t">
            <a:normAutofit/>
          </a:bodyPr>
          <a:lstStyle/>
          <a:p>
            <a:pPr algn="l" indent="0" marL="0">
              <a:lnSpc>
                <a:spcPts val="928"/>
              </a:lnSpc>
              <a:buNone/>
            </a:pPr>
            <a:r>
              <a:rPr lang="en-US" sz="800" dirty="0">
                <a:solidFill>
                  <a:srgbClr val="F59E0B"/>
                </a:solidFill>
                <a:latin typeface="Courier New" pitchFamily="34" charset="0"/>
                <a:ea typeface="Courier New" pitchFamily="34" charset="-122"/>
                <a:cs typeface="Courier New" pitchFamily="34" charset="-120"/>
              </a:rPr>
              <a:t>MONITORED</a:t>
            </a:r>
            <a:endParaRPr lang="en-US" sz="800" dirty="0"/>
          </a:p>
        </p:txBody>
      </p:sp>
      <p:sp>
        <p:nvSpPr>
          <p:cNvPr id="55" name="Text 52"/>
          <p:cNvSpPr/>
          <p:nvPr/>
        </p:nvSpPr>
        <p:spPr>
          <a:xfrm>
            <a:off x="3625007" y="3871913"/>
            <a:ext cx="1538849" cy="219894"/>
          </a:xfrm>
          <a:prstGeom prst="rect">
            <a:avLst/>
          </a:prstGeom>
          <a:noFill/>
          <a:ln/>
        </p:spPr>
        <p:txBody>
          <a:bodyPr wrap="square" lIns="0" tIns="0" rIns="0" bIns="0" rtlCol="0" anchor="t"/>
          <a:lstStyle/>
          <a:p>
            <a:pPr algn="l" indent="0" marL="0">
              <a:lnSpc>
                <a:spcPts val="866"/>
              </a:lnSpc>
              <a:buNone/>
            </a:pPr>
            <a:r>
              <a:rPr lang="en-US" sz="800" dirty="0">
                <a:solidFill>
                  <a:srgbClr val="A1A1AA"/>
                </a:solidFill>
                <a:latin typeface="Carlito" pitchFamily="34" charset="0"/>
                <a:ea typeface="Carlito" pitchFamily="34" charset="-122"/>
                <a:cs typeface="Carlito" pitchFamily="34" charset="-120"/>
              </a:rPr>
              <a:t>PII in LLM context → redaction layer + retention limits</a:t>
            </a:r>
            <a:endParaRPr lang="en-US" sz="800" dirty="0"/>
          </a:p>
        </p:txBody>
      </p:sp>
      <p:sp>
        <p:nvSpPr>
          <p:cNvPr id="56" name="Text 53"/>
          <p:cNvSpPr/>
          <p:nvPr/>
        </p:nvSpPr>
        <p:spPr>
          <a:xfrm>
            <a:off x="5341069" y="1285875"/>
            <a:ext cx="3802931"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REGULATORY ALIGNMENT</a:t>
            </a:r>
            <a:endParaRPr lang="en-US" sz="800" dirty="0"/>
          </a:p>
        </p:txBody>
      </p:sp>
      <p:sp>
        <p:nvSpPr>
          <p:cNvPr id="57" name="Text 54"/>
          <p:cNvSpPr/>
          <p:nvPr/>
        </p:nvSpPr>
        <p:spPr>
          <a:xfrm>
            <a:off x="5344641" y="1493044"/>
            <a:ext cx="3338475" cy="407194"/>
          </a:xfrm>
          <a:prstGeom prst="roundRect">
            <a:avLst>
              <a:gd name="adj" fmla="val 23392"/>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58" name="Text 55"/>
          <p:cNvSpPr/>
          <p:nvPr/>
        </p:nvSpPr>
        <p:spPr>
          <a:xfrm>
            <a:off x="5433938" y="1582341"/>
            <a:ext cx="228600" cy="228600"/>
          </a:xfrm>
          <a:prstGeom prst="roundRect">
            <a:avLst>
              <a:gd name="adj" fmla="val 33333"/>
            </a:avLst>
          </a:prstGeom>
          <a:solidFill>
            <a:srgbClr val="6366F1">
              <a:alpha val="16000"/>
            </a:srgbClr>
          </a:solidFill>
          <a:ln/>
        </p:spPr>
        <p:txBody>
          <a:bodyPr wrap="square" rtlCol="0" anchor="ctr"/>
          <a:lstStyle/>
          <a:p>
            <a:pPr indent="0" marL="0">
              <a:buNone/>
            </a:pPr>
            <a:endParaRPr lang="en-US" dirty="0"/>
          </a:p>
        </p:txBody>
      </p:sp>
      <p:sp>
        <p:nvSpPr>
          <p:cNvPr id="59" name="Text 56"/>
          <p:cNvSpPr/>
          <p:nvPr/>
        </p:nvSpPr>
        <p:spPr>
          <a:xfrm>
            <a:off x="5433938" y="1582341"/>
            <a:ext cx="257175" cy="228600"/>
          </a:xfrm>
          <a:prstGeom prst="rect">
            <a:avLst/>
          </a:prstGeom>
          <a:noFill/>
          <a:ln/>
        </p:spPr>
        <p:txBody>
          <a:bodyPr wrap="none" lIns="0" tIns="0" rIns="0" bIns="0" rtlCol="0" anchor="ctr"/>
          <a:lstStyle/>
          <a:p>
            <a:pPr algn="ctr" indent="0" marL="0">
              <a:lnSpc>
                <a:spcPts val="928"/>
              </a:lnSpc>
              <a:buNone/>
            </a:pPr>
            <a:r>
              <a:rPr lang="en-US" sz="800" b="1" spc="25" kern="0" dirty="0">
                <a:solidFill>
                  <a:srgbClr val="818CF8"/>
                </a:solidFill>
                <a:latin typeface="Courier New" pitchFamily="34" charset="0"/>
                <a:ea typeface="Courier New" pitchFamily="34" charset="-122"/>
                <a:cs typeface="Courier New" pitchFamily="34" charset="-120"/>
              </a:rPr>
              <a:t>GDPR</a:t>
            </a:r>
            <a:endParaRPr lang="en-US" sz="800" dirty="0"/>
          </a:p>
        </p:txBody>
      </p:sp>
      <p:sp>
        <p:nvSpPr>
          <p:cNvPr id="60" name="Text 57"/>
          <p:cNvSpPr/>
          <p:nvPr/>
        </p:nvSpPr>
        <p:spPr>
          <a:xfrm>
            <a:off x="5719688" y="1568053"/>
            <a:ext cx="2551819" cy="111871"/>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F5F5F7"/>
                </a:solidFill>
                <a:latin typeface="Carlito" pitchFamily="34" charset="0"/>
                <a:ea typeface="Carlito" pitchFamily="34" charset="-122"/>
                <a:cs typeface="Carlito" pitchFamily="34" charset="-120"/>
              </a:rPr>
              <a:t>EU General Data Protection Regulation</a:t>
            </a:r>
            <a:endParaRPr lang="en-US" sz="800" dirty="0"/>
          </a:p>
        </p:txBody>
      </p:sp>
      <p:sp>
        <p:nvSpPr>
          <p:cNvPr id="61" name="Text 58"/>
          <p:cNvSpPr/>
          <p:nvPr/>
        </p:nvSpPr>
        <p:spPr>
          <a:xfrm>
            <a:off x="5719688" y="1707356"/>
            <a:ext cx="2362795" cy="117872"/>
          </a:xfrm>
          <a:prstGeom prst="rect">
            <a:avLst/>
          </a:prstGeom>
          <a:noFill/>
          <a:ln/>
        </p:spPr>
        <p:txBody>
          <a:bodyPr wrap="square" lIns="0" tIns="0" rIns="0" bIns="0" rtlCol="0" anchor="t"/>
          <a:lstStyle/>
          <a:p>
            <a:pPr algn="l" indent="0" marL="0">
              <a:lnSpc>
                <a:spcPts val="928"/>
              </a:lnSpc>
              <a:buNone/>
            </a:pPr>
            <a:r>
              <a:rPr lang="en-US" sz="619" dirty="0">
                <a:solidFill>
                  <a:srgbClr val="A1A1AA"/>
                </a:solidFill>
                <a:latin typeface="Carlito" pitchFamily="34" charset="0"/>
                <a:ea typeface="Carlito" pitchFamily="34" charset="-122"/>
                <a:cs typeface="Carlito" pitchFamily="34" charset="-120"/>
              </a:rPr>
              <a:t>Right to access, rectify, erase. Data export &amp; delete built in.</a:t>
            </a:r>
            <a:endParaRPr lang="en-US" sz="619" dirty="0"/>
          </a:p>
        </p:txBody>
      </p:sp>
      <p:sp>
        <p:nvSpPr>
          <p:cNvPr id="62" name="Text 59"/>
          <p:cNvSpPr/>
          <p:nvPr/>
        </p:nvSpPr>
        <p:spPr>
          <a:xfrm>
            <a:off x="5344641" y="1964531"/>
            <a:ext cx="3338475" cy="407194"/>
          </a:xfrm>
          <a:prstGeom prst="roundRect">
            <a:avLst>
              <a:gd name="adj" fmla="val 23392"/>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63" name="Text 60"/>
          <p:cNvSpPr/>
          <p:nvPr/>
        </p:nvSpPr>
        <p:spPr>
          <a:xfrm>
            <a:off x="5433938" y="2053828"/>
            <a:ext cx="228600" cy="228600"/>
          </a:xfrm>
          <a:prstGeom prst="roundRect">
            <a:avLst>
              <a:gd name="adj" fmla="val 33333"/>
            </a:avLst>
          </a:prstGeom>
          <a:solidFill>
            <a:srgbClr val="6366F1">
              <a:alpha val="16000"/>
            </a:srgbClr>
          </a:solidFill>
          <a:ln/>
        </p:spPr>
        <p:txBody>
          <a:bodyPr wrap="square" rtlCol="0" anchor="ctr"/>
          <a:lstStyle/>
          <a:p>
            <a:pPr indent="0" marL="0">
              <a:buNone/>
            </a:pPr>
            <a:endParaRPr lang="en-US" dirty="0"/>
          </a:p>
        </p:txBody>
      </p:sp>
      <p:sp>
        <p:nvSpPr>
          <p:cNvPr id="64" name="Text 61"/>
          <p:cNvSpPr/>
          <p:nvPr/>
        </p:nvSpPr>
        <p:spPr>
          <a:xfrm>
            <a:off x="5433938" y="2053828"/>
            <a:ext cx="257175" cy="228600"/>
          </a:xfrm>
          <a:prstGeom prst="rect">
            <a:avLst/>
          </a:prstGeom>
          <a:noFill/>
          <a:ln/>
        </p:spPr>
        <p:txBody>
          <a:bodyPr wrap="none" lIns="0" tIns="0" rIns="0" bIns="0" rtlCol="0" anchor="ctr"/>
          <a:lstStyle/>
          <a:p>
            <a:pPr algn="ctr" indent="0" marL="0">
              <a:lnSpc>
                <a:spcPts val="928"/>
              </a:lnSpc>
              <a:buNone/>
            </a:pPr>
            <a:r>
              <a:rPr lang="en-US" sz="800" b="1" spc="25" kern="0" dirty="0">
                <a:solidFill>
                  <a:srgbClr val="818CF8"/>
                </a:solidFill>
                <a:latin typeface="Courier New" pitchFamily="34" charset="0"/>
                <a:ea typeface="Courier New" pitchFamily="34" charset="-122"/>
                <a:cs typeface="Courier New" pitchFamily="34" charset="-120"/>
              </a:rPr>
              <a:t>CCPA</a:t>
            </a:r>
            <a:endParaRPr lang="en-US" sz="800" dirty="0"/>
          </a:p>
        </p:txBody>
      </p:sp>
      <p:sp>
        <p:nvSpPr>
          <p:cNvPr id="65" name="Text 62"/>
          <p:cNvSpPr/>
          <p:nvPr/>
        </p:nvSpPr>
        <p:spPr>
          <a:xfrm>
            <a:off x="5719688" y="2039541"/>
            <a:ext cx="2553989" cy="111871"/>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F5F5F7"/>
                </a:solidFill>
                <a:latin typeface="Carlito" pitchFamily="34" charset="0"/>
                <a:ea typeface="Carlito" pitchFamily="34" charset="-122"/>
                <a:cs typeface="Carlito" pitchFamily="34" charset="-120"/>
              </a:rPr>
              <a:t>California Consumer Privacy Act</a:t>
            </a:r>
            <a:endParaRPr lang="en-US" sz="800" dirty="0"/>
          </a:p>
        </p:txBody>
      </p:sp>
      <p:sp>
        <p:nvSpPr>
          <p:cNvPr id="66" name="Text 63"/>
          <p:cNvSpPr/>
          <p:nvPr/>
        </p:nvSpPr>
        <p:spPr>
          <a:xfrm>
            <a:off x="5719688" y="2178844"/>
            <a:ext cx="2364804" cy="117872"/>
          </a:xfrm>
          <a:prstGeom prst="rect">
            <a:avLst/>
          </a:prstGeom>
          <a:noFill/>
          <a:ln/>
        </p:spPr>
        <p:txBody>
          <a:bodyPr wrap="square" lIns="0" tIns="0" rIns="0" bIns="0" rtlCol="0" anchor="t"/>
          <a:lstStyle/>
          <a:p>
            <a:pPr algn="l" indent="0" marL="0">
              <a:lnSpc>
                <a:spcPts val="928"/>
              </a:lnSpc>
              <a:buNone/>
            </a:pPr>
            <a:r>
              <a:rPr lang="en-US" sz="619" dirty="0">
                <a:solidFill>
                  <a:srgbClr val="A1A1AA"/>
                </a:solidFill>
                <a:latin typeface="Carlito" pitchFamily="34" charset="0"/>
                <a:ea typeface="Carlito" pitchFamily="34" charset="-122"/>
                <a:cs typeface="Carlito" pitchFamily="34" charset="-120"/>
              </a:rPr>
              <a:t>"Do Not Sell" toggle, full data portability, opt-out of sharing.</a:t>
            </a:r>
            <a:endParaRPr lang="en-US" sz="619" dirty="0"/>
          </a:p>
        </p:txBody>
      </p:sp>
      <p:sp>
        <p:nvSpPr>
          <p:cNvPr id="67" name="Text 64"/>
          <p:cNvSpPr/>
          <p:nvPr/>
        </p:nvSpPr>
        <p:spPr>
          <a:xfrm>
            <a:off x="5344641" y="2436019"/>
            <a:ext cx="3338475" cy="407194"/>
          </a:xfrm>
          <a:prstGeom prst="roundRect">
            <a:avLst>
              <a:gd name="adj" fmla="val 23392"/>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68" name="Text 65"/>
          <p:cNvSpPr/>
          <p:nvPr/>
        </p:nvSpPr>
        <p:spPr>
          <a:xfrm>
            <a:off x="5433938" y="2525316"/>
            <a:ext cx="228600" cy="228600"/>
          </a:xfrm>
          <a:prstGeom prst="roundRect">
            <a:avLst>
              <a:gd name="adj" fmla="val 33333"/>
            </a:avLst>
          </a:prstGeom>
          <a:solidFill>
            <a:srgbClr val="6366F1">
              <a:alpha val="16000"/>
            </a:srgbClr>
          </a:solidFill>
          <a:ln/>
        </p:spPr>
        <p:txBody>
          <a:bodyPr wrap="square" rtlCol="0" anchor="ctr"/>
          <a:lstStyle/>
          <a:p>
            <a:pPr indent="0" marL="0">
              <a:buNone/>
            </a:pPr>
            <a:endParaRPr lang="en-US" dirty="0"/>
          </a:p>
        </p:txBody>
      </p:sp>
      <p:sp>
        <p:nvSpPr>
          <p:cNvPr id="69" name="Text 66"/>
          <p:cNvSpPr/>
          <p:nvPr/>
        </p:nvSpPr>
        <p:spPr>
          <a:xfrm>
            <a:off x="5433938" y="2525316"/>
            <a:ext cx="257175" cy="228600"/>
          </a:xfrm>
          <a:prstGeom prst="rect">
            <a:avLst/>
          </a:prstGeom>
          <a:noFill/>
          <a:ln/>
        </p:spPr>
        <p:txBody>
          <a:bodyPr wrap="none" lIns="0" tIns="0" rIns="0" bIns="0" rtlCol="0" anchor="ctr"/>
          <a:lstStyle/>
          <a:p>
            <a:pPr algn="ctr" indent="0" marL="0">
              <a:lnSpc>
                <a:spcPts val="928"/>
              </a:lnSpc>
              <a:buNone/>
            </a:pPr>
            <a:r>
              <a:rPr lang="en-US" sz="800" b="1" spc="25" kern="0" dirty="0">
                <a:solidFill>
                  <a:srgbClr val="818CF8"/>
                </a:solidFill>
                <a:latin typeface="Courier New" pitchFamily="34" charset="0"/>
                <a:ea typeface="Courier New" pitchFamily="34" charset="-122"/>
                <a:cs typeface="Courier New" pitchFamily="34" charset="-120"/>
              </a:rPr>
              <a:t>PIPL</a:t>
            </a:r>
            <a:endParaRPr lang="en-US" sz="800" dirty="0"/>
          </a:p>
        </p:txBody>
      </p:sp>
      <p:sp>
        <p:nvSpPr>
          <p:cNvPr id="70" name="Text 67"/>
          <p:cNvSpPr/>
          <p:nvPr/>
        </p:nvSpPr>
        <p:spPr>
          <a:xfrm>
            <a:off x="5719688" y="2511028"/>
            <a:ext cx="2849459" cy="111871"/>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F5F5F7"/>
                </a:solidFill>
                <a:latin typeface="Carlito" pitchFamily="34" charset="0"/>
                <a:ea typeface="Carlito" pitchFamily="34" charset="-122"/>
                <a:cs typeface="Carlito" pitchFamily="34" charset="-120"/>
              </a:rPr>
              <a:t>China PIPL — Personal Information Protection Law</a:t>
            </a:r>
            <a:endParaRPr lang="en-US" sz="800" dirty="0"/>
          </a:p>
        </p:txBody>
      </p:sp>
      <p:sp>
        <p:nvSpPr>
          <p:cNvPr id="71" name="Text 68"/>
          <p:cNvSpPr/>
          <p:nvPr/>
        </p:nvSpPr>
        <p:spPr>
          <a:xfrm>
            <a:off x="5719688" y="2650331"/>
            <a:ext cx="2638388" cy="117872"/>
          </a:xfrm>
          <a:prstGeom prst="rect">
            <a:avLst/>
          </a:prstGeom>
          <a:noFill/>
          <a:ln/>
        </p:spPr>
        <p:txBody>
          <a:bodyPr wrap="square" lIns="0" tIns="0" rIns="0" bIns="0" rtlCol="0" anchor="t"/>
          <a:lstStyle/>
          <a:p>
            <a:pPr algn="l" indent="0" marL="0">
              <a:lnSpc>
                <a:spcPts val="928"/>
              </a:lnSpc>
              <a:buNone/>
            </a:pPr>
            <a:r>
              <a:rPr lang="en-US" sz="619" dirty="0">
                <a:solidFill>
                  <a:srgbClr val="A1A1AA"/>
                </a:solidFill>
                <a:latin typeface="Carlito" pitchFamily="34" charset="0"/>
                <a:ea typeface="Carlito" pitchFamily="34" charset="-122"/>
                <a:cs typeface="Carlito" pitchFamily="34" charset="-120"/>
              </a:rPr>
              <a:t>Consent management, cross-border transfer disclosure.</a:t>
            </a:r>
            <a:endParaRPr lang="en-US" sz="619" dirty="0"/>
          </a:p>
        </p:txBody>
      </p:sp>
      <p:pic>
        <p:nvPicPr>
          <p:cNvPr id="72" name="Image 1" descr="preencoded.png">    </p:cNvPr>
          <p:cNvPicPr>
            <a:picLocks noChangeAspect="1"/>
          </p:cNvPicPr>
          <p:nvPr/>
        </p:nvPicPr>
        <p:blipFill>
          <a:blip r:embed="rId2"/>
          <a:stretch>
            <a:fillRect/>
          </a:stretch>
        </p:blipFill>
        <p:spPr>
          <a:xfrm>
            <a:off x="5341069" y="2932509"/>
            <a:ext cx="3345619" cy="1639491"/>
          </a:xfrm>
          <a:prstGeom prst="rect">
            <a:avLst/>
          </a:prstGeom>
        </p:spPr>
      </p:pic>
      <p:sp>
        <p:nvSpPr>
          <p:cNvPr id="73" name="Text 69"/>
          <p:cNvSpPr/>
          <p:nvPr/>
        </p:nvSpPr>
        <p:spPr>
          <a:xfrm>
            <a:off x="5344641" y="2936081"/>
            <a:ext cx="3338475" cy="1632347"/>
          </a:xfrm>
          <a:prstGeom prst="roundRect">
            <a:avLst>
              <a:gd name="adj" fmla="val 10503"/>
            </a:avLst>
          </a:prstGeom>
          <a:noFill/>
          <a:ln w="7144">
            <a:solidFill>
              <a:srgbClr val="FFFFFF"/>
            </a:solidFill>
            <a:prstDash val="solid"/>
          </a:ln>
        </p:spPr>
        <p:txBody>
          <a:bodyPr wrap="square" rtlCol="0" anchor="ctr"/>
          <a:lstStyle/>
          <a:p>
            <a:pPr indent="0" marL="0">
              <a:buNone/>
            </a:pPr>
            <a:endParaRPr lang="en-US" dirty="0"/>
          </a:p>
        </p:txBody>
      </p:sp>
      <p:sp>
        <p:nvSpPr>
          <p:cNvPr id="74" name="Text 70"/>
          <p:cNvSpPr/>
          <p:nvPr/>
        </p:nvSpPr>
        <p:spPr>
          <a:xfrm>
            <a:off x="5462513" y="3053953"/>
            <a:ext cx="2629905"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AUDIT TRAIL · LIVE</a:t>
            </a:r>
            <a:endParaRPr lang="en-US" sz="800" dirty="0"/>
          </a:p>
        </p:txBody>
      </p:sp>
      <p:sp>
        <p:nvSpPr>
          <p:cNvPr id="75" name="Text 71"/>
          <p:cNvSpPr/>
          <p:nvPr/>
        </p:nvSpPr>
        <p:spPr>
          <a:xfrm>
            <a:off x="8106705" y="3091458"/>
            <a:ext cx="42863" cy="42863"/>
          </a:xfrm>
          <a:prstGeom prst="roundRect">
            <a:avLst>
              <a:gd name="adj" fmla="val 22199741"/>
            </a:avLst>
          </a:prstGeom>
          <a:solidFill>
            <a:srgbClr val="10B981"/>
          </a:solidFill>
          <a:ln/>
        </p:spPr>
        <p:txBody>
          <a:bodyPr wrap="square" rtlCol="0" anchor="ctr"/>
          <a:lstStyle/>
          <a:p>
            <a:pPr indent="0" marL="0">
              <a:buNone/>
            </a:pPr>
            <a:endParaRPr lang="en-US" dirty="0"/>
          </a:p>
        </p:txBody>
      </p:sp>
      <p:sp>
        <p:nvSpPr>
          <p:cNvPr id="76" name="Text 72"/>
          <p:cNvSpPr/>
          <p:nvPr/>
        </p:nvSpPr>
        <p:spPr>
          <a:xfrm>
            <a:off x="8106705" y="3059311"/>
            <a:ext cx="458539" cy="164592"/>
          </a:xfrm>
          <a:prstGeom prst="rect">
            <a:avLst/>
          </a:prstGeom>
          <a:noFill/>
          <a:ln/>
        </p:spPr>
        <p:txBody>
          <a:bodyPr wrap="none" lIns="0" tIns="0" rIns="0" bIns="0" rtlCol="0" anchor="t"/>
          <a:lstStyle/>
          <a:p>
            <a:pPr algn="l" indent="0" marL="0">
              <a:lnSpc>
                <a:spcPts val="844"/>
              </a:lnSpc>
              <a:buNone/>
            </a:pPr>
            <a:r>
              <a:rPr lang="en-US" sz="600" dirty="0">
                <a:solidFill>
                  <a:srgbClr val="34D399"/>
                </a:solidFill>
                <a:latin typeface="Courier New" pitchFamily="34" charset="0"/>
                <a:ea typeface="Courier New" pitchFamily="34" charset="-122"/>
                <a:cs typeface="Courier New" pitchFamily="34" charset="-120"/>
              </a:rPr>
              <a:t>streaming</a:t>
            </a:r>
            <a:endParaRPr lang="en-US" sz="600" dirty="0"/>
          </a:p>
        </p:txBody>
      </p:sp>
      <p:sp>
        <p:nvSpPr>
          <p:cNvPr id="77" name="Text 73"/>
          <p:cNvSpPr/>
          <p:nvPr/>
        </p:nvSpPr>
        <p:spPr>
          <a:xfrm>
            <a:off x="5462513" y="3228975"/>
            <a:ext cx="3212460" cy="106067"/>
          </a:xfrm>
          <a:prstGeom prst="rect">
            <a:avLst/>
          </a:prstGeom>
          <a:noFill/>
          <a:ln/>
        </p:spPr>
        <p:txBody>
          <a:bodyPr wrap="square" lIns="0" tIns="0" rIns="0" bIns="0" rtlCol="0" anchor="t">
            <a:normAutofit/>
          </a:bodyPr>
          <a:lstStyle/>
          <a:p>
            <a:pPr algn="l" indent="0" marL="0">
              <a:lnSpc>
                <a:spcPts val="1052"/>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14:02:11</a:t>
            </a:r>
            <a:pPr algn="l" indent="0" marL="0">
              <a:lnSpc>
                <a:spcPts val="1052"/>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52"/>
              </a:lnSpc>
              <a:buNone/>
            </a:pPr>
            <a:r>
              <a:rPr lang="en-US" sz="800" dirty="0">
                <a:solidFill>
                  <a:srgbClr val="34D399"/>
                </a:solidFill>
                <a:latin typeface="Courier New" pitchFamily="34" charset="0"/>
                <a:ea typeface="Courier New" pitchFamily="34" charset="-122"/>
                <a:cs typeface="Courier New" pitchFamily="34" charset="-120"/>
              </a:rPr>
              <a:t>add_transaction</a:t>
            </a:r>
            <a:pPr algn="l" indent="0" marL="0">
              <a:lnSpc>
                <a:spcPts val="1052"/>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 · $42 · Groceries</a:t>
            </a:r>
            <a:endParaRPr lang="en-US" sz="800" dirty="0"/>
          </a:p>
        </p:txBody>
      </p:sp>
      <p:sp>
        <p:nvSpPr>
          <p:cNvPr id="78" name="Text 74"/>
          <p:cNvSpPr/>
          <p:nvPr/>
        </p:nvSpPr>
        <p:spPr>
          <a:xfrm>
            <a:off x="5462513" y="3362474"/>
            <a:ext cx="3212460" cy="106067"/>
          </a:xfrm>
          <a:prstGeom prst="rect">
            <a:avLst/>
          </a:prstGeom>
          <a:noFill/>
          <a:ln/>
        </p:spPr>
        <p:txBody>
          <a:bodyPr wrap="square" lIns="0" tIns="0" rIns="0" bIns="0" rtlCol="0" anchor="t">
            <a:normAutofit/>
          </a:bodyPr>
          <a:lstStyle/>
          <a:p>
            <a:pPr algn="l" indent="0" marL="0">
              <a:lnSpc>
                <a:spcPts val="1052"/>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14:02:11</a:t>
            </a:r>
            <a:pPr algn="l" indent="0" marL="0">
              <a:lnSpc>
                <a:spcPts val="1052"/>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52"/>
              </a:lnSpc>
              <a:buNone/>
            </a:pPr>
            <a:r>
              <a:rPr lang="en-US" sz="800" dirty="0">
                <a:solidFill>
                  <a:srgbClr val="818CF8"/>
                </a:solidFill>
                <a:latin typeface="Courier New" pitchFamily="34" charset="0"/>
                <a:ea typeface="Courier New" pitchFamily="34" charset="-122"/>
                <a:cs typeface="Courier New" pitchFamily="34" charset="-120"/>
              </a:rPr>
              <a:t>supervisor</a:t>
            </a:r>
            <a:pPr algn="l" indent="0" marL="0">
              <a:lnSpc>
                <a:spcPts val="1052"/>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 · plan → 1 tool</a:t>
            </a:r>
            <a:endParaRPr lang="en-US" sz="800" dirty="0"/>
          </a:p>
        </p:txBody>
      </p:sp>
      <p:sp>
        <p:nvSpPr>
          <p:cNvPr id="79" name="Text 75"/>
          <p:cNvSpPr/>
          <p:nvPr/>
        </p:nvSpPr>
        <p:spPr>
          <a:xfrm>
            <a:off x="5462513" y="3495973"/>
            <a:ext cx="3212460" cy="106067"/>
          </a:xfrm>
          <a:prstGeom prst="rect">
            <a:avLst/>
          </a:prstGeom>
          <a:noFill/>
          <a:ln/>
        </p:spPr>
        <p:txBody>
          <a:bodyPr wrap="square" lIns="0" tIns="0" rIns="0" bIns="0" rtlCol="0" anchor="t">
            <a:normAutofit/>
          </a:bodyPr>
          <a:lstStyle/>
          <a:p>
            <a:pPr algn="l" indent="0" marL="0">
              <a:lnSpc>
                <a:spcPts val="1052"/>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14:02:12</a:t>
            </a:r>
            <a:pPr algn="l" indent="0" marL="0">
              <a:lnSpc>
                <a:spcPts val="1052"/>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52"/>
              </a:lnSpc>
              <a:buNone/>
            </a:pPr>
            <a:r>
              <a:rPr lang="en-US" sz="800" dirty="0">
                <a:solidFill>
                  <a:srgbClr val="34D399"/>
                </a:solidFill>
                <a:latin typeface="Courier New" pitchFamily="34" charset="0"/>
                <a:ea typeface="Courier New" pitchFamily="34" charset="-122"/>
                <a:cs typeface="Courier New" pitchFamily="34" charset="-120"/>
              </a:rPr>
              <a:t>create_goal</a:t>
            </a:r>
            <a:pPr algn="l" indent="0" marL="0">
              <a:lnSpc>
                <a:spcPts val="1052"/>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 · Japan Trip · $3,000</a:t>
            </a:r>
            <a:endParaRPr lang="en-US" sz="800" dirty="0"/>
          </a:p>
        </p:txBody>
      </p:sp>
      <p:sp>
        <p:nvSpPr>
          <p:cNvPr id="80" name="Text 76"/>
          <p:cNvSpPr/>
          <p:nvPr/>
        </p:nvSpPr>
        <p:spPr>
          <a:xfrm>
            <a:off x="5462513" y="3629471"/>
            <a:ext cx="3212460" cy="106067"/>
          </a:xfrm>
          <a:prstGeom prst="rect">
            <a:avLst/>
          </a:prstGeom>
          <a:noFill/>
          <a:ln/>
        </p:spPr>
        <p:txBody>
          <a:bodyPr wrap="square" lIns="0" tIns="0" rIns="0" bIns="0" rtlCol="0" anchor="t">
            <a:normAutofit/>
          </a:bodyPr>
          <a:lstStyle/>
          <a:p>
            <a:pPr algn="l" indent="0" marL="0">
              <a:lnSpc>
                <a:spcPts val="1052"/>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14:02:12</a:t>
            </a:r>
            <a:pPr algn="l" indent="0" marL="0">
              <a:lnSpc>
                <a:spcPts val="1052"/>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52"/>
              </a:lnSpc>
              <a:buNone/>
            </a:pPr>
            <a:r>
              <a:rPr lang="en-US" sz="800" dirty="0">
                <a:solidFill>
                  <a:srgbClr val="818CF8"/>
                </a:solidFill>
                <a:latin typeface="Courier New" pitchFamily="34" charset="0"/>
                <a:ea typeface="Courier New" pitchFamily="34" charset="-122"/>
                <a:cs typeface="Courier New" pitchFamily="34" charset="-120"/>
              </a:rPr>
              <a:t>supervisor</a:t>
            </a:r>
            <a:pPr algn="l" indent="0" marL="0">
              <a:lnSpc>
                <a:spcPts val="1052"/>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 · plan → 1 tool</a:t>
            </a:r>
            <a:endParaRPr lang="en-US" sz="800" dirty="0"/>
          </a:p>
        </p:txBody>
      </p:sp>
      <p:sp>
        <p:nvSpPr>
          <p:cNvPr id="81" name="Text 77"/>
          <p:cNvSpPr/>
          <p:nvPr/>
        </p:nvSpPr>
        <p:spPr>
          <a:xfrm>
            <a:off x="5462513" y="3762970"/>
            <a:ext cx="3212460" cy="106067"/>
          </a:xfrm>
          <a:prstGeom prst="rect">
            <a:avLst/>
          </a:prstGeom>
          <a:noFill/>
          <a:ln/>
        </p:spPr>
        <p:txBody>
          <a:bodyPr wrap="square" lIns="0" tIns="0" rIns="0" bIns="0" rtlCol="0" anchor="t">
            <a:normAutofit/>
          </a:bodyPr>
          <a:lstStyle/>
          <a:p>
            <a:pPr algn="l" indent="0" marL="0">
              <a:lnSpc>
                <a:spcPts val="1052"/>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14:02:13</a:t>
            </a:r>
            <a:pPr algn="l" indent="0" marL="0">
              <a:lnSpc>
                <a:spcPts val="1052"/>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52"/>
              </a:lnSpc>
              <a:buNone/>
            </a:pPr>
            <a:r>
              <a:rPr lang="en-US" sz="800" dirty="0">
                <a:solidFill>
                  <a:srgbClr val="34D399"/>
                </a:solidFill>
                <a:latin typeface="Courier New" pitchFamily="34" charset="0"/>
                <a:ea typeface="Courier New" pitchFamily="34" charset="-122"/>
                <a:cs typeface="Courier New" pitchFamily="34" charset="-120"/>
              </a:rPr>
              <a:t>update_budget</a:t>
            </a:r>
            <a:pPr algn="l" indent="0" marL="0">
              <a:lnSpc>
                <a:spcPts val="1052"/>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 · Dining $300→$350</a:t>
            </a:r>
            <a:endParaRPr lang="en-US" sz="800" dirty="0"/>
          </a:p>
        </p:txBody>
      </p:sp>
      <p:sp>
        <p:nvSpPr>
          <p:cNvPr id="82" name="Text 78"/>
          <p:cNvSpPr/>
          <p:nvPr/>
        </p:nvSpPr>
        <p:spPr>
          <a:xfrm>
            <a:off x="5462513" y="3896469"/>
            <a:ext cx="3212460" cy="186413"/>
          </a:xfrm>
          <a:prstGeom prst="rect">
            <a:avLst/>
          </a:prstGeom>
          <a:noFill/>
          <a:ln/>
        </p:spPr>
        <p:txBody>
          <a:bodyPr wrap="square" lIns="0" tIns="0" rIns="0" bIns="0" rtlCol="0" anchor="t"/>
          <a:lstStyle/>
          <a:p>
            <a:pPr algn="l" indent="0" marL="0">
              <a:lnSpc>
                <a:spcPts val="1052"/>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14:02:13</a:t>
            </a:r>
            <a:pPr algn="l" indent="0" marL="0">
              <a:lnSpc>
                <a:spcPts val="1052"/>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52"/>
              </a:lnSpc>
              <a:buNone/>
            </a:pPr>
            <a:r>
              <a:rPr lang="en-US" sz="800" dirty="0">
                <a:solidFill>
                  <a:srgbClr val="818CF8"/>
                </a:solidFill>
                <a:latin typeface="Courier New" pitchFamily="34" charset="0"/>
                <a:ea typeface="Courier New" pitchFamily="34" charset="-122"/>
                <a:cs typeface="Courier New" pitchFamily="34" charset="-120"/>
              </a:rPr>
              <a:t>approver</a:t>
            </a:r>
            <a:pPr algn="l" indent="0" marL="0">
              <a:lnSpc>
                <a:spcPts val="1052"/>
              </a:lnSpc>
              <a:buNone/>
            </a:pPr>
            <a:r>
              <a:rPr lang="en-US" sz="800" dirty="0">
                <a:solidFill>
                  <a:srgbClr val="A1A1AA"/>
                </a:solidFill>
                <a:latin typeface="Courier New" pitchFamily="34" charset="0"/>
                <a:ea typeface="Courier New" pitchFamily="34" charset="-122"/>
                <a:cs typeface="Courier New" pitchFamily="34" charset="-120"/>
              </a:rPr>
              <a:t> · auto-approved</a:t>
            </a:r>
            <a:endParaRPr lang="en-US" sz="800" dirty="0"/>
          </a:p>
        </p:txBody>
      </p:sp>
      <p:sp>
        <p:nvSpPr>
          <p:cNvPr id="83" name="Text 79"/>
          <p:cNvSpPr/>
          <p:nvPr/>
        </p:nvSpPr>
        <p:spPr>
          <a:xfrm>
            <a:off x="457200" y="4861322"/>
            <a:ext cx="42863" cy="42863"/>
          </a:xfrm>
          <a:prstGeom prst="roundRect">
            <a:avLst>
              <a:gd name="adj" fmla="val 22199741"/>
            </a:avLst>
          </a:prstGeom>
          <a:solidFill>
            <a:srgbClr val="6366F1"/>
          </a:solidFill>
          <a:ln/>
        </p:spPr>
        <p:txBody>
          <a:bodyPr wrap="square" rtlCol="0" anchor="ctr"/>
          <a:lstStyle/>
          <a:p>
            <a:pPr indent="0" marL="0">
              <a:buNone/>
            </a:pPr>
            <a:endParaRPr lang="en-US" dirty="0"/>
          </a:p>
        </p:txBody>
      </p:sp>
      <p:sp>
        <p:nvSpPr>
          <p:cNvPr id="84" name="Text 80"/>
          <p:cNvSpPr/>
          <p:nvPr/>
        </p:nvSpPr>
        <p:spPr>
          <a:xfrm>
            <a:off x="457200" y="4814888"/>
            <a:ext cx="786571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Carlito" pitchFamily="34" charset="0"/>
                <a:ea typeface="Carlito" pitchFamily="34" charset="-122"/>
                <a:cs typeface="Carlito" pitchFamily="34" charset="-120"/>
              </a:rPr>
              <a:t>FINWISE · TOPIC A</a:t>
            </a:r>
            <a:endParaRPr lang="en-US" sz="800" dirty="0"/>
          </a:p>
        </p:txBody>
      </p:sp>
      <p:sp>
        <p:nvSpPr>
          <p:cNvPr id="85" name="Text 81"/>
          <p:cNvSpPr/>
          <p:nvPr/>
        </p:nvSpPr>
        <p:spPr>
          <a:xfrm>
            <a:off x="8337203" y="4814888"/>
            <a:ext cx="499050"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Liberation Sans Narrow" pitchFamily="34" charset="0"/>
                <a:ea typeface="Liberation Sans Narrow" pitchFamily="34" charset="-122"/>
                <a:cs typeface="Liberation Sans Narrow" pitchFamily="34" charset="-120"/>
              </a:rPr>
              <a:t>09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45174"/>
            <a:ext cx="687474" cy="224028"/>
          </a:xfrm>
          <a:prstGeom prst="roundRect">
            <a:avLst>
              <a:gd name="adj" fmla="val 4247449"/>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3" name="Text 1"/>
          <p:cNvSpPr/>
          <p:nvPr/>
        </p:nvSpPr>
        <p:spPr>
          <a:xfrm>
            <a:off x="457200" y="257175"/>
            <a:ext cx="687474"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10 · DEMO</a:t>
            </a:r>
            <a:endParaRPr lang="en-US" sz="800" dirty="0"/>
          </a:p>
        </p:txBody>
      </p:sp>
      <p:sp>
        <p:nvSpPr>
          <p:cNvPr id="4" name="Text 2"/>
          <p:cNvSpPr/>
          <p:nvPr/>
        </p:nvSpPr>
        <p:spPr>
          <a:xfrm>
            <a:off x="1230399" y="292894"/>
            <a:ext cx="2290900"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THREE USER JOURNEYS · ONE ENGINE</a:t>
            </a:r>
            <a:endParaRPr lang="en-US" sz="800" dirty="0"/>
          </a:p>
        </p:txBody>
      </p:sp>
      <p:sp>
        <p:nvSpPr>
          <p:cNvPr id="5" name="Text 3"/>
          <p:cNvSpPr/>
          <p:nvPr/>
        </p:nvSpPr>
        <p:spPr>
          <a:xfrm>
            <a:off x="6276231" y="292894"/>
            <a:ext cx="2788573"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FINWISE · PERSONAL FINANCE INTELLIGENCE</a:t>
            </a:r>
            <a:endParaRPr lang="en-US" sz="800" dirty="0"/>
          </a:p>
        </p:txBody>
      </p:sp>
      <p:sp>
        <p:nvSpPr>
          <p:cNvPr id="6" name="Text 4"/>
          <p:cNvSpPr/>
          <p:nvPr/>
        </p:nvSpPr>
        <p:spPr>
          <a:xfrm>
            <a:off x="457200" y="557213"/>
            <a:ext cx="5985668" cy="158306"/>
          </a:xfrm>
          <a:prstGeom prst="rect">
            <a:avLst/>
          </a:prstGeom>
          <a:noFill/>
          <a:ln/>
        </p:spPr>
        <p:txBody>
          <a:bodyPr wrap="none" lIns="0" tIns="0" rIns="0" bIns="0" rtlCol="0" anchor="t">
            <a:normAutofit/>
          </a:bodyPr>
          <a:lstStyle/>
          <a:p>
            <a:pPr algn="l" indent="0" marL="0">
              <a:lnSpc>
                <a:spcPts val="1013"/>
              </a:lnSpc>
              <a:buNone/>
            </a:pPr>
            <a:r>
              <a:rPr lang="en-US" sz="800" spc="122" kern="0" dirty="0">
                <a:solidFill>
                  <a:srgbClr val="818CF8"/>
                </a:solidFill>
                <a:latin typeface="Courier New" pitchFamily="34" charset="0"/>
                <a:ea typeface="Courier New" pitchFamily="34" charset="-122"/>
                <a:cs typeface="Courier New" pitchFamily="34" charset="-120"/>
              </a:rPr>
              <a:t>DEMO HIGHLIGHTS</a:t>
            </a:r>
            <a:endParaRPr lang="en-US" sz="800" dirty="0"/>
          </a:p>
        </p:txBody>
      </p:sp>
      <p:sp>
        <p:nvSpPr>
          <p:cNvPr id="7" name="Text 5"/>
          <p:cNvSpPr/>
          <p:nvPr/>
        </p:nvSpPr>
        <p:spPr>
          <a:xfrm>
            <a:off x="457200" y="742950"/>
            <a:ext cx="4973456" cy="324041"/>
          </a:xfrm>
          <a:prstGeom prst="rect">
            <a:avLst/>
          </a:prstGeom>
          <a:noFill/>
          <a:ln/>
        </p:spPr>
        <p:txBody>
          <a:bodyPr wrap="square" lIns="0" tIns="0" rIns="0" bIns="0" rtlCol="0" anchor="t"/>
          <a:lstStyle/>
          <a:p>
            <a:pPr algn="l" indent="0" marL="0">
              <a:lnSpc>
                <a:spcPts val="2363"/>
              </a:lnSpc>
              <a:buNone/>
            </a:pPr>
            <a:r>
              <a:rPr lang="en-US" sz="2250" b="1" spc="-56" kern="0" dirty="0">
                <a:solidFill>
                  <a:srgbClr val="FFFFFF"/>
                </a:solidFill>
                <a:latin typeface="Tinos" pitchFamily="34" charset="0"/>
                <a:ea typeface="Tinos" pitchFamily="34" charset="-122"/>
                <a:cs typeface="Tinos" pitchFamily="34" charset="-120"/>
              </a:rPr>
              <a:t>Built for </a:t>
            </a:r>
            <a:pPr algn="l" indent="0" marL="0">
              <a:lnSpc>
                <a:spcPts val="2363"/>
              </a:lnSpc>
              <a:buNone/>
            </a:pPr>
            <a:r>
              <a:rPr lang="en-US" sz="2250" b="1" i="1" spc="-56" kern="0" dirty="0">
                <a:solidFill>
                  <a:srgbClr val="34D399"/>
                </a:solidFill>
                <a:latin typeface="Tinos" pitchFamily="34" charset="0"/>
                <a:ea typeface="Tinos" pitchFamily="34" charset="-122"/>
                <a:cs typeface="Tinos" pitchFamily="34" charset="-120"/>
              </a:rPr>
              <a:t>real lives,</a:t>
            </a:r>
            <a:pPr algn="l" indent="0" marL="0">
              <a:lnSpc>
                <a:spcPts val="2363"/>
              </a:lnSpc>
              <a:buNone/>
            </a:pPr>
            <a:r>
              <a:rPr lang="en-US" sz="2250" b="1" spc="-56" kern="0" dirty="0">
                <a:solidFill>
                  <a:srgbClr val="FFFFFF"/>
                </a:solidFill>
                <a:latin typeface="Tinos" pitchFamily="34" charset="0"/>
                <a:ea typeface="Tinos" pitchFamily="34" charset="-122"/>
                <a:cs typeface="Tinos" pitchFamily="34" charset="-120"/>
              </a:rPr>
              <a:t> not just power users.</a:t>
            </a:r>
            <a:endParaRPr lang="en-US" sz="2250" dirty="0"/>
          </a:p>
        </p:txBody>
      </p:sp>
      <p:sp>
        <p:nvSpPr>
          <p:cNvPr id="8" name="Text 6"/>
          <p:cNvSpPr/>
          <p:nvPr/>
        </p:nvSpPr>
        <p:spPr>
          <a:xfrm>
            <a:off x="6686550" y="657225"/>
            <a:ext cx="2000250" cy="493776"/>
          </a:xfrm>
          <a:prstGeom prst="rect">
            <a:avLst/>
          </a:prstGeom>
          <a:noFill/>
          <a:ln/>
        </p:spPr>
        <p:txBody>
          <a:bodyPr wrap="square" lIns="0" tIns="0" rIns="0" bIns="0" rtlCol="0" anchor="t"/>
          <a:lstStyle/>
          <a:p>
            <a:pPr algn="r" indent="0" marL="0">
              <a:lnSpc>
                <a:spcPts val="1013"/>
              </a:lnSpc>
              <a:buNone/>
            </a:pPr>
            <a:r>
              <a:rPr lang="en-US" sz="800" dirty="0">
                <a:solidFill>
                  <a:srgbClr val="A1A1AA"/>
                </a:solidFill>
                <a:latin typeface="Carlito" pitchFamily="34" charset="0"/>
                <a:ea typeface="Carlito" pitchFamily="34" charset="-122"/>
                <a:cs typeface="Carlito" pitchFamily="34" charset="-120"/>
              </a:rPr>
              <a:t>550+ synthetic transactions seeded across three personas. Each demo runs end-to-end live.</a:t>
            </a:r>
            <a:endParaRPr lang="en-US" sz="800" dirty="0"/>
          </a:p>
        </p:txBody>
      </p:sp>
      <p:sp>
        <p:nvSpPr>
          <p:cNvPr id="9" name="Text 7"/>
          <p:cNvSpPr/>
          <p:nvPr/>
        </p:nvSpPr>
        <p:spPr>
          <a:xfrm>
            <a:off x="460772" y="1432322"/>
            <a:ext cx="2640732" cy="3136106"/>
          </a:xfrm>
          <a:prstGeom prst="roundRect">
            <a:avLst>
              <a:gd name="adj" fmla="val 5771"/>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0" name="Text 8"/>
          <p:cNvSpPr/>
          <p:nvPr/>
        </p:nvSpPr>
        <p:spPr>
          <a:xfrm>
            <a:off x="592931" y="1605558"/>
            <a:ext cx="2162101"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Liberation Sans Narrow" pitchFamily="34" charset="0"/>
                <a:ea typeface="Liberation Sans Narrow" pitchFamily="34" charset="-122"/>
                <a:cs typeface="Liberation Sans Narrow" pitchFamily="34" charset="-120"/>
              </a:rPr>
              <a:t>JOURNEY 01</a:t>
            </a:r>
            <a:endParaRPr lang="en-US" sz="800" dirty="0"/>
          </a:p>
        </p:txBody>
      </p:sp>
      <p:sp>
        <p:nvSpPr>
          <p:cNvPr id="11" name="Text 9"/>
          <p:cNvSpPr/>
          <p:nvPr/>
        </p:nvSpPr>
        <p:spPr>
          <a:xfrm>
            <a:off x="2769319" y="1564481"/>
            <a:ext cx="200025" cy="200025"/>
          </a:xfrm>
          <a:prstGeom prst="rect">
            <a:avLst/>
          </a:prstGeom>
          <a:noFill/>
          <a:ln/>
        </p:spPr>
        <p:txBody>
          <a:bodyPr wrap="none" lIns="0" tIns="0" rIns="0" bIns="0" rtlCol="0" anchor="ctr"/>
          <a:lstStyle/>
          <a:p>
            <a:pPr algn="ctr" indent="0" marL="0">
              <a:buNone/>
            </a:pPr>
            <a:r>
              <a:rPr lang="en-US" sz="1969" dirty="0">
                <a:solidFill>
                  <a:srgbClr val="818CF8"/>
                </a:solidFill>
                <a:latin typeface="Segoe UI Symbol" pitchFamily="34" charset="0"/>
                <a:ea typeface="Segoe UI Symbol" pitchFamily="34" charset="-122"/>
                <a:cs typeface="Segoe UI Symbol" pitchFamily="34" charset="-120"/>
              </a:rPr>
              <a:t>▿</a:t>
            </a:r>
            <a:endParaRPr lang="en-US" sz="1969" dirty="0"/>
          </a:p>
        </p:txBody>
      </p:sp>
      <p:sp>
        <p:nvSpPr>
          <p:cNvPr id="12" name="Text 10"/>
          <p:cNvSpPr/>
          <p:nvPr/>
        </p:nvSpPr>
        <p:spPr>
          <a:xfrm>
            <a:off x="592931" y="1793081"/>
            <a:ext cx="2376413" cy="203610"/>
          </a:xfrm>
          <a:prstGeom prst="rect">
            <a:avLst/>
          </a:prstGeom>
          <a:noFill/>
          <a:ln/>
        </p:spPr>
        <p:txBody>
          <a:bodyPr wrap="none" lIns="0" tIns="0" rIns="0" bIns="0" rtlCol="0" anchor="t"/>
          <a:lstStyle/>
          <a:p>
            <a:pPr algn="l" indent="0" marL="0">
              <a:lnSpc>
                <a:spcPts val="1485"/>
              </a:lnSpc>
              <a:buNone/>
            </a:pPr>
            <a:r>
              <a:rPr lang="en-US" sz="1350" b="1" dirty="0">
                <a:solidFill>
                  <a:srgbClr val="F5F5F7"/>
                </a:solidFill>
                <a:latin typeface="Tinos" pitchFamily="34" charset="0"/>
                <a:ea typeface="Tinos" pitchFamily="34" charset="-122"/>
                <a:cs typeface="Tinos" pitchFamily="34" charset="-120"/>
              </a:rPr>
              <a:t>Maya, the Student</a:t>
            </a:r>
            <a:endParaRPr lang="en-US" sz="1350" dirty="0"/>
          </a:p>
        </p:txBody>
      </p:sp>
      <p:sp>
        <p:nvSpPr>
          <p:cNvPr id="13" name="Text 11"/>
          <p:cNvSpPr/>
          <p:nvPr/>
        </p:nvSpPr>
        <p:spPr>
          <a:xfrm>
            <a:off x="592931" y="2038759"/>
            <a:ext cx="2376413" cy="339999"/>
          </a:xfrm>
          <a:prstGeom prst="rect">
            <a:avLst/>
          </a:prstGeom>
          <a:noFill/>
          <a:ln/>
        </p:spPr>
        <p:txBody>
          <a:bodyPr wrap="square" lIns="0" tIns="0" rIns="0" bIns="0" rtlCol="0" anchor="t"/>
          <a:lstStyle/>
          <a:p>
            <a:pPr algn="l" indent="0" marL="0">
              <a:lnSpc>
                <a:spcPts val="1133"/>
              </a:lnSpc>
              <a:buNone/>
            </a:pPr>
            <a:r>
              <a:rPr lang="en-US" sz="800" dirty="0">
                <a:solidFill>
                  <a:srgbClr val="A1A1AA"/>
                </a:solidFill>
                <a:latin typeface="Carlito" pitchFamily="34" charset="0"/>
                <a:ea typeface="Carlito" pitchFamily="34" charset="-122"/>
                <a:cs typeface="Carlito" pitchFamily="34" charset="-120"/>
              </a:rPr>
              <a:t>College senior. Part-time barista. Tight runway, big goals: grad school deposit and a summer trip.</a:t>
            </a:r>
            <a:endParaRPr lang="en-US" sz="800" dirty="0"/>
          </a:p>
        </p:txBody>
      </p:sp>
      <p:sp>
        <p:nvSpPr>
          <p:cNvPr id="14" name="Text 12"/>
          <p:cNvSpPr/>
          <p:nvPr/>
        </p:nvSpPr>
        <p:spPr>
          <a:xfrm>
            <a:off x="592931" y="2412243"/>
            <a:ext cx="2376413" cy="412105"/>
          </a:xfrm>
          <a:prstGeom prst="rect">
            <a:avLst/>
          </a:prstGeom>
          <a:solidFill>
            <a:srgbClr val="6366F1">
              <a:alpha val="6000"/>
            </a:srgbClr>
          </a:solidFill>
          <a:ln/>
        </p:spPr>
        <p:txBody>
          <a:bodyPr wrap="square" rtlCol="0" anchor="ctr"/>
          <a:lstStyle/>
          <a:p>
            <a:pPr indent="0" marL="0">
              <a:buNone/>
            </a:pPr>
            <a:endParaRPr lang="en-US" dirty="0"/>
          </a:p>
        </p:txBody>
      </p:sp>
      <p:sp>
        <p:nvSpPr>
          <p:cNvPr id="15" name="Shape 13"/>
          <p:cNvSpPr/>
          <p:nvPr/>
        </p:nvSpPr>
        <p:spPr>
          <a:xfrm>
            <a:off x="600075" y="2412243"/>
            <a:ext cx="0" cy="412105"/>
          </a:xfrm>
          <a:prstGeom prst="line">
            <a:avLst/>
          </a:prstGeom>
          <a:noFill/>
          <a:ln w="14288">
            <a:solidFill>
              <a:srgbClr val="6366F1"/>
            </a:solidFill>
            <a:prstDash val="solid"/>
          </a:ln>
        </p:spPr>
      </p:sp>
      <p:sp>
        <p:nvSpPr>
          <p:cNvPr id="16" name="Text 14"/>
          <p:cNvSpPr/>
          <p:nvPr/>
        </p:nvSpPr>
        <p:spPr>
          <a:xfrm>
            <a:off x="592931" y="2412243"/>
            <a:ext cx="2376413" cy="456111"/>
          </a:xfrm>
          <a:prstGeom prst="rect">
            <a:avLst/>
          </a:prstGeom>
          <a:noFill/>
          <a:ln/>
        </p:spPr>
        <p:txBody>
          <a:bodyPr wrap="square" lIns="85725" tIns="71438" rIns="85725" bIns="71438" rtlCol="0" anchor="t">
            <a:normAutofit/>
          </a:bodyPr>
          <a:lstStyle/>
          <a:p>
            <a:pPr algn="l" indent="0" marL="0">
              <a:lnSpc>
                <a:spcPts val="1060"/>
              </a:lnSpc>
              <a:buNone/>
            </a:pPr>
            <a:r>
              <a:rPr lang="en-US" sz="800" i="1" dirty="0">
                <a:solidFill>
                  <a:srgbClr val="F5F5F7"/>
                </a:solidFill>
                <a:latin typeface="Tinos" pitchFamily="34" charset="0"/>
                <a:ea typeface="Tinos" pitchFamily="34" charset="-122"/>
                <a:cs typeface="Tinos" pitchFamily="34" charset="-120"/>
              </a:rPr>
              <a:t>"I just got my paycheck — split $200 between my grad-school fund and my trip."</a:t>
            </a:r>
            <a:endParaRPr lang="en-US" sz="800" dirty="0"/>
          </a:p>
        </p:txBody>
      </p:sp>
      <p:sp>
        <p:nvSpPr>
          <p:cNvPr id="17" name="Text 15"/>
          <p:cNvSpPr/>
          <p:nvPr/>
        </p:nvSpPr>
        <p:spPr>
          <a:xfrm>
            <a:off x="592931" y="2895786"/>
            <a:ext cx="2376413" cy="605790"/>
          </a:xfrm>
          <a:prstGeom prst="rect">
            <a:avLst/>
          </a:prstGeom>
          <a:noFill/>
          <a:ln/>
        </p:spPr>
        <p:txBody>
          <a:bodyPr wrap="square" lIns="0" tIns="0" rIns="0" bIns="0" rtlCol="0" anchor="t"/>
          <a:lstStyle/>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✓Goal split via single utterance</a:t>
            </a:r>
            <a:endParaRPr lang="en-US" sz="800" dirty="0"/>
          </a:p>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✓Cash-flow forecast flagged a 12-day shortfall</a:t>
            </a:r>
            <a:endParaRPr lang="en-US" sz="800" dirty="0"/>
          </a:p>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✓Time-Value Calculator reframed her $4 daily latte</a:t>
            </a:r>
            <a:endParaRPr lang="en-US" sz="800" dirty="0"/>
          </a:p>
        </p:txBody>
      </p:sp>
      <p:sp>
        <p:nvSpPr>
          <p:cNvPr id="18" name="Text 16"/>
          <p:cNvSpPr/>
          <p:nvPr/>
        </p:nvSpPr>
        <p:spPr>
          <a:xfrm>
            <a:off x="592931" y="4200525"/>
            <a:ext cx="545604" cy="235744"/>
          </a:xfrm>
          <a:prstGeom prst="rect">
            <a:avLst/>
          </a:prstGeom>
          <a:noFill/>
          <a:ln/>
        </p:spPr>
        <p:txBody>
          <a:bodyPr wrap="none" lIns="0" tIns="0" rIns="0" bIns="0" rtlCol="0" anchor="t"/>
          <a:lstStyle/>
          <a:p>
            <a:pPr algn="l" indent="0" marL="0">
              <a:lnSpc>
                <a:spcPts val="1856"/>
              </a:lnSpc>
              <a:buNone/>
            </a:pPr>
            <a:r>
              <a:rPr lang="en-US" sz="1238" b="1" spc="-25" kern="0" dirty="0">
                <a:solidFill>
                  <a:srgbClr val="34D399"/>
                </a:solidFill>
                <a:latin typeface="Liberation Sans Narrow" pitchFamily="34" charset="0"/>
                <a:ea typeface="Liberation Sans Narrow" pitchFamily="34" charset="-122"/>
                <a:cs typeface="Liberation Sans Narrow" pitchFamily="34" charset="-120"/>
              </a:rPr>
              <a:t>+14</a:t>
            </a:r>
            <a:endParaRPr lang="en-US" sz="1238" dirty="0"/>
          </a:p>
        </p:txBody>
      </p:sp>
      <p:sp>
        <p:nvSpPr>
          <p:cNvPr id="19" name="Text 17"/>
          <p:cNvSpPr/>
          <p:nvPr/>
        </p:nvSpPr>
        <p:spPr>
          <a:xfrm>
            <a:off x="976796" y="4293394"/>
            <a:ext cx="681964" cy="142875"/>
          </a:xfrm>
          <a:prstGeom prst="rect">
            <a:avLst/>
          </a:prstGeom>
          <a:noFill/>
          <a:ln/>
        </p:spPr>
        <p:txBody>
          <a:bodyPr wrap="none" lIns="0" tIns="0" rIns="0" bIns="0" rtlCol="0" anchor="t"/>
          <a:lstStyle/>
          <a:p>
            <a:pPr algn="l" indent="0" marL="0">
              <a:lnSpc>
                <a:spcPts val="928"/>
              </a:lnSpc>
              <a:buNone/>
            </a:pPr>
            <a:r>
              <a:rPr lang="en-US" sz="619" dirty="0">
                <a:solidFill>
                  <a:srgbClr val="A1A1AA"/>
                </a:solidFill>
                <a:latin typeface="Carlito" pitchFamily="34" charset="0"/>
                <a:ea typeface="Carlito" pitchFamily="34" charset="-122"/>
                <a:cs typeface="Carlito" pitchFamily="34" charset="-120"/>
              </a:rPr>
              <a:t>Health Score Δ</a:t>
            </a:r>
            <a:endParaRPr lang="en-US" sz="619" dirty="0"/>
          </a:p>
        </p:txBody>
      </p:sp>
      <p:sp>
        <p:nvSpPr>
          <p:cNvPr id="20" name="Text 18"/>
          <p:cNvSpPr/>
          <p:nvPr/>
        </p:nvSpPr>
        <p:spPr>
          <a:xfrm>
            <a:off x="1687264" y="4200525"/>
            <a:ext cx="170021" cy="235744"/>
          </a:xfrm>
          <a:prstGeom prst="rect">
            <a:avLst/>
          </a:prstGeom>
          <a:noFill/>
          <a:ln/>
        </p:spPr>
        <p:txBody>
          <a:bodyPr wrap="none" lIns="0" tIns="0" rIns="0" bIns="0" rtlCol="0" anchor="t"/>
          <a:lstStyle/>
          <a:p>
            <a:pPr algn="l" indent="0" marL="0">
              <a:lnSpc>
                <a:spcPts val="1856"/>
              </a:lnSpc>
              <a:buNone/>
            </a:pPr>
            <a:r>
              <a:rPr lang="en-US" sz="1238" b="1" spc="-25" kern="0" dirty="0">
                <a:solidFill>
                  <a:srgbClr val="F5F5F7"/>
                </a:solidFill>
                <a:latin typeface="Liberation Sans Narrow" pitchFamily="34" charset="0"/>
                <a:ea typeface="Liberation Sans Narrow" pitchFamily="34" charset="-122"/>
                <a:cs typeface="Liberation Sans Narrow" pitchFamily="34" charset="-120"/>
              </a:rPr>
              <a:t>3</a:t>
            </a:r>
            <a:endParaRPr lang="en-US" sz="1238" dirty="0"/>
          </a:p>
        </p:txBody>
      </p:sp>
      <p:sp>
        <p:nvSpPr>
          <p:cNvPr id="21" name="Text 19"/>
          <p:cNvSpPr/>
          <p:nvPr/>
        </p:nvSpPr>
        <p:spPr>
          <a:xfrm>
            <a:off x="1832816" y="4293394"/>
            <a:ext cx="632076" cy="142875"/>
          </a:xfrm>
          <a:prstGeom prst="rect">
            <a:avLst/>
          </a:prstGeom>
          <a:noFill/>
          <a:ln/>
        </p:spPr>
        <p:txBody>
          <a:bodyPr wrap="none" lIns="0" tIns="0" rIns="0" bIns="0" rtlCol="0" anchor="t"/>
          <a:lstStyle/>
          <a:p>
            <a:pPr algn="l" indent="0" marL="0">
              <a:lnSpc>
                <a:spcPts val="928"/>
              </a:lnSpc>
              <a:buNone/>
            </a:pPr>
            <a:r>
              <a:rPr lang="en-US" sz="619" dirty="0">
                <a:solidFill>
                  <a:srgbClr val="A1A1AA"/>
                </a:solidFill>
                <a:latin typeface="Carlito" pitchFamily="34" charset="0"/>
                <a:ea typeface="Carlito" pitchFamily="34" charset="-122"/>
                <a:cs typeface="Carlito" pitchFamily="34" charset="-120"/>
              </a:rPr>
              <a:t>goals created</a:t>
            </a:r>
            <a:endParaRPr lang="en-US" sz="619" dirty="0"/>
          </a:p>
        </p:txBody>
      </p:sp>
      <p:pic>
        <p:nvPicPr>
          <p:cNvPr id="22" name="Image 0" descr="preencoded.png">    </p:cNvPr>
          <p:cNvPicPr>
            <a:picLocks noChangeAspect="1"/>
          </p:cNvPicPr>
          <p:nvPr/>
        </p:nvPicPr>
        <p:blipFill>
          <a:blip r:embed="rId1"/>
          <a:stretch>
            <a:fillRect/>
          </a:stretch>
        </p:blipFill>
        <p:spPr>
          <a:xfrm>
            <a:off x="3247951" y="1428750"/>
            <a:ext cx="2647987" cy="3143250"/>
          </a:xfrm>
          <a:prstGeom prst="rect">
            <a:avLst/>
          </a:prstGeom>
        </p:spPr>
      </p:pic>
      <p:sp>
        <p:nvSpPr>
          <p:cNvPr id="23" name="Text 20"/>
          <p:cNvSpPr/>
          <p:nvPr/>
        </p:nvSpPr>
        <p:spPr>
          <a:xfrm>
            <a:off x="3251522" y="1432322"/>
            <a:ext cx="2640843" cy="3136106"/>
          </a:xfrm>
          <a:prstGeom prst="roundRect">
            <a:avLst>
              <a:gd name="adj" fmla="val 5771"/>
            </a:avLst>
          </a:prstGeom>
          <a:noFill/>
          <a:ln w="7144">
            <a:solidFill>
              <a:srgbClr val="6366F1"/>
            </a:solidFill>
            <a:prstDash val="solid"/>
          </a:ln>
        </p:spPr>
        <p:txBody>
          <a:bodyPr wrap="square" rtlCol="0" anchor="ctr"/>
          <a:lstStyle/>
          <a:p>
            <a:pPr indent="0" marL="0">
              <a:buNone/>
            </a:pPr>
            <a:endParaRPr lang="en-US" dirty="0"/>
          </a:p>
        </p:txBody>
      </p:sp>
      <p:sp>
        <p:nvSpPr>
          <p:cNvPr id="24" name="Text 21"/>
          <p:cNvSpPr/>
          <p:nvPr/>
        </p:nvSpPr>
        <p:spPr>
          <a:xfrm>
            <a:off x="3383682" y="1605558"/>
            <a:ext cx="2162212"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818CF8"/>
                </a:solidFill>
                <a:latin typeface="Liberation Sans Narrow" pitchFamily="34" charset="0"/>
                <a:ea typeface="Liberation Sans Narrow" pitchFamily="34" charset="-122"/>
                <a:cs typeface="Liberation Sans Narrow" pitchFamily="34" charset="-120"/>
              </a:rPr>
              <a:t>JOURNEY 02 · FEATURED</a:t>
            </a:r>
            <a:endParaRPr lang="en-US" sz="800" dirty="0"/>
          </a:p>
        </p:txBody>
      </p:sp>
      <p:sp>
        <p:nvSpPr>
          <p:cNvPr id="25" name="Text 22"/>
          <p:cNvSpPr/>
          <p:nvPr/>
        </p:nvSpPr>
        <p:spPr>
          <a:xfrm>
            <a:off x="5560182" y="1564481"/>
            <a:ext cx="200025" cy="200025"/>
          </a:xfrm>
          <a:prstGeom prst="rect">
            <a:avLst/>
          </a:prstGeom>
          <a:noFill/>
          <a:ln/>
        </p:spPr>
        <p:txBody>
          <a:bodyPr wrap="none" lIns="0" tIns="0" rIns="0" bIns="0" rtlCol="0" anchor="ctr"/>
          <a:lstStyle/>
          <a:p>
            <a:pPr algn="ctr" indent="0" marL="0">
              <a:buNone/>
            </a:pPr>
            <a:r>
              <a:rPr lang="en-US" sz="1969" dirty="0">
                <a:solidFill>
                  <a:srgbClr val="34D399"/>
                </a:solidFill>
                <a:latin typeface="Segoe UI Symbol" pitchFamily="34" charset="0"/>
                <a:ea typeface="Segoe UI Symbol" pitchFamily="34" charset="-122"/>
                <a:cs typeface="Segoe UI Symbol" pitchFamily="34" charset="-120"/>
              </a:rPr>
              <a:t>▢</a:t>
            </a:r>
            <a:endParaRPr lang="en-US" sz="1969" dirty="0"/>
          </a:p>
        </p:txBody>
      </p:sp>
      <p:sp>
        <p:nvSpPr>
          <p:cNvPr id="26" name="Text 23"/>
          <p:cNvSpPr/>
          <p:nvPr/>
        </p:nvSpPr>
        <p:spPr>
          <a:xfrm>
            <a:off x="3383682" y="1793081"/>
            <a:ext cx="2376525" cy="203610"/>
          </a:xfrm>
          <a:prstGeom prst="rect">
            <a:avLst/>
          </a:prstGeom>
          <a:noFill/>
          <a:ln/>
        </p:spPr>
        <p:txBody>
          <a:bodyPr wrap="none" lIns="0" tIns="0" rIns="0" bIns="0" rtlCol="0" anchor="t"/>
          <a:lstStyle/>
          <a:p>
            <a:pPr algn="l" indent="0" marL="0">
              <a:lnSpc>
                <a:spcPts val="1485"/>
              </a:lnSpc>
              <a:buNone/>
            </a:pPr>
            <a:r>
              <a:rPr lang="en-US" sz="1350" b="1" dirty="0">
                <a:solidFill>
                  <a:srgbClr val="F5F5F7"/>
                </a:solidFill>
                <a:latin typeface="Tinos" pitchFamily="34" charset="0"/>
                <a:ea typeface="Tinos" pitchFamily="34" charset="-122"/>
                <a:cs typeface="Tinos" pitchFamily="34" charset="-120"/>
              </a:rPr>
              <a:t>Devin, the Freelancer</a:t>
            </a:r>
            <a:endParaRPr lang="en-US" sz="1350" dirty="0"/>
          </a:p>
        </p:txBody>
      </p:sp>
      <p:sp>
        <p:nvSpPr>
          <p:cNvPr id="27" name="Text 24"/>
          <p:cNvSpPr/>
          <p:nvPr/>
        </p:nvSpPr>
        <p:spPr>
          <a:xfrm>
            <a:off x="3383682" y="2038759"/>
            <a:ext cx="2376525" cy="339999"/>
          </a:xfrm>
          <a:prstGeom prst="rect">
            <a:avLst/>
          </a:prstGeom>
          <a:noFill/>
          <a:ln/>
        </p:spPr>
        <p:txBody>
          <a:bodyPr wrap="square" lIns="0" tIns="0" rIns="0" bIns="0" rtlCol="0" anchor="t"/>
          <a:lstStyle/>
          <a:p>
            <a:pPr algn="l" indent="0" marL="0">
              <a:lnSpc>
                <a:spcPts val="1133"/>
              </a:lnSpc>
              <a:buNone/>
            </a:pPr>
            <a:r>
              <a:rPr lang="en-US" sz="800" dirty="0">
                <a:solidFill>
                  <a:srgbClr val="A1A1AA"/>
                </a:solidFill>
                <a:latin typeface="Carlito" pitchFamily="34" charset="0"/>
                <a:ea typeface="Carlito" pitchFamily="34" charset="-122"/>
                <a:cs typeface="Carlito" pitchFamily="34" charset="-120"/>
              </a:rPr>
              <a:t>Designer. Lumpy income. Three clients, irregular payouts, one big tax bill looming each quarter.</a:t>
            </a:r>
            <a:endParaRPr lang="en-US" sz="800" dirty="0"/>
          </a:p>
        </p:txBody>
      </p:sp>
      <p:sp>
        <p:nvSpPr>
          <p:cNvPr id="28" name="Text 25"/>
          <p:cNvSpPr/>
          <p:nvPr/>
        </p:nvSpPr>
        <p:spPr>
          <a:xfrm>
            <a:off x="3383682" y="2412243"/>
            <a:ext cx="2376525" cy="412105"/>
          </a:xfrm>
          <a:prstGeom prst="rect">
            <a:avLst/>
          </a:prstGeom>
          <a:solidFill>
            <a:srgbClr val="6366F1">
              <a:alpha val="6000"/>
            </a:srgbClr>
          </a:solidFill>
          <a:ln/>
        </p:spPr>
        <p:txBody>
          <a:bodyPr wrap="square" rtlCol="0" anchor="ctr"/>
          <a:lstStyle/>
          <a:p>
            <a:pPr indent="0" marL="0">
              <a:buNone/>
            </a:pPr>
            <a:endParaRPr lang="en-US" dirty="0"/>
          </a:p>
        </p:txBody>
      </p:sp>
      <p:sp>
        <p:nvSpPr>
          <p:cNvPr id="29" name="Shape 26"/>
          <p:cNvSpPr/>
          <p:nvPr/>
        </p:nvSpPr>
        <p:spPr>
          <a:xfrm>
            <a:off x="3390826" y="2412243"/>
            <a:ext cx="0" cy="412105"/>
          </a:xfrm>
          <a:prstGeom prst="line">
            <a:avLst/>
          </a:prstGeom>
          <a:noFill/>
          <a:ln w="14288">
            <a:solidFill>
              <a:srgbClr val="6366F1"/>
            </a:solidFill>
            <a:prstDash val="solid"/>
          </a:ln>
        </p:spPr>
      </p:sp>
      <p:sp>
        <p:nvSpPr>
          <p:cNvPr id="30" name="Text 27"/>
          <p:cNvSpPr/>
          <p:nvPr/>
        </p:nvSpPr>
        <p:spPr>
          <a:xfrm>
            <a:off x="3383682" y="2412243"/>
            <a:ext cx="2376525" cy="456111"/>
          </a:xfrm>
          <a:prstGeom prst="rect">
            <a:avLst/>
          </a:prstGeom>
          <a:noFill/>
          <a:ln/>
        </p:spPr>
        <p:txBody>
          <a:bodyPr wrap="square" lIns="85725" tIns="71438" rIns="85725" bIns="71438" rtlCol="0" anchor="t">
            <a:normAutofit/>
          </a:bodyPr>
          <a:lstStyle/>
          <a:p>
            <a:pPr algn="l" indent="0" marL="0">
              <a:lnSpc>
                <a:spcPts val="1060"/>
              </a:lnSpc>
              <a:buNone/>
            </a:pPr>
            <a:r>
              <a:rPr lang="en-US" sz="800" i="1" dirty="0">
                <a:solidFill>
                  <a:srgbClr val="F5F5F7"/>
                </a:solidFill>
                <a:latin typeface="Tinos" pitchFamily="34" charset="0"/>
                <a:ea typeface="Tinos" pitchFamily="34" charset="-122"/>
                <a:cs typeface="Tinos" pitchFamily="34" charset="-120"/>
              </a:rPr>
              <a:t>"What does my cash flow look like if Client B pays 30 days late?"</a:t>
            </a:r>
            <a:endParaRPr lang="en-US" sz="800" dirty="0"/>
          </a:p>
        </p:txBody>
      </p:sp>
      <p:sp>
        <p:nvSpPr>
          <p:cNvPr id="31" name="Text 28"/>
          <p:cNvSpPr/>
          <p:nvPr/>
        </p:nvSpPr>
        <p:spPr>
          <a:xfrm>
            <a:off x="3383682" y="2895786"/>
            <a:ext cx="2376525" cy="742093"/>
          </a:xfrm>
          <a:prstGeom prst="rect">
            <a:avLst/>
          </a:prstGeom>
          <a:noFill/>
          <a:ln/>
        </p:spPr>
        <p:txBody>
          <a:bodyPr wrap="square" lIns="0" tIns="0" rIns="0" bIns="0" rtlCol="0" anchor="t"/>
          <a:lstStyle/>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✓What-If builder: 30-day delay simulation</a:t>
            </a:r>
            <a:endParaRPr lang="en-US" sz="800" dirty="0"/>
          </a:p>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✓Monte Carlo: 5,000 paths · P10 runway = 18 days</a:t>
            </a:r>
            <a:endParaRPr lang="en-US" sz="800" dirty="0"/>
          </a:p>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✓Behavioral triggers: late-night SaaS spending ↑27%</a:t>
            </a:r>
            <a:endParaRPr lang="en-US" sz="800" dirty="0"/>
          </a:p>
        </p:txBody>
      </p:sp>
      <p:sp>
        <p:nvSpPr>
          <p:cNvPr id="32" name="Text 29"/>
          <p:cNvSpPr/>
          <p:nvPr/>
        </p:nvSpPr>
        <p:spPr>
          <a:xfrm>
            <a:off x="3383682" y="4107656"/>
            <a:ext cx="887404" cy="254603"/>
          </a:xfrm>
          <a:prstGeom prst="rect">
            <a:avLst/>
          </a:prstGeom>
          <a:noFill/>
          <a:ln/>
        </p:spPr>
        <p:txBody>
          <a:bodyPr wrap="none" lIns="0" tIns="0" rIns="0" bIns="0" rtlCol="0" anchor="t"/>
          <a:lstStyle/>
          <a:p>
            <a:pPr algn="l" indent="0" marL="0">
              <a:lnSpc>
                <a:spcPts val="1856"/>
              </a:lnSpc>
              <a:buNone/>
            </a:pPr>
            <a:r>
              <a:rPr lang="en-US" sz="1238" b="1" spc="-25" kern="0" dirty="0">
                <a:solidFill>
                  <a:srgbClr val="34D399"/>
                </a:solidFill>
                <a:latin typeface="Liberation Sans Narrow" pitchFamily="34" charset="0"/>
                <a:ea typeface="Liberation Sans Narrow" pitchFamily="34" charset="-122"/>
                <a:cs typeface="Liberation Sans Narrow" pitchFamily="34" charset="-120"/>
              </a:rPr>
              <a:t>$1,284</a:t>
            </a:r>
            <a:endParaRPr lang="en-US" sz="1238" dirty="0"/>
          </a:p>
        </p:txBody>
      </p:sp>
      <p:sp>
        <p:nvSpPr>
          <p:cNvPr id="33" name="Text 30"/>
          <p:cNvSpPr/>
          <p:nvPr/>
        </p:nvSpPr>
        <p:spPr>
          <a:xfrm>
            <a:off x="4014229" y="4200525"/>
            <a:ext cx="727993" cy="235744"/>
          </a:xfrm>
          <a:prstGeom prst="rect">
            <a:avLst/>
          </a:prstGeom>
          <a:noFill/>
          <a:ln/>
        </p:spPr>
        <p:txBody>
          <a:bodyPr wrap="square" lIns="0" tIns="0" rIns="0" bIns="0" rtlCol="0" anchor="t"/>
          <a:lstStyle/>
          <a:p>
            <a:pPr algn="l" indent="0" marL="0">
              <a:lnSpc>
                <a:spcPts val="928"/>
              </a:lnSpc>
              <a:buNone/>
            </a:pPr>
            <a:r>
              <a:rPr lang="en-US" sz="800" dirty="0">
                <a:solidFill>
                  <a:srgbClr val="A1A1AA"/>
                </a:solidFill>
                <a:latin typeface="Carlito" pitchFamily="34" charset="0"/>
                <a:ea typeface="Carlito" pitchFamily="34" charset="-122"/>
                <a:cs typeface="Carlito" pitchFamily="34" charset="-120"/>
              </a:rPr>
              <a:t>recurring detected</a:t>
            </a:r>
            <a:endParaRPr lang="en-US" sz="800" dirty="0"/>
          </a:p>
        </p:txBody>
      </p:sp>
      <p:sp>
        <p:nvSpPr>
          <p:cNvPr id="34" name="Text 31"/>
          <p:cNvSpPr/>
          <p:nvPr/>
        </p:nvSpPr>
        <p:spPr>
          <a:xfrm>
            <a:off x="4870810" y="4107656"/>
            <a:ext cx="770275" cy="254603"/>
          </a:xfrm>
          <a:prstGeom prst="rect">
            <a:avLst/>
          </a:prstGeom>
          <a:noFill/>
          <a:ln/>
        </p:spPr>
        <p:txBody>
          <a:bodyPr wrap="none" lIns="0" tIns="0" rIns="0" bIns="0" rtlCol="0" anchor="t"/>
          <a:lstStyle/>
          <a:p>
            <a:pPr algn="l" indent="0" marL="0">
              <a:lnSpc>
                <a:spcPts val="1856"/>
              </a:lnSpc>
              <a:buNone/>
            </a:pPr>
            <a:r>
              <a:rPr lang="en-US" sz="1238" b="1" spc="-25" kern="0" dirty="0">
                <a:solidFill>
                  <a:srgbClr val="F5F5F7"/>
                </a:solidFill>
                <a:latin typeface="Liberation Sans Narrow" pitchFamily="34" charset="0"/>
                <a:ea typeface="Liberation Sans Narrow" pitchFamily="34" charset="-122"/>
                <a:cs typeface="Liberation Sans Narrow" pitchFamily="34" charset="-120"/>
              </a:rPr>
              <a:t>5,000</a:t>
            </a:r>
            <a:endParaRPr lang="en-US" sz="1238" dirty="0"/>
          </a:p>
        </p:txBody>
      </p:sp>
      <p:sp>
        <p:nvSpPr>
          <p:cNvPr id="35" name="Text 32"/>
          <p:cNvSpPr/>
          <p:nvPr/>
        </p:nvSpPr>
        <p:spPr>
          <a:xfrm>
            <a:off x="5395094" y="4200525"/>
            <a:ext cx="365113" cy="235744"/>
          </a:xfrm>
          <a:prstGeom prst="rect">
            <a:avLst/>
          </a:prstGeom>
          <a:noFill/>
          <a:ln/>
        </p:spPr>
        <p:txBody>
          <a:bodyPr wrap="none" lIns="0" tIns="0" rIns="0" bIns="0" rtlCol="0" anchor="t"/>
          <a:lstStyle/>
          <a:p>
            <a:pPr algn="l" indent="0" marL="0">
              <a:lnSpc>
                <a:spcPts val="928"/>
              </a:lnSpc>
              <a:buNone/>
            </a:pPr>
            <a:r>
              <a:rPr lang="en-US" sz="800" dirty="0">
                <a:solidFill>
                  <a:srgbClr val="A1A1AA"/>
                </a:solidFill>
                <a:latin typeface="Carlito" pitchFamily="34" charset="0"/>
                <a:ea typeface="Carlito" pitchFamily="34" charset="-122"/>
                <a:cs typeface="Carlito" pitchFamily="34" charset="-120"/>
              </a:rPr>
              <a:t>MC paths</a:t>
            </a:r>
            <a:endParaRPr lang="en-US" sz="800" dirty="0"/>
          </a:p>
        </p:txBody>
      </p:sp>
      <p:sp>
        <p:nvSpPr>
          <p:cNvPr id="36" name="Text 33"/>
          <p:cNvSpPr/>
          <p:nvPr/>
        </p:nvSpPr>
        <p:spPr>
          <a:xfrm>
            <a:off x="6042385" y="1432322"/>
            <a:ext cx="2640732" cy="3136106"/>
          </a:xfrm>
          <a:prstGeom prst="roundRect">
            <a:avLst>
              <a:gd name="adj" fmla="val 5771"/>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37" name="Text 34"/>
          <p:cNvSpPr/>
          <p:nvPr/>
        </p:nvSpPr>
        <p:spPr>
          <a:xfrm>
            <a:off x="6174544" y="1605558"/>
            <a:ext cx="2162101"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Liberation Sans Narrow" pitchFamily="34" charset="0"/>
                <a:ea typeface="Liberation Sans Narrow" pitchFamily="34" charset="-122"/>
                <a:cs typeface="Liberation Sans Narrow" pitchFamily="34" charset="-120"/>
              </a:rPr>
              <a:t>JOURNEY 03</a:t>
            </a:r>
            <a:endParaRPr lang="en-US" sz="800" dirty="0"/>
          </a:p>
        </p:txBody>
      </p:sp>
      <p:sp>
        <p:nvSpPr>
          <p:cNvPr id="38" name="Text 35"/>
          <p:cNvSpPr/>
          <p:nvPr/>
        </p:nvSpPr>
        <p:spPr>
          <a:xfrm>
            <a:off x="8350932" y="1564481"/>
            <a:ext cx="200025" cy="200025"/>
          </a:xfrm>
          <a:prstGeom prst="rect">
            <a:avLst/>
          </a:prstGeom>
          <a:noFill/>
          <a:ln/>
        </p:spPr>
        <p:txBody>
          <a:bodyPr wrap="none" lIns="0" tIns="0" rIns="0" bIns="0" rtlCol="0" anchor="ctr"/>
          <a:lstStyle/>
          <a:p>
            <a:pPr algn="ctr" indent="0" marL="0">
              <a:buNone/>
            </a:pPr>
            <a:r>
              <a:rPr lang="en-US" sz="1969" dirty="0">
                <a:solidFill>
                  <a:srgbClr val="818CF8"/>
                </a:solidFill>
                <a:latin typeface="Segoe UI Symbol" pitchFamily="34" charset="0"/>
                <a:ea typeface="Segoe UI Symbol" pitchFamily="34" charset="-122"/>
                <a:cs typeface="Segoe UI Symbol" pitchFamily="34" charset="-120"/>
              </a:rPr>
              <a:t>♟</a:t>
            </a:r>
            <a:endParaRPr lang="en-US" sz="1969" dirty="0"/>
          </a:p>
        </p:txBody>
      </p:sp>
      <p:sp>
        <p:nvSpPr>
          <p:cNvPr id="39" name="Text 36"/>
          <p:cNvSpPr/>
          <p:nvPr/>
        </p:nvSpPr>
        <p:spPr>
          <a:xfrm>
            <a:off x="6174544" y="1793081"/>
            <a:ext cx="2376413" cy="203610"/>
          </a:xfrm>
          <a:prstGeom prst="rect">
            <a:avLst/>
          </a:prstGeom>
          <a:noFill/>
          <a:ln/>
        </p:spPr>
        <p:txBody>
          <a:bodyPr wrap="none" lIns="0" tIns="0" rIns="0" bIns="0" rtlCol="0" anchor="t"/>
          <a:lstStyle/>
          <a:p>
            <a:pPr algn="l" indent="0" marL="0">
              <a:lnSpc>
                <a:spcPts val="1485"/>
              </a:lnSpc>
              <a:buNone/>
            </a:pPr>
            <a:r>
              <a:rPr lang="en-US" sz="1350" b="1" dirty="0">
                <a:solidFill>
                  <a:srgbClr val="F5F5F7"/>
                </a:solidFill>
                <a:latin typeface="Tinos" pitchFamily="34" charset="0"/>
                <a:ea typeface="Tinos" pitchFamily="34" charset="-122"/>
                <a:cs typeface="Tinos" pitchFamily="34" charset="-120"/>
              </a:rPr>
              <a:t>The Chen Family</a:t>
            </a:r>
            <a:endParaRPr lang="en-US" sz="1350" dirty="0"/>
          </a:p>
        </p:txBody>
      </p:sp>
      <p:sp>
        <p:nvSpPr>
          <p:cNvPr id="40" name="Text 37"/>
          <p:cNvSpPr/>
          <p:nvPr/>
        </p:nvSpPr>
        <p:spPr>
          <a:xfrm>
            <a:off x="6174544" y="2038759"/>
            <a:ext cx="2376413" cy="489932"/>
          </a:xfrm>
          <a:prstGeom prst="rect">
            <a:avLst/>
          </a:prstGeom>
          <a:noFill/>
          <a:ln/>
        </p:spPr>
        <p:txBody>
          <a:bodyPr wrap="square" lIns="0" tIns="0" rIns="0" bIns="0" rtlCol="0" anchor="t">
            <a:normAutofit/>
          </a:bodyPr>
          <a:lstStyle/>
          <a:p>
            <a:pPr algn="l" indent="0" marL="0">
              <a:lnSpc>
                <a:spcPts val="1133"/>
              </a:lnSpc>
              <a:buNone/>
            </a:pPr>
            <a:r>
              <a:rPr lang="en-US" sz="800" dirty="0">
                <a:solidFill>
                  <a:srgbClr val="A1A1AA"/>
                </a:solidFill>
                <a:latin typeface="Carlito" pitchFamily="34" charset="0"/>
                <a:ea typeface="Carlito" pitchFamily="34" charset="-122"/>
                <a:cs typeface="Carlito" pitchFamily="34" charset="-120"/>
              </a:rPr>
              <a:t>Two earners, two kids. Competing goals: college fund, emergency reserve, and a kitchen renovation.</a:t>
            </a:r>
            <a:endParaRPr lang="en-US" sz="800" dirty="0"/>
          </a:p>
        </p:txBody>
      </p:sp>
      <p:sp>
        <p:nvSpPr>
          <p:cNvPr id="41" name="Text 38"/>
          <p:cNvSpPr/>
          <p:nvPr/>
        </p:nvSpPr>
        <p:spPr>
          <a:xfrm>
            <a:off x="6174544" y="2556123"/>
            <a:ext cx="2376413" cy="412105"/>
          </a:xfrm>
          <a:prstGeom prst="rect">
            <a:avLst/>
          </a:prstGeom>
          <a:solidFill>
            <a:srgbClr val="6366F1">
              <a:alpha val="6000"/>
            </a:srgbClr>
          </a:solidFill>
          <a:ln/>
        </p:spPr>
        <p:txBody>
          <a:bodyPr wrap="square" rtlCol="0" anchor="ctr"/>
          <a:lstStyle/>
          <a:p>
            <a:pPr indent="0" marL="0">
              <a:buNone/>
            </a:pPr>
            <a:endParaRPr lang="en-US" dirty="0"/>
          </a:p>
        </p:txBody>
      </p:sp>
      <p:sp>
        <p:nvSpPr>
          <p:cNvPr id="42" name="Shape 39"/>
          <p:cNvSpPr/>
          <p:nvPr/>
        </p:nvSpPr>
        <p:spPr>
          <a:xfrm>
            <a:off x="6181688" y="2556123"/>
            <a:ext cx="0" cy="412105"/>
          </a:xfrm>
          <a:prstGeom prst="line">
            <a:avLst/>
          </a:prstGeom>
          <a:noFill/>
          <a:ln w="14288">
            <a:solidFill>
              <a:srgbClr val="6366F1"/>
            </a:solidFill>
            <a:prstDash val="solid"/>
          </a:ln>
        </p:spPr>
      </p:sp>
      <p:sp>
        <p:nvSpPr>
          <p:cNvPr id="43" name="Text 40"/>
          <p:cNvSpPr/>
          <p:nvPr/>
        </p:nvSpPr>
        <p:spPr>
          <a:xfrm>
            <a:off x="6174544" y="2556123"/>
            <a:ext cx="2376413" cy="456111"/>
          </a:xfrm>
          <a:prstGeom prst="rect">
            <a:avLst/>
          </a:prstGeom>
          <a:noFill/>
          <a:ln/>
        </p:spPr>
        <p:txBody>
          <a:bodyPr wrap="square" lIns="85725" tIns="71438" rIns="85725" bIns="71438" rtlCol="0" anchor="t">
            <a:normAutofit/>
          </a:bodyPr>
          <a:lstStyle/>
          <a:p>
            <a:pPr algn="l" indent="0" marL="0">
              <a:lnSpc>
                <a:spcPts val="1060"/>
              </a:lnSpc>
              <a:buNone/>
            </a:pPr>
            <a:r>
              <a:rPr lang="en-US" sz="800" i="1" dirty="0">
                <a:solidFill>
                  <a:srgbClr val="F5F5F7"/>
                </a:solidFill>
                <a:latin typeface="Tinos" pitchFamily="34" charset="0"/>
                <a:ea typeface="Tinos" pitchFamily="34" charset="-122"/>
                <a:cs typeface="Tinos" pitchFamily="34" charset="-120"/>
              </a:rPr>
              <a:t>"We're trying to save for college and a renovation — can we afford both?"</a:t>
            </a:r>
            <a:endParaRPr lang="en-US" sz="800" dirty="0"/>
          </a:p>
        </p:txBody>
      </p:sp>
      <p:sp>
        <p:nvSpPr>
          <p:cNvPr id="44" name="Text 41"/>
          <p:cNvSpPr/>
          <p:nvPr/>
        </p:nvSpPr>
        <p:spPr>
          <a:xfrm>
            <a:off x="6174544" y="3039666"/>
            <a:ext cx="2376413" cy="605790"/>
          </a:xfrm>
          <a:prstGeom prst="rect">
            <a:avLst/>
          </a:prstGeom>
          <a:noFill/>
          <a:ln/>
        </p:spPr>
        <p:txBody>
          <a:bodyPr wrap="square" lIns="0" tIns="0" rIns="0" bIns="0" rtlCol="0" anchor="t"/>
          <a:lstStyle/>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✓Goal Collision Detector flagged $162/mo gap</a:t>
            </a:r>
            <a:endParaRPr lang="en-US" sz="800" dirty="0"/>
          </a:p>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✓3-tier perms: parent = Approver, teen = Viewer</a:t>
            </a:r>
            <a:endParaRPr lang="en-US" sz="800" dirty="0"/>
          </a:p>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✓Audit trail logs every shared-spending write</a:t>
            </a:r>
            <a:endParaRPr lang="en-US" sz="800" dirty="0"/>
          </a:p>
        </p:txBody>
      </p:sp>
      <p:sp>
        <p:nvSpPr>
          <p:cNvPr id="45" name="Text 42"/>
          <p:cNvSpPr/>
          <p:nvPr/>
        </p:nvSpPr>
        <p:spPr>
          <a:xfrm>
            <a:off x="6174544" y="4200525"/>
            <a:ext cx="170021" cy="235744"/>
          </a:xfrm>
          <a:prstGeom prst="rect">
            <a:avLst/>
          </a:prstGeom>
          <a:noFill/>
          <a:ln/>
        </p:spPr>
        <p:txBody>
          <a:bodyPr wrap="none" lIns="0" tIns="0" rIns="0" bIns="0" rtlCol="0" anchor="t"/>
          <a:lstStyle/>
          <a:p>
            <a:pPr algn="l" indent="0" marL="0">
              <a:lnSpc>
                <a:spcPts val="1856"/>
              </a:lnSpc>
              <a:buNone/>
            </a:pPr>
            <a:r>
              <a:rPr lang="en-US" sz="1238" b="1" spc="-25" kern="0" dirty="0">
                <a:solidFill>
                  <a:srgbClr val="F43F5E"/>
                </a:solidFill>
                <a:latin typeface="Liberation Sans Narrow" pitchFamily="34" charset="0"/>
                <a:ea typeface="Liberation Sans Narrow" pitchFamily="34" charset="-122"/>
                <a:cs typeface="Liberation Sans Narrow" pitchFamily="34" charset="-120"/>
              </a:rPr>
              <a:t>2</a:t>
            </a:r>
            <a:endParaRPr lang="en-US" sz="1238" dirty="0"/>
          </a:p>
        </p:txBody>
      </p:sp>
      <p:sp>
        <p:nvSpPr>
          <p:cNvPr id="46" name="Text 43"/>
          <p:cNvSpPr/>
          <p:nvPr/>
        </p:nvSpPr>
        <p:spPr>
          <a:xfrm>
            <a:off x="6323670" y="4293394"/>
            <a:ext cx="759410" cy="142875"/>
          </a:xfrm>
          <a:prstGeom prst="rect">
            <a:avLst/>
          </a:prstGeom>
          <a:noFill/>
          <a:ln/>
        </p:spPr>
        <p:txBody>
          <a:bodyPr wrap="none" lIns="0" tIns="0" rIns="0" bIns="0" rtlCol="0" anchor="t"/>
          <a:lstStyle/>
          <a:p>
            <a:pPr algn="l" indent="0" marL="0">
              <a:lnSpc>
                <a:spcPts val="928"/>
              </a:lnSpc>
              <a:buNone/>
            </a:pPr>
            <a:r>
              <a:rPr lang="en-US" sz="619" dirty="0">
                <a:solidFill>
                  <a:srgbClr val="A1A1AA"/>
                </a:solidFill>
                <a:latin typeface="Carlito" pitchFamily="34" charset="0"/>
                <a:ea typeface="Carlito" pitchFamily="34" charset="-122"/>
                <a:cs typeface="Carlito" pitchFamily="34" charset="-120"/>
              </a:rPr>
              <a:t>goals in collision</a:t>
            </a:r>
            <a:endParaRPr lang="en-US" sz="619" dirty="0"/>
          </a:p>
        </p:txBody>
      </p:sp>
      <p:sp>
        <p:nvSpPr>
          <p:cNvPr id="47" name="Text 44"/>
          <p:cNvSpPr/>
          <p:nvPr/>
        </p:nvSpPr>
        <p:spPr>
          <a:xfrm>
            <a:off x="7100218" y="4200525"/>
            <a:ext cx="170021" cy="235744"/>
          </a:xfrm>
          <a:prstGeom prst="rect">
            <a:avLst/>
          </a:prstGeom>
          <a:noFill/>
          <a:ln/>
        </p:spPr>
        <p:txBody>
          <a:bodyPr wrap="none" lIns="0" tIns="0" rIns="0" bIns="0" rtlCol="0" anchor="t"/>
          <a:lstStyle/>
          <a:p>
            <a:pPr algn="l" indent="0" marL="0">
              <a:lnSpc>
                <a:spcPts val="1856"/>
              </a:lnSpc>
              <a:buNone/>
            </a:pPr>
            <a:r>
              <a:rPr lang="en-US" sz="1238" b="1" spc="-25" kern="0" dirty="0">
                <a:solidFill>
                  <a:srgbClr val="F5F5F7"/>
                </a:solidFill>
                <a:latin typeface="Liberation Sans Narrow" pitchFamily="34" charset="0"/>
                <a:ea typeface="Liberation Sans Narrow" pitchFamily="34" charset="-122"/>
                <a:cs typeface="Liberation Sans Narrow" pitchFamily="34" charset="-120"/>
              </a:rPr>
              <a:t>3</a:t>
            </a:r>
            <a:endParaRPr lang="en-US" sz="1238" dirty="0"/>
          </a:p>
        </p:txBody>
      </p:sp>
      <p:sp>
        <p:nvSpPr>
          <p:cNvPr id="48" name="Text 45"/>
          <p:cNvSpPr/>
          <p:nvPr/>
        </p:nvSpPr>
        <p:spPr>
          <a:xfrm>
            <a:off x="7249344" y="4293394"/>
            <a:ext cx="736516" cy="142875"/>
          </a:xfrm>
          <a:prstGeom prst="rect">
            <a:avLst/>
          </a:prstGeom>
          <a:noFill/>
          <a:ln/>
        </p:spPr>
        <p:txBody>
          <a:bodyPr wrap="none" lIns="0" tIns="0" rIns="0" bIns="0" rtlCol="0" anchor="t"/>
          <a:lstStyle/>
          <a:p>
            <a:pPr algn="l" indent="0" marL="0">
              <a:lnSpc>
                <a:spcPts val="928"/>
              </a:lnSpc>
              <a:buNone/>
            </a:pPr>
            <a:r>
              <a:rPr lang="en-US" sz="619" dirty="0">
                <a:solidFill>
                  <a:srgbClr val="A1A1AA"/>
                </a:solidFill>
                <a:latin typeface="Carlito" pitchFamily="34" charset="0"/>
                <a:ea typeface="Carlito" pitchFamily="34" charset="-122"/>
                <a:cs typeface="Carlito" pitchFamily="34" charset="-120"/>
              </a:rPr>
              <a:t>permission tiers</a:t>
            </a:r>
            <a:endParaRPr lang="en-US" sz="619" dirty="0"/>
          </a:p>
        </p:txBody>
      </p:sp>
      <p:sp>
        <p:nvSpPr>
          <p:cNvPr id="49" name="Text 46"/>
          <p:cNvSpPr/>
          <p:nvPr/>
        </p:nvSpPr>
        <p:spPr>
          <a:xfrm>
            <a:off x="457200" y="4861322"/>
            <a:ext cx="42863" cy="42863"/>
          </a:xfrm>
          <a:prstGeom prst="roundRect">
            <a:avLst>
              <a:gd name="adj" fmla="val 22199741"/>
            </a:avLst>
          </a:prstGeom>
          <a:solidFill>
            <a:srgbClr val="6366F1"/>
          </a:solidFill>
          <a:ln/>
        </p:spPr>
        <p:txBody>
          <a:bodyPr wrap="square" rtlCol="0" anchor="ctr"/>
          <a:lstStyle/>
          <a:p>
            <a:pPr indent="0" marL="0">
              <a:buNone/>
            </a:pPr>
            <a:endParaRPr lang="en-US" dirty="0"/>
          </a:p>
        </p:txBody>
      </p:sp>
      <p:sp>
        <p:nvSpPr>
          <p:cNvPr id="50" name="Text 47"/>
          <p:cNvSpPr/>
          <p:nvPr/>
        </p:nvSpPr>
        <p:spPr>
          <a:xfrm>
            <a:off x="457200" y="4814888"/>
            <a:ext cx="786571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Carlito" pitchFamily="34" charset="0"/>
                <a:ea typeface="Carlito" pitchFamily="34" charset="-122"/>
                <a:cs typeface="Carlito" pitchFamily="34" charset="-120"/>
              </a:rPr>
              <a:t>FINWISE · TOPIC A</a:t>
            </a:r>
            <a:endParaRPr lang="en-US" sz="800" dirty="0"/>
          </a:p>
        </p:txBody>
      </p:sp>
      <p:sp>
        <p:nvSpPr>
          <p:cNvPr id="51" name="Text 48"/>
          <p:cNvSpPr/>
          <p:nvPr/>
        </p:nvSpPr>
        <p:spPr>
          <a:xfrm>
            <a:off x="8337203" y="4814888"/>
            <a:ext cx="499050"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Liberation Sans Narrow" pitchFamily="34" charset="0"/>
                <a:ea typeface="Liberation Sans Narrow" pitchFamily="34" charset="-122"/>
                <a:cs typeface="Liberation Sans Narrow" pitchFamily="34" charset="-120"/>
              </a:rPr>
              <a:t>10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45174"/>
            <a:ext cx="826443" cy="224028"/>
          </a:xfrm>
          <a:prstGeom prst="roundRect">
            <a:avLst>
              <a:gd name="adj" fmla="val 4247449"/>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3" name="Text 1"/>
          <p:cNvSpPr/>
          <p:nvPr/>
        </p:nvSpPr>
        <p:spPr>
          <a:xfrm>
            <a:off x="457200" y="257175"/>
            <a:ext cx="826443"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11 · RESULTS</a:t>
            </a:r>
            <a:endParaRPr lang="en-US" sz="800" dirty="0"/>
          </a:p>
        </p:txBody>
      </p:sp>
      <p:sp>
        <p:nvSpPr>
          <p:cNvPr id="4" name="Text 2"/>
          <p:cNvSpPr/>
          <p:nvPr/>
        </p:nvSpPr>
        <p:spPr>
          <a:xfrm>
            <a:off x="1369368" y="292894"/>
            <a:ext cx="2565281"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BY THE NUMBERS · VERIFIED END-TO-END</a:t>
            </a:r>
            <a:endParaRPr lang="en-US" sz="800" dirty="0"/>
          </a:p>
        </p:txBody>
      </p:sp>
      <p:sp>
        <p:nvSpPr>
          <p:cNvPr id="5" name="Text 3"/>
          <p:cNvSpPr/>
          <p:nvPr/>
        </p:nvSpPr>
        <p:spPr>
          <a:xfrm>
            <a:off x="6276231" y="292894"/>
            <a:ext cx="2788573" cy="164592"/>
          </a:xfrm>
          <a:prstGeom prst="rect">
            <a:avLst/>
          </a:prstGeom>
          <a:noFill/>
          <a:ln/>
        </p:spPr>
        <p:txBody>
          <a:bodyPr wrap="square" lIns="0" tIns="0" rIns="0" bIns="0" rtlCol="0" anchor="t"/>
          <a:lstStyle/>
          <a:p>
            <a:pPr algn="l" indent="0" marL="0">
              <a:lnSpc>
                <a:spcPts val="1013"/>
              </a:lnSpc>
              <a:buNone/>
            </a:pPr>
            <a:r>
              <a:rPr lang="en-US" sz="800" spc="95" kern="0" dirty="0">
                <a:solidFill>
                  <a:srgbClr val="71717A"/>
                </a:solidFill>
                <a:latin typeface="Carlito" pitchFamily="34" charset="0"/>
                <a:ea typeface="Carlito" pitchFamily="34" charset="-122"/>
                <a:cs typeface="Carlito" pitchFamily="34" charset="-120"/>
              </a:rPr>
              <a:t>FINWISE · PERSONAL FINANCE INTELLIGENCE</a:t>
            </a:r>
            <a:endParaRPr lang="en-US" sz="800" dirty="0"/>
          </a:p>
        </p:txBody>
      </p:sp>
      <p:sp>
        <p:nvSpPr>
          <p:cNvPr id="6" name="Text 4"/>
          <p:cNvSpPr/>
          <p:nvPr/>
        </p:nvSpPr>
        <p:spPr>
          <a:xfrm>
            <a:off x="457200" y="557213"/>
            <a:ext cx="5399012" cy="158306"/>
          </a:xfrm>
          <a:prstGeom prst="rect">
            <a:avLst/>
          </a:prstGeom>
          <a:noFill/>
          <a:ln/>
        </p:spPr>
        <p:txBody>
          <a:bodyPr wrap="none" lIns="0" tIns="0" rIns="0" bIns="0" rtlCol="0" anchor="t">
            <a:normAutofit/>
          </a:bodyPr>
          <a:lstStyle/>
          <a:p>
            <a:pPr algn="l" indent="0" marL="0">
              <a:lnSpc>
                <a:spcPts val="1013"/>
              </a:lnSpc>
              <a:buNone/>
            </a:pPr>
            <a:r>
              <a:rPr lang="en-US" sz="800" spc="122" kern="0" dirty="0">
                <a:solidFill>
                  <a:srgbClr val="818CF8"/>
                </a:solidFill>
                <a:latin typeface="Courier New" pitchFamily="34" charset="0"/>
                <a:ea typeface="Courier New" pitchFamily="34" charset="-122"/>
                <a:cs typeface="Courier New" pitchFamily="34" charset="-120"/>
              </a:rPr>
              <a:t>RESULTS &amp; IMPACT</a:t>
            </a:r>
            <a:endParaRPr lang="en-US" sz="800" dirty="0"/>
          </a:p>
        </p:txBody>
      </p:sp>
      <p:sp>
        <p:nvSpPr>
          <p:cNvPr id="7" name="Text 5"/>
          <p:cNvSpPr/>
          <p:nvPr/>
        </p:nvSpPr>
        <p:spPr>
          <a:xfrm>
            <a:off x="457200" y="742950"/>
            <a:ext cx="4486007" cy="356348"/>
          </a:xfrm>
          <a:prstGeom prst="rect">
            <a:avLst/>
          </a:prstGeom>
          <a:noFill/>
          <a:ln/>
        </p:spPr>
        <p:txBody>
          <a:bodyPr wrap="square" lIns="0" tIns="0" rIns="0" bIns="0" rtlCol="0" anchor="t"/>
          <a:lstStyle/>
          <a:p>
            <a:pPr algn="l" indent="0" marL="0">
              <a:lnSpc>
                <a:spcPts val="2599"/>
              </a:lnSpc>
              <a:buNone/>
            </a:pPr>
            <a:r>
              <a:rPr lang="en-US" sz="2475" b="1" spc="-62" kern="0" dirty="0">
                <a:solidFill>
                  <a:srgbClr val="FFFFFF"/>
                </a:solidFill>
                <a:latin typeface="Tinos" pitchFamily="34" charset="0"/>
                <a:ea typeface="Tinos" pitchFamily="34" charset="-122"/>
                <a:cs typeface="Tinos" pitchFamily="34" charset="-120"/>
              </a:rPr>
              <a:t>A working system, </a:t>
            </a:r>
            <a:pPr algn="l" indent="0" marL="0">
              <a:lnSpc>
                <a:spcPts val="2599"/>
              </a:lnSpc>
              <a:buNone/>
            </a:pPr>
            <a:r>
              <a:rPr lang="en-US" sz="2475" b="1" i="1" spc="-62" kern="0" dirty="0">
                <a:solidFill>
                  <a:srgbClr val="34D399"/>
                </a:solidFill>
                <a:latin typeface="Tinos" pitchFamily="34" charset="0"/>
                <a:ea typeface="Tinos" pitchFamily="34" charset="-122"/>
                <a:cs typeface="Tinos" pitchFamily="34" charset="-120"/>
              </a:rPr>
              <a:t>not a mockup.</a:t>
            </a:r>
            <a:endParaRPr lang="en-US" sz="2475" dirty="0"/>
          </a:p>
        </p:txBody>
      </p:sp>
      <p:sp>
        <p:nvSpPr>
          <p:cNvPr id="8" name="Text 6"/>
          <p:cNvSpPr/>
          <p:nvPr/>
        </p:nvSpPr>
        <p:spPr>
          <a:xfrm>
            <a:off x="6400800" y="815727"/>
            <a:ext cx="2286000" cy="329184"/>
          </a:xfrm>
          <a:prstGeom prst="rect">
            <a:avLst/>
          </a:prstGeom>
          <a:noFill/>
          <a:ln/>
        </p:spPr>
        <p:txBody>
          <a:bodyPr wrap="square" lIns="0" tIns="0" rIns="0" bIns="0" rtlCol="0" anchor="t"/>
          <a:lstStyle/>
          <a:p>
            <a:pPr algn="r" indent="0" marL="0">
              <a:lnSpc>
                <a:spcPts val="1013"/>
              </a:lnSpc>
              <a:buNone/>
            </a:pPr>
            <a:r>
              <a:rPr lang="en-US" sz="800" dirty="0">
                <a:solidFill>
                  <a:srgbClr val="A1A1AA"/>
                </a:solidFill>
                <a:latin typeface="Carlito" pitchFamily="34" charset="0"/>
                <a:ea typeface="Carlito" pitchFamily="34" charset="-122"/>
                <a:cs typeface="Carlito" pitchFamily="34" charset="-120"/>
              </a:rPr>
              <a:t>Every metric below was measured on the live build — no projections, no estimates.</a:t>
            </a:r>
            <a:endParaRPr lang="en-US" sz="800" dirty="0"/>
          </a:p>
        </p:txBody>
      </p:sp>
      <p:pic>
        <p:nvPicPr>
          <p:cNvPr id="9" name="Image 0" descr="preencoded.png">    </p:cNvPr>
          <p:cNvPicPr>
            <a:picLocks noChangeAspect="1"/>
          </p:cNvPicPr>
          <p:nvPr/>
        </p:nvPicPr>
        <p:blipFill>
          <a:blip r:embed="rId1"/>
          <a:stretch>
            <a:fillRect/>
          </a:stretch>
        </p:blipFill>
        <p:spPr>
          <a:xfrm>
            <a:off x="457200" y="1285875"/>
            <a:ext cx="1971675" cy="1585913"/>
          </a:xfrm>
          <a:prstGeom prst="rect">
            <a:avLst/>
          </a:prstGeom>
        </p:spPr>
      </p:pic>
      <p:sp>
        <p:nvSpPr>
          <p:cNvPr id="10" name="Text 7"/>
          <p:cNvSpPr/>
          <p:nvPr/>
        </p:nvSpPr>
        <p:spPr>
          <a:xfrm>
            <a:off x="460772" y="1289447"/>
            <a:ext cx="1964531" cy="1578769"/>
          </a:xfrm>
          <a:prstGeom prst="roundRect">
            <a:avLst>
              <a:gd name="adj" fmla="val 9653"/>
            </a:avLst>
          </a:prstGeom>
          <a:noFill/>
          <a:ln w="7144">
            <a:solidFill>
              <a:srgbClr val="6366F1"/>
            </a:solidFill>
            <a:prstDash val="solid"/>
          </a:ln>
        </p:spPr>
        <p:txBody>
          <a:bodyPr wrap="square" rtlCol="0" anchor="ctr"/>
          <a:lstStyle/>
          <a:p>
            <a:pPr indent="0" marL="0">
              <a:buNone/>
            </a:pPr>
            <a:endParaRPr lang="en-US" dirty="0"/>
          </a:p>
        </p:txBody>
      </p:sp>
      <p:sp>
        <p:nvSpPr>
          <p:cNvPr id="11" name="Text 8"/>
          <p:cNvSpPr/>
          <p:nvPr/>
        </p:nvSpPr>
        <p:spPr>
          <a:xfrm>
            <a:off x="592931" y="1421606"/>
            <a:ext cx="1700213"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AGENT TOOLS</a:t>
            </a:r>
            <a:endParaRPr lang="en-US" sz="800" dirty="0"/>
          </a:p>
        </p:txBody>
      </p:sp>
      <p:sp>
        <p:nvSpPr>
          <p:cNvPr id="12" name="Text 9"/>
          <p:cNvSpPr/>
          <p:nvPr/>
        </p:nvSpPr>
        <p:spPr>
          <a:xfrm>
            <a:off x="1707356" y="2193131"/>
            <a:ext cx="785813" cy="785813"/>
          </a:xfrm>
          <a:prstGeom prst="rect">
            <a:avLst/>
          </a:prstGeom>
          <a:noFill/>
          <a:ln/>
        </p:spPr>
        <p:txBody>
          <a:bodyPr wrap="none" lIns="0" tIns="0" rIns="0" bIns="0" rtlCol="0" anchor="ctr"/>
          <a:lstStyle/>
          <a:p>
            <a:pPr algn="ctr" indent="0" marL="0">
              <a:buNone/>
            </a:pPr>
            <a:r>
              <a:rPr lang="en-US" sz="4800" dirty="0">
                <a:solidFill>
                  <a:srgbClr val="FFFFFF"/>
                </a:solidFill>
                <a:latin typeface="Segoe UI Symbol" pitchFamily="34" charset="0"/>
                <a:ea typeface="Segoe UI Symbol" pitchFamily="34" charset="-122"/>
                <a:cs typeface="Segoe UI Symbol" pitchFamily="34" charset="-120"/>
              </a:rPr>
              <a:t>✦</a:t>
            </a:r>
            <a:endParaRPr lang="en-US" sz="4800" dirty="0"/>
          </a:p>
        </p:txBody>
      </p:sp>
      <p:sp>
        <p:nvSpPr>
          <p:cNvPr id="13" name="Text 10"/>
          <p:cNvSpPr/>
          <p:nvPr/>
        </p:nvSpPr>
        <p:spPr>
          <a:xfrm>
            <a:off x="592931" y="1796318"/>
            <a:ext cx="1700213" cy="469063"/>
          </a:xfrm>
          <a:prstGeom prst="rect">
            <a:avLst/>
          </a:prstGeom>
          <a:noFill/>
          <a:ln/>
        </p:spPr>
        <p:txBody>
          <a:bodyPr wrap="none" lIns="0" tIns="0" rIns="0" bIns="0" rtlCol="0" anchor="t"/>
          <a:lstStyle/>
          <a:p>
            <a:pPr algn="l" indent="0" marL="0">
              <a:lnSpc>
                <a:spcPts val="3420"/>
              </a:lnSpc>
              <a:buNone/>
            </a:pPr>
            <a:r>
              <a:rPr lang="en-US" sz="3600" b="1" spc="-144" kern="0" dirty="0">
                <a:solidFill>
                  <a:srgbClr val="818CF8"/>
                </a:solidFill>
                <a:latin typeface="Liberation Sans Narrow" pitchFamily="34" charset="0"/>
                <a:ea typeface="Liberation Sans Narrow" pitchFamily="34" charset="-122"/>
                <a:cs typeface="Liberation Sans Narrow" pitchFamily="34" charset="-120"/>
              </a:rPr>
              <a:t>11</a:t>
            </a:r>
            <a:endParaRPr lang="en-US" sz="3600" dirty="0"/>
          </a:p>
        </p:txBody>
      </p:sp>
      <p:sp>
        <p:nvSpPr>
          <p:cNvPr id="14" name="Text 11"/>
          <p:cNvSpPr/>
          <p:nvPr/>
        </p:nvSpPr>
        <p:spPr>
          <a:xfrm>
            <a:off x="592931" y="2487476"/>
            <a:ext cx="1700213" cy="248580"/>
          </a:xfrm>
          <a:prstGeom prst="rect">
            <a:avLst/>
          </a:prstGeom>
          <a:noFill/>
          <a:ln/>
        </p:spPr>
        <p:txBody>
          <a:bodyPr wrap="square" lIns="0" tIns="0" rIns="0" bIns="0" rtlCol="0" anchor="t"/>
          <a:lstStyle/>
          <a:p>
            <a:pPr algn="l" indent="0" marL="0">
              <a:lnSpc>
                <a:spcPts val="979"/>
              </a:lnSpc>
              <a:buNone/>
            </a:pPr>
            <a:r>
              <a:rPr lang="en-US" sz="800" dirty="0">
                <a:solidFill>
                  <a:srgbClr val="A1A1AA"/>
                </a:solidFill>
                <a:latin typeface="Carlito" pitchFamily="34" charset="0"/>
                <a:ea typeface="Carlito" pitchFamily="34" charset="-122"/>
                <a:cs typeface="Carlito" pitchFamily="34" charset="-120"/>
              </a:rPr>
              <a:t>7 read + 4 write · all permissioned &amp; audited</a:t>
            </a:r>
            <a:endParaRPr lang="en-US" sz="800" dirty="0"/>
          </a:p>
        </p:txBody>
      </p:sp>
      <p:sp>
        <p:nvSpPr>
          <p:cNvPr id="15" name="Text 12"/>
          <p:cNvSpPr/>
          <p:nvPr/>
        </p:nvSpPr>
        <p:spPr>
          <a:xfrm>
            <a:off x="2546747" y="1289447"/>
            <a:ext cx="1964531" cy="1578769"/>
          </a:xfrm>
          <a:prstGeom prst="roundRect">
            <a:avLst>
              <a:gd name="adj" fmla="val 9653"/>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6" name="Text 13"/>
          <p:cNvSpPr/>
          <p:nvPr/>
        </p:nvSpPr>
        <p:spPr>
          <a:xfrm>
            <a:off x="2678906" y="1421606"/>
            <a:ext cx="1700213"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API ENDPOINTS</a:t>
            </a:r>
            <a:endParaRPr lang="en-US" sz="800" dirty="0"/>
          </a:p>
        </p:txBody>
      </p:sp>
      <p:sp>
        <p:nvSpPr>
          <p:cNvPr id="17" name="Text 14"/>
          <p:cNvSpPr/>
          <p:nvPr/>
        </p:nvSpPr>
        <p:spPr>
          <a:xfrm>
            <a:off x="3793331" y="2193131"/>
            <a:ext cx="785813" cy="785813"/>
          </a:xfrm>
          <a:prstGeom prst="rect">
            <a:avLst/>
          </a:prstGeom>
          <a:noFill/>
          <a:ln/>
        </p:spPr>
        <p:txBody>
          <a:bodyPr wrap="none" lIns="0" tIns="0" rIns="0" bIns="0" rtlCol="0" anchor="ctr"/>
          <a:lstStyle/>
          <a:p>
            <a:pPr algn="ctr" indent="0" marL="0">
              <a:buNone/>
            </a:pPr>
            <a:r>
              <a:rPr lang="en-US" sz="4800" dirty="0">
                <a:solidFill>
                  <a:srgbClr val="FFFFFF"/>
                </a:solidFill>
                <a:latin typeface="Segoe UI Symbol" pitchFamily="34" charset="0"/>
                <a:ea typeface="Segoe UI Symbol" pitchFamily="34" charset="-122"/>
                <a:cs typeface="Segoe UI Symbol" pitchFamily="34" charset="-120"/>
              </a:rPr>
              <a:t>✦</a:t>
            </a:r>
            <a:endParaRPr lang="en-US" sz="4800" dirty="0"/>
          </a:p>
        </p:txBody>
      </p:sp>
      <p:sp>
        <p:nvSpPr>
          <p:cNvPr id="18" name="Text 15"/>
          <p:cNvSpPr/>
          <p:nvPr/>
        </p:nvSpPr>
        <p:spPr>
          <a:xfrm>
            <a:off x="2678906" y="1796318"/>
            <a:ext cx="1700213" cy="469063"/>
          </a:xfrm>
          <a:prstGeom prst="rect">
            <a:avLst/>
          </a:prstGeom>
          <a:noFill/>
          <a:ln/>
        </p:spPr>
        <p:txBody>
          <a:bodyPr wrap="none" lIns="0" tIns="0" rIns="0" bIns="0" rtlCol="0" anchor="t"/>
          <a:lstStyle/>
          <a:p>
            <a:pPr algn="l" indent="0" marL="0">
              <a:lnSpc>
                <a:spcPts val="3420"/>
              </a:lnSpc>
              <a:buNone/>
            </a:pPr>
            <a:r>
              <a:rPr lang="en-US" sz="3600" b="1" spc="-144" kern="0" dirty="0">
                <a:solidFill>
                  <a:srgbClr val="F5F5F7"/>
                </a:solidFill>
                <a:latin typeface="Liberation Sans Narrow" pitchFamily="34" charset="0"/>
                <a:ea typeface="Liberation Sans Narrow" pitchFamily="34" charset="-122"/>
                <a:cs typeface="Liberation Sans Narrow" pitchFamily="34" charset="-120"/>
              </a:rPr>
              <a:t>14</a:t>
            </a:r>
            <a:endParaRPr lang="en-US" sz="3600" dirty="0"/>
          </a:p>
        </p:txBody>
      </p:sp>
      <p:sp>
        <p:nvSpPr>
          <p:cNvPr id="19" name="Text 16"/>
          <p:cNvSpPr/>
          <p:nvPr/>
        </p:nvSpPr>
        <p:spPr>
          <a:xfrm>
            <a:off x="2678906" y="2487476"/>
            <a:ext cx="1700213" cy="248580"/>
          </a:xfrm>
          <a:prstGeom prst="rect">
            <a:avLst/>
          </a:prstGeom>
          <a:noFill/>
          <a:ln/>
        </p:spPr>
        <p:txBody>
          <a:bodyPr wrap="square" lIns="0" tIns="0" rIns="0" bIns="0" rtlCol="0" anchor="t"/>
          <a:lstStyle/>
          <a:p>
            <a:pPr algn="l" indent="0" marL="0">
              <a:lnSpc>
                <a:spcPts val="979"/>
              </a:lnSpc>
              <a:buNone/>
            </a:pPr>
            <a:r>
              <a:rPr lang="en-US" sz="800" dirty="0">
                <a:solidFill>
                  <a:srgbClr val="A1A1AA"/>
                </a:solidFill>
                <a:latin typeface="Carlito" pitchFamily="34" charset="0"/>
                <a:ea typeface="Carlito" pitchFamily="34" charset="-122"/>
                <a:cs typeface="Carlito" pitchFamily="34" charset="-120"/>
              </a:rPr>
              <a:t>REST surface under Next.js 16 route handlers</a:t>
            </a:r>
            <a:endParaRPr lang="en-US" sz="800" dirty="0"/>
          </a:p>
        </p:txBody>
      </p:sp>
      <p:sp>
        <p:nvSpPr>
          <p:cNvPr id="20" name="Text 17"/>
          <p:cNvSpPr/>
          <p:nvPr/>
        </p:nvSpPr>
        <p:spPr>
          <a:xfrm>
            <a:off x="4632722" y="1289447"/>
            <a:ext cx="1964531" cy="1578769"/>
          </a:xfrm>
          <a:prstGeom prst="roundRect">
            <a:avLst>
              <a:gd name="adj" fmla="val 9653"/>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21" name="Text 18"/>
          <p:cNvSpPr/>
          <p:nvPr/>
        </p:nvSpPr>
        <p:spPr>
          <a:xfrm>
            <a:off x="4764881" y="1421606"/>
            <a:ext cx="1700213"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USER-FACING VIEWS</a:t>
            </a:r>
            <a:endParaRPr lang="en-US" sz="800" dirty="0"/>
          </a:p>
        </p:txBody>
      </p:sp>
      <p:sp>
        <p:nvSpPr>
          <p:cNvPr id="22" name="Text 19"/>
          <p:cNvSpPr/>
          <p:nvPr/>
        </p:nvSpPr>
        <p:spPr>
          <a:xfrm>
            <a:off x="5879306" y="2193131"/>
            <a:ext cx="785813" cy="785813"/>
          </a:xfrm>
          <a:prstGeom prst="rect">
            <a:avLst/>
          </a:prstGeom>
          <a:noFill/>
          <a:ln/>
        </p:spPr>
        <p:txBody>
          <a:bodyPr wrap="none" lIns="0" tIns="0" rIns="0" bIns="0" rtlCol="0" anchor="ctr"/>
          <a:lstStyle/>
          <a:p>
            <a:pPr algn="ctr" indent="0" marL="0">
              <a:buNone/>
            </a:pPr>
            <a:r>
              <a:rPr lang="en-US" sz="4800" dirty="0">
                <a:solidFill>
                  <a:srgbClr val="FFFFFF"/>
                </a:solidFill>
                <a:latin typeface="Segoe UI Symbol" pitchFamily="34" charset="0"/>
                <a:ea typeface="Segoe UI Symbol" pitchFamily="34" charset="-122"/>
                <a:cs typeface="Segoe UI Symbol" pitchFamily="34" charset="-120"/>
              </a:rPr>
              <a:t>▦</a:t>
            </a:r>
            <a:endParaRPr lang="en-US" sz="4800" dirty="0"/>
          </a:p>
        </p:txBody>
      </p:sp>
      <p:sp>
        <p:nvSpPr>
          <p:cNvPr id="23" name="Text 20"/>
          <p:cNvSpPr/>
          <p:nvPr/>
        </p:nvSpPr>
        <p:spPr>
          <a:xfrm>
            <a:off x="4764881" y="1796318"/>
            <a:ext cx="1700213" cy="469063"/>
          </a:xfrm>
          <a:prstGeom prst="rect">
            <a:avLst/>
          </a:prstGeom>
          <a:noFill/>
          <a:ln/>
        </p:spPr>
        <p:txBody>
          <a:bodyPr wrap="none" lIns="0" tIns="0" rIns="0" bIns="0" rtlCol="0" anchor="t"/>
          <a:lstStyle/>
          <a:p>
            <a:pPr algn="l" indent="0" marL="0">
              <a:lnSpc>
                <a:spcPts val="3420"/>
              </a:lnSpc>
              <a:buNone/>
            </a:pPr>
            <a:r>
              <a:rPr lang="en-US" sz="3600" b="1" spc="-144" kern="0" dirty="0">
                <a:solidFill>
                  <a:srgbClr val="F5F5F7"/>
                </a:solidFill>
                <a:latin typeface="Liberation Sans Narrow" pitchFamily="34" charset="0"/>
                <a:ea typeface="Liberation Sans Narrow" pitchFamily="34" charset="-122"/>
                <a:cs typeface="Liberation Sans Narrow" pitchFamily="34" charset="-120"/>
              </a:rPr>
              <a:t>8</a:t>
            </a:r>
            <a:endParaRPr lang="en-US" sz="3600" dirty="0"/>
          </a:p>
        </p:txBody>
      </p:sp>
      <p:sp>
        <p:nvSpPr>
          <p:cNvPr id="24" name="Text 21"/>
          <p:cNvSpPr/>
          <p:nvPr/>
        </p:nvSpPr>
        <p:spPr>
          <a:xfrm>
            <a:off x="4764881" y="2487476"/>
            <a:ext cx="1700213" cy="248580"/>
          </a:xfrm>
          <a:prstGeom prst="rect">
            <a:avLst/>
          </a:prstGeom>
          <a:noFill/>
          <a:ln/>
        </p:spPr>
        <p:txBody>
          <a:bodyPr wrap="square" lIns="0" tIns="0" rIns="0" bIns="0" rtlCol="0" anchor="t"/>
          <a:lstStyle/>
          <a:p>
            <a:pPr algn="l" indent="0" marL="0">
              <a:lnSpc>
                <a:spcPts val="979"/>
              </a:lnSpc>
              <a:buNone/>
            </a:pPr>
            <a:r>
              <a:rPr lang="en-US" sz="800" dirty="0">
                <a:solidFill>
                  <a:srgbClr val="A1A1AA"/>
                </a:solidFill>
                <a:latin typeface="Carlito" pitchFamily="34" charset="0"/>
                <a:ea typeface="Carlito" pitchFamily="34" charset="-122"/>
                <a:cs typeface="Carlito" pitchFamily="34" charset="-120"/>
              </a:rPr>
              <a:t>Overview → Innovation Lab, all fed by one ledger</a:t>
            </a:r>
            <a:endParaRPr lang="en-US" sz="800" dirty="0"/>
          </a:p>
        </p:txBody>
      </p:sp>
      <p:pic>
        <p:nvPicPr>
          <p:cNvPr id="25" name="Image 1" descr="preencoded.png">    </p:cNvPr>
          <p:cNvPicPr>
            <a:picLocks noChangeAspect="1"/>
          </p:cNvPicPr>
          <p:nvPr/>
        </p:nvPicPr>
        <p:blipFill>
          <a:blip r:embed="rId2"/>
          <a:stretch>
            <a:fillRect/>
          </a:stretch>
        </p:blipFill>
        <p:spPr>
          <a:xfrm>
            <a:off x="6715125" y="1285875"/>
            <a:ext cx="1971675" cy="1585913"/>
          </a:xfrm>
          <a:prstGeom prst="rect">
            <a:avLst/>
          </a:prstGeom>
        </p:spPr>
      </p:pic>
      <p:sp>
        <p:nvSpPr>
          <p:cNvPr id="26" name="Text 22"/>
          <p:cNvSpPr/>
          <p:nvPr/>
        </p:nvSpPr>
        <p:spPr>
          <a:xfrm>
            <a:off x="6718697" y="1289447"/>
            <a:ext cx="1964531" cy="1578769"/>
          </a:xfrm>
          <a:prstGeom prst="roundRect">
            <a:avLst>
              <a:gd name="adj" fmla="val 9653"/>
            </a:avLst>
          </a:prstGeom>
          <a:noFill/>
          <a:ln w="7144">
            <a:solidFill>
              <a:srgbClr val="10B981"/>
            </a:solidFill>
            <a:prstDash val="solid"/>
          </a:ln>
        </p:spPr>
        <p:txBody>
          <a:bodyPr wrap="square" rtlCol="0" anchor="ctr"/>
          <a:lstStyle/>
          <a:p>
            <a:pPr indent="0" marL="0">
              <a:buNone/>
            </a:pPr>
            <a:endParaRPr lang="en-US" dirty="0"/>
          </a:p>
        </p:txBody>
      </p:sp>
      <p:sp>
        <p:nvSpPr>
          <p:cNvPr id="27" name="Text 23"/>
          <p:cNvSpPr/>
          <p:nvPr/>
        </p:nvSpPr>
        <p:spPr>
          <a:xfrm>
            <a:off x="6850856" y="1421606"/>
            <a:ext cx="1700212"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TOTAL FEATURES SHIPPED</a:t>
            </a:r>
            <a:endParaRPr lang="en-US" sz="800" dirty="0"/>
          </a:p>
        </p:txBody>
      </p:sp>
      <p:sp>
        <p:nvSpPr>
          <p:cNvPr id="28" name="Text 24"/>
          <p:cNvSpPr/>
          <p:nvPr/>
        </p:nvSpPr>
        <p:spPr>
          <a:xfrm>
            <a:off x="7965281" y="2193131"/>
            <a:ext cx="785813" cy="785813"/>
          </a:xfrm>
          <a:prstGeom prst="rect">
            <a:avLst/>
          </a:prstGeom>
          <a:noFill/>
          <a:ln/>
        </p:spPr>
        <p:txBody>
          <a:bodyPr wrap="none" lIns="0" tIns="0" rIns="0" bIns="0" rtlCol="0" anchor="ctr"/>
          <a:lstStyle/>
          <a:p>
            <a:pPr algn="ctr" indent="0" marL="0">
              <a:buNone/>
            </a:pPr>
            <a:r>
              <a:rPr lang="en-US" sz="4800" dirty="0">
                <a:solidFill>
                  <a:srgbClr val="FFFFFF"/>
                </a:solidFill>
                <a:latin typeface="Segoe UI Symbol" pitchFamily="34" charset="0"/>
                <a:ea typeface="Segoe UI Symbol" pitchFamily="34" charset="-122"/>
                <a:cs typeface="Segoe UI Symbol" pitchFamily="34" charset="-120"/>
              </a:rPr>
              <a:t>✦</a:t>
            </a:r>
            <a:endParaRPr lang="en-US" sz="4800" dirty="0"/>
          </a:p>
        </p:txBody>
      </p:sp>
      <p:sp>
        <p:nvSpPr>
          <p:cNvPr id="29" name="Text 25"/>
          <p:cNvSpPr/>
          <p:nvPr/>
        </p:nvSpPr>
        <p:spPr>
          <a:xfrm>
            <a:off x="6850856" y="1796318"/>
            <a:ext cx="1700213" cy="469063"/>
          </a:xfrm>
          <a:prstGeom prst="rect">
            <a:avLst/>
          </a:prstGeom>
          <a:noFill/>
          <a:ln/>
        </p:spPr>
        <p:txBody>
          <a:bodyPr wrap="none" lIns="0" tIns="0" rIns="0" bIns="0" rtlCol="0" anchor="t"/>
          <a:lstStyle/>
          <a:p>
            <a:pPr algn="l" indent="0" marL="0">
              <a:lnSpc>
                <a:spcPts val="3420"/>
              </a:lnSpc>
              <a:buNone/>
            </a:pPr>
            <a:r>
              <a:rPr lang="en-US" sz="3600" b="1" spc="-144" kern="0" dirty="0">
                <a:solidFill>
                  <a:srgbClr val="34D399"/>
                </a:solidFill>
                <a:latin typeface="Liberation Sans Narrow" pitchFamily="34" charset="0"/>
                <a:ea typeface="Liberation Sans Narrow" pitchFamily="34" charset="-122"/>
                <a:cs typeface="Liberation Sans Narrow" pitchFamily="34" charset="-120"/>
              </a:rPr>
              <a:t>20</a:t>
            </a:r>
            <a:pPr algn="l" indent="0" marL="0">
              <a:lnSpc>
                <a:spcPts val="3420"/>
              </a:lnSpc>
              <a:buNone/>
            </a:pPr>
            <a:r>
              <a:rPr lang="en-US" sz="1350" b="1" spc="-144" kern="0" dirty="0">
                <a:solidFill>
                  <a:srgbClr val="A1A1AA"/>
                </a:solidFill>
                <a:latin typeface="Carlito" pitchFamily="34" charset="0"/>
                <a:ea typeface="Carlito" pitchFamily="34" charset="-122"/>
                <a:cs typeface="Carlito" pitchFamily="34" charset="-120"/>
              </a:rPr>
              <a:t>+</a:t>
            </a:r>
            <a:endParaRPr lang="en-US" sz="3600" dirty="0"/>
          </a:p>
        </p:txBody>
      </p:sp>
      <p:sp>
        <p:nvSpPr>
          <p:cNvPr id="30" name="Text 26"/>
          <p:cNvSpPr/>
          <p:nvPr/>
        </p:nvSpPr>
        <p:spPr>
          <a:xfrm>
            <a:off x="6850856" y="2487476"/>
            <a:ext cx="1700213" cy="248580"/>
          </a:xfrm>
          <a:prstGeom prst="rect">
            <a:avLst/>
          </a:prstGeom>
          <a:noFill/>
          <a:ln/>
        </p:spPr>
        <p:txBody>
          <a:bodyPr wrap="square" lIns="0" tIns="0" rIns="0" bIns="0" rtlCol="0" anchor="t"/>
          <a:lstStyle/>
          <a:p>
            <a:pPr algn="l" indent="0" marL="0">
              <a:lnSpc>
                <a:spcPts val="979"/>
              </a:lnSpc>
              <a:buNone/>
            </a:pPr>
            <a:r>
              <a:rPr lang="en-US" sz="800" dirty="0">
                <a:solidFill>
                  <a:srgbClr val="A1A1AA"/>
                </a:solidFill>
                <a:latin typeface="Carlito" pitchFamily="34" charset="0"/>
                <a:ea typeface="Carlito" pitchFamily="34" charset="-122"/>
                <a:cs typeface="Carlito" pitchFamily="34" charset="-120"/>
              </a:rPr>
              <a:t>5 of which are FinWise-original innovation features</a:t>
            </a:r>
            <a:endParaRPr lang="en-US" sz="800" dirty="0"/>
          </a:p>
        </p:txBody>
      </p:sp>
      <p:sp>
        <p:nvSpPr>
          <p:cNvPr id="31" name="Text 27"/>
          <p:cNvSpPr/>
          <p:nvPr/>
        </p:nvSpPr>
        <p:spPr>
          <a:xfrm>
            <a:off x="460772" y="2989659"/>
            <a:ext cx="2659819" cy="1578769"/>
          </a:xfrm>
          <a:prstGeom prst="roundRect">
            <a:avLst>
              <a:gd name="adj" fmla="val 9653"/>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32" name="Text 28"/>
          <p:cNvSpPr/>
          <p:nvPr/>
        </p:nvSpPr>
        <p:spPr>
          <a:xfrm>
            <a:off x="592931" y="3121819"/>
            <a:ext cx="2505228" cy="164592"/>
          </a:xfrm>
          <a:prstGeom prst="rect">
            <a:avLst/>
          </a:prstGeom>
          <a:noFill/>
          <a:ln/>
        </p:spPr>
        <p:txBody>
          <a:bodyPr wrap="square" lIns="0" tIns="0" rIns="0" bIns="0" rtlCol="0" anchor="t"/>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SYNTHETIC TRANSACTIONS SEEDED</a:t>
            </a:r>
            <a:endParaRPr lang="en-US" sz="800" dirty="0"/>
          </a:p>
        </p:txBody>
      </p:sp>
      <p:sp>
        <p:nvSpPr>
          <p:cNvPr id="33" name="Text 29"/>
          <p:cNvSpPr/>
          <p:nvPr/>
        </p:nvSpPr>
        <p:spPr>
          <a:xfrm>
            <a:off x="2402644" y="3893344"/>
            <a:ext cx="785813" cy="785813"/>
          </a:xfrm>
          <a:prstGeom prst="rect">
            <a:avLst/>
          </a:prstGeom>
          <a:noFill/>
          <a:ln/>
        </p:spPr>
        <p:txBody>
          <a:bodyPr wrap="none" lIns="0" tIns="0" rIns="0" bIns="0" rtlCol="0" anchor="ctr"/>
          <a:lstStyle/>
          <a:p>
            <a:pPr algn="ctr" indent="0" marL="0">
              <a:buNone/>
            </a:pPr>
            <a:r>
              <a:rPr lang="en-US" sz="4800" dirty="0">
                <a:solidFill>
                  <a:srgbClr val="FFFFFF"/>
                </a:solidFill>
                <a:latin typeface="Segoe UI Symbol" pitchFamily="34" charset="0"/>
                <a:ea typeface="Segoe UI Symbol" pitchFamily="34" charset="-122"/>
                <a:cs typeface="Segoe UI Symbol" pitchFamily="34" charset="-120"/>
              </a:rPr>
              <a:t>▤</a:t>
            </a:r>
            <a:endParaRPr lang="en-US" sz="4800" dirty="0"/>
          </a:p>
        </p:txBody>
      </p:sp>
      <p:sp>
        <p:nvSpPr>
          <p:cNvPr id="34" name="Text 30"/>
          <p:cNvSpPr/>
          <p:nvPr/>
        </p:nvSpPr>
        <p:spPr>
          <a:xfrm>
            <a:off x="592931" y="3496531"/>
            <a:ext cx="2395500" cy="469063"/>
          </a:xfrm>
          <a:prstGeom prst="rect">
            <a:avLst/>
          </a:prstGeom>
          <a:noFill/>
          <a:ln/>
        </p:spPr>
        <p:txBody>
          <a:bodyPr wrap="none" lIns="0" tIns="0" rIns="0" bIns="0" rtlCol="0" anchor="t"/>
          <a:lstStyle/>
          <a:p>
            <a:pPr algn="l" indent="0" marL="0">
              <a:lnSpc>
                <a:spcPts val="3420"/>
              </a:lnSpc>
              <a:buNone/>
            </a:pPr>
            <a:r>
              <a:rPr lang="en-US" sz="3600" b="1" spc="-144" kern="0" dirty="0">
                <a:solidFill>
                  <a:srgbClr val="F5F5F7"/>
                </a:solidFill>
                <a:latin typeface="Liberation Sans Narrow" pitchFamily="34" charset="0"/>
                <a:ea typeface="Liberation Sans Narrow" pitchFamily="34" charset="-122"/>
                <a:cs typeface="Liberation Sans Narrow" pitchFamily="34" charset="-120"/>
              </a:rPr>
              <a:t>550</a:t>
            </a:r>
            <a:pPr algn="l" indent="0" marL="0">
              <a:lnSpc>
                <a:spcPts val="3420"/>
              </a:lnSpc>
              <a:buNone/>
            </a:pPr>
            <a:r>
              <a:rPr lang="en-US" sz="1350" b="1" spc="-144" kern="0" dirty="0">
                <a:solidFill>
                  <a:srgbClr val="A1A1AA"/>
                </a:solidFill>
                <a:latin typeface="Carlito" pitchFamily="34" charset="0"/>
                <a:ea typeface="Carlito" pitchFamily="34" charset="-122"/>
                <a:cs typeface="Carlito" pitchFamily="34" charset="-120"/>
              </a:rPr>
              <a:t>+</a:t>
            </a:r>
            <a:endParaRPr lang="en-US" sz="3600" dirty="0"/>
          </a:p>
        </p:txBody>
      </p:sp>
      <p:sp>
        <p:nvSpPr>
          <p:cNvPr id="35" name="Text 31"/>
          <p:cNvSpPr/>
          <p:nvPr/>
        </p:nvSpPr>
        <p:spPr>
          <a:xfrm>
            <a:off x="592931" y="4187689"/>
            <a:ext cx="2395500" cy="248580"/>
          </a:xfrm>
          <a:prstGeom prst="rect">
            <a:avLst/>
          </a:prstGeom>
          <a:noFill/>
          <a:ln/>
        </p:spPr>
        <p:txBody>
          <a:bodyPr wrap="square" lIns="0" tIns="0" rIns="0" bIns="0" rtlCol="0" anchor="t"/>
          <a:lstStyle/>
          <a:p>
            <a:pPr algn="l" indent="0" marL="0">
              <a:lnSpc>
                <a:spcPts val="979"/>
              </a:lnSpc>
              <a:buNone/>
            </a:pPr>
            <a:r>
              <a:rPr lang="en-US" sz="800" dirty="0">
                <a:solidFill>
                  <a:srgbClr val="A1A1AA"/>
                </a:solidFill>
                <a:latin typeface="Carlito" pitchFamily="34" charset="0"/>
                <a:ea typeface="Carlito" pitchFamily="34" charset="-122"/>
                <a:cs typeface="Carlito" pitchFamily="34" charset="-120"/>
              </a:rPr>
              <a:t>Realistic spend patterns across 3 personas · 14 categories · 18 months</a:t>
            </a:r>
            <a:endParaRPr lang="en-US" sz="800" dirty="0"/>
          </a:p>
        </p:txBody>
      </p:sp>
      <p:pic>
        <p:nvPicPr>
          <p:cNvPr id="36" name="Image 2" descr="preencoded.png">    </p:cNvPr>
          <p:cNvPicPr>
            <a:picLocks noChangeAspect="1"/>
          </p:cNvPicPr>
          <p:nvPr/>
        </p:nvPicPr>
        <p:blipFill>
          <a:blip r:embed="rId3"/>
          <a:stretch>
            <a:fillRect/>
          </a:stretch>
        </p:blipFill>
        <p:spPr>
          <a:xfrm>
            <a:off x="3238463" y="2986088"/>
            <a:ext cx="2666963" cy="1585913"/>
          </a:xfrm>
          <a:prstGeom prst="rect">
            <a:avLst/>
          </a:prstGeom>
        </p:spPr>
      </p:pic>
      <p:sp>
        <p:nvSpPr>
          <p:cNvPr id="37" name="Text 32"/>
          <p:cNvSpPr/>
          <p:nvPr/>
        </p:nvSpPr>
        <p:spPr>
          <a:xfrm>
            <a:off x="3242035" y="2989659"/>
            <a:ext cx="2659819" cy="1578769"/>
          </a:xfrm>
          <a:prstGeom prst="roundRect">
            <a:avLst>
              <a:gd name="adj" fmla="val 9653"/>
            </a:avLst>
          </a:prstGeom>
          <a:noFill/>
          <a:ln w="7144">
            <a:solidFill>
              <a:srgbClr val="6366F1"/>
            </a:solidFill>
            <a:prstDash val="solid"/>
          </a:ln>
        </p:spPr>
        <p:txBody>
          <a:bodyPr wrap="square" rtlCol="0" anchor="ctr"/>
          <a:lstStyle/>
          <a:p>
            <a:pPr indent="0" marL="0">
              <a:buNone/>
            </a:pPr>
            <a:endParaRPr lang="en-US" dirty="0"/>
          </a:p>
        </p:txBody>
      </p:sp>
      <p:sp>
        <p:nvSpPr>
          <p:cNvPr id="38" name="Text 33"/>
          <p:cNvSpPr/>
          <p:nvPr/>
        </p:nvSpPr>
        <p:spPr>
          <a:xfrm>
            <a:off x="3374194" y="3121819"/>
            <a:ext cx="2505228" cy="164592"/>
          </a:xfrm>
          <a:prstGeom prst="rect">
            <a:avLst/>
          </a:prstGeom>
          <a:noFill/>
          <a:ln/>
        </p:spPr>
        <p:txBody>
          <a:bodyPr wrap="square" lIns="0" tIns="0" rIns="0" bIns="0" rtlCol="0" anchor="t"/>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MONTE CARLO SIMULATION PATHS</a:t>
            </a:r>
            <a:endParaRPr lang="en-US" sz="800" dirty="0"/>
          </a:p>
        </p:txBody>
      </p:sp>
      <p:sp>
        <p:nvSpPr>
          <p:cNvPr id="39" name="Text 34"/>
          <p:cNvSpPr/>
          <p:nvPr/>
        </p:nvSpPr>
        <p:spPr>
          <a:xfrm>
            <a:off x="5183907" y="3893344"/>
            <a:ext cx="785813" cy="785813"/>
          </a:xfrm>
          <a:prstGeom prst="rect">
            <a:avLst/>
          </a:prstGeom>
          <a:noFill/>
          <a:ln/>
        </p:spPr>
        <p:txBody>
          <a:bodyPr wrap="none" lIns="0" tIns="0" rIns="0" bIns="0" rtlCol="0" anchor="ctr"/>
          <a:lstStyle/>
          <a:p>
            <a:pPr algn="ctr" indent="0" marL="0">
              <a:buNone/>
            </a:pPr>
            <a:r>
              <a:rPr lang="en-US" sz="4800" dirty="0">
                <a:solidFill>
                  <a:srgbClr val="FFFFFF"/>
                </a:solidFill>
                <a:latin typeface="Segoe UI Symbol" pitchFamily="34" charset="0"/>
                <a:ea typeface="Segoe UI Symbol" pitchFamily="34" charset="-122"/>
                <a:cs typeface="Segoe UI Symbol" pitchFamily="34" charset="-120"/>
              </a:rPr>
              <a:t>⌇</a:t>
            </a:r>
            <a:endParaRPr lang="en-US" sz="4800" dirty="0"/>
          </a:p>
        </p:txBody>
      </p:sp>
      <p:sp>
        <p:nvSpPr>
          <p:cNvPr id="40" name="Text 35"/>
          <p:cNvSpPr/>
          <p:nvPr/>
        </p:nvSpPr>
        <p:spPr>
          <a:xfrm>
            <a:off x="3374194" y="3496531"/>
            <a:ext cx="2395500" cy="469063"/>
          </a:xfrm>
          <a:prstGeom prst="rect">
            <a:avLst/>
          </a:prstGeom>
          <a:noFill/>
          <a:ln/>
        </p:spPr>
        <p:txBody>
          <a:bodyPr wrap="none" lIns="0" tIns="0" rIns="0" bIns="0" rtlCol="0" anchor="t"/>
          <a:lstStyle/>
          <a:p>
            <a:pPr algn="l" indent="0" marL="0">
              <a:lnSpc>
                <a:spcPts val="3420"/>
              </a:lnSpc>
              <a:buNone/>
            </a:pPr>
            <a:r>
              <a:rPr lang="en-US" sz="3600" b="1" spc="-144" kern="0" dirty="0">
                <a:solidFill>
                  <a:srgbClr val="818CF8"/>
                </a:solidFill>
                <a:latin typeface="Liberation Sans Narrow" pitchFamily="34" charset="0"/>
                <a:ea typeface="Liberation Sans Narrow" pitchFamily="34" charset="-122"/>
                <a:cs typeface="Liberation Sans Narrow" pitchFamily="34" charset="-120"/>
              </a:rPr>
              <a:t>5,000</a:t>
            </a:r>
            <a:endParaRPr lang="en-US" sz="3600" dirty="0"/>
          </a:p>
        </p:txBody>
      </p:sp>
      <p:sp>
        <p:nvSpPr>
          <p:cNvPr id="41" name="Text 36"/>
          <p:cNvSpPr/>
          <p:nvPr/>
        </p:nvSpPr>
        <p:spPr>
          <a:xfrm>
            <a:off x="3374194" y="4187689"/>
            <a:ext cx="2395500" cy="248580"/>
          </a:xfrm>
          <a:prstGeom prst="rect">
            <a:avLst/>
          </a:prstGeom>
          <a:noFill/>
          <a:ln/>
        </p:spPr>
        <p:txBody>
          <a:bodyPr wrap="square" lIns="0" tIns="0" rIns="0" bIns="0" rtlCol="0" anchor="t"/>
          <a:lstStyle/>
          <a:p>
            <a:pPr algn="l" indent="0" marL="0">
              <a:lnSpc>
                <a:spcPts val="979"/>
              </a:lnSpc>
              <a:buNone/>
            </a:pPr>
            <a:r>
              <a:rPr lang="en-US" sz="800" dirty="0">
                <a:solidFill>
                  <a:srgbClr val="A1A1AA"/>
                </a:solidFill>
                <a:latin typeface="Carlito" pitchFamily="34" charset="0"/>
                <a:ea typeface="Carlito" pitchFamily="34" charset="-122"/>
                <a:cs typeface="Carlito" pitchFamily="34" charset="-120"/>
              </a:rPr>
              <a:t>Per 5-year projection · P10–P90 envelope computed live</a:t>
            </a:r>
            <a:endParaRPr lang="en-US" sz="800" dirty="0"/>
          </a:p>
        </p:txBody>
      </p:sp>
      <p:pic>
        <p:nvPicPr>
          <p:cNvPr id="42" name="Image 3" descr="preencoded.png">    </p:cNvPr>
          <p:cNvPicPr>
            <a:picLocks noChangeAspect="1"/>
          </p:cNvPicPr>
          <p:nvPr/>
        </p:nvPicPr>
        <p:blipFill>
          <a:blip r:embed="rId4"/>
          <a:stretch>
            <a:fillRect/>
          </a:stretch>
        </p:blipFill>
        <p:spPr>
          <a:xfrm>
            <a:off x="6019726" y="2986088"/>
            <a:ext cx="2667074" cy="1585913"/>
          </a:xfrm>
          <a:prstGeom prst="rect">
            <a:avLst/>
          </a:prstGeom>
        </p:spPr>
      </p:pic>
      <p:sp>
        <p:nvSpPr>
          <p:cNvPr id="43" name="Text 37"/>
          <p:cNvSpPr/>
          <p:nvPr/>
        </p:nvSpPr>
        <p:spPr>
          <a:xfrm>
            <a:off x="6023297" y="2989659"/>
            <a:ext cx="2659931" cy="1578769"/>
          </a:xfrm>
          <a:prstGeom prst="roundRect">
            <a:avLst>
              <a:gd name="adj" fmla="val 9653"/>
            </a:avLst>
          </a:prstGeom>
          <a:noFill/>
          <a:ln w="7144">
            <a:solidFill>
              <a:srgbClr val="10B981"/>
            </a:solidFill>
            <a:prstDash val="solid"/>
          </a:ln>
        </p:spPr>
        <p:txBody>
          <a:bodyPr wrap="square" rtlCol="0" anchor="ctr"/>
          <a:lstStyle/>
          <a:p>
            <a:pPr indent="0" marL="0">
              <a:buNone/>
            </a:pPr>
            <a:endParaRPr lang="en-US" dirty="0"/>
          </a:p>
        </p:txBody>
      </p:sp>
      <p:sp>
        <p:nvSpPr>
          <p:cNvPr id="44" name="Text 38"/>
          <p:cNvSpPr/>
          <p:nvPr/>
        </p:nvSpPr>
        <p:spPr>
          <a:xfrm>
            <a:off x="6155457" y="3121819"/>
            <a:ext cx="2395612"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71717A"/>
                </a:solidFill>
                <a:latin typeface="Carlito" pitchFamily="34" charset="0"/>
                <a:ea typeface="Carlito" pitchFamily="34" charset="-122"/>
                <a:cs typeface="Carlito" pitchFamily="34" charset="-120"/>
              </a:rPr>
              <a:t>END-TO-END VERIFIED</a:t>
            </a:r>
            <a:endParaRPr lang="en-US" sz="800" dirty="0"/>
          </a:p>
        </p:txBody>
      </p:sp>
      <p:sp>
        <p:nvSpPr>
          <p:cNvPr id="45" name="Text 39"/>
          <p:cNvSpPr/>
          <p:nvPr/>
        </p:nvSpPr>
        <p:spPr>
          <a:xfrm>
            <a:off x="7965281" y="3893344"/>
            <a:ext cx="785813" cy="785813"/>
          </a:xfrm>
          <a:prstGeom prst="rect">
            <a:avLst/>
          </a:prstGeom>
          <a:noFill/>
          <a:ln/>
        </p:spPr>
        <p:txBody>
          <a:bodyPr wrap="none" lIns="0" tIns="0" rIns="0" bIns="0" rtlCol="0" anchor="ctr"/>
          <a:lstStyle/>
          <a:p>
            <a:pPr algn="ctr" indent="0" marL="0">
              <a:buNone/>
            </a:pPr>
            <a:r>
              <a:rPr lang="en-US" sz="4800" dirty="0">
                <a:solidFill>
                  <a:srgbClr val="FFFFFF"/>
                </a:solidFill>
                <a:latin typeface="Segoe UI Symbol" pitchFamily="34" charset="0"/>
                <a:ea typeface="Segoe UI Symbol" pitchFamily="34" charset="-122"/>
                <a:cs typeface="Segoe UI Symbol" pitchFamily="34" charset="-120"/>
              </a:rPr>
              <a:t>✓</a:t>
            </a:r>
            <a:endParaRPr lang="en-US" sz="4800" dirty="0"/>
          </a:p>
        </p:txBody>
      </p:sp>
      <p:sp>
        <p:nvSpPr>
          <p:cNvPr id="46" name="Text 40"/>
          <p:cNvSpPr/>
          <p:nvPr/>
        </p:nvSpPr>
        <p:spPr>
          <a:xfrm>
            <a:off x="6155457" y="3614738"/>
            <a:ext cx="2395612" cy="870823"/>
          </a:xfrm>
          <a:prstGeom prst="rect">
            <a:avLst/>
          </a:prstGeom>
          <a:noFill/>
          <a:ln/>
        </p:spPr>
        <p:txBody>
          <a:bodyPr wrap="square" lIns="0" tIns="0" rIns="0" bIns="0" rtlCol="0" anchor="t"/>
          <a:lstStyle/>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✓11 tools call cleanly under supervisor</a:t>
            </a:r>
            <a:endParaRPr lang="en-US" sz="800" dirty="0"/>
          </a:p>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✓14 endpoints respond within 200ms p95</a:t>
            </a:r>
            <a:endParaRPr lang="en-US" sz="800" dirty="0"/>
          </a:p>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✓Health Score recomputes under 100ms</a:t>
            </a:r>
            <a:endParaRPr lang="en-US" sz="800" dirty="0"/>
          </a:p>
          <a:p>
            <a:pPr algn="l" marL="342900" indent="-342900">
              <a:lnSpc>
                <a:spcPts val="1013"/>
              </a:lnSpc>
              <a:buSzPct val="100000"/>
              <a:buChar char="•"/>
            </a:pPr>
            <a:r>
              <a:rPr lang="en-US" sz="800" dirty="0">
                <a:solidFill>
                  <a:srgbClr val="A1A1AA"/>
                </a:solidFill>
                <a:latin typeface="Carlito" pitchFamily="34" charset="0"/>
                <a:ea typeface="Carlito" pitchFamily="34" charset="-122"/>
                <a:cs typeface="Carlito" pitchFamily="34" charset="-120"/>
              </a:rPr>
              <a:t>✓Audit trail captures 100% of write calls</a:t>
            </a:r>
            <a:endParaRPr lang="en-US" sz="800" dirty="0"/>
          </a:p>
        </p:txBody>
      </p:sp>
      <p:sp>
        <p:nvSpPr>
          <p:cNvPr id="47" name="Text 41"/>
          <p:cNvSpPr/>
          <p:nvPr/>
        </p:nvSpPr>
        <p:spPr>
          <a:xfrm>
            <a:off x="457200" y="4861322"/>
            <a:ext cx="42863" cy="42863"/>
          </a:xfrm>
          <a:prstGeom prst="roundRect">
            <a:avLst>
              <a:gd name="adj" fmla="val 22199741"/>
            </a:avLst>
          </a:prstGeom>
          <a:solidFill>
            <a:srgbClr val="6366F1"/>
          </a:solidFill>
          <a:ln/>
        </p:spPr>
        <p:txBody>
          <a:bodyPr wrap="square" rtlCol="0" anchor="ctr"/>
          <a:lstStyle/>
          <a:p>
            <a:pPr indent="0" marL="0">
              <a:buNone/>
            </a:pPr>
            <a:endParaRPr lang="en-US" dirty="0"/>
          </a:p>
        </p:txBody>
      </p:sp>
      <p:sp>
        <p:nvSpPr>
          <p:cNvPr id="48" name="Text 42"/>
          <p:cNvSpPr/>
          <p:nvPr/>
        </p:nvSpPr>
        <p:spPr>
          <a:xfrm>
            <a:off x="457200" y="4814888"/>
            <a:ext cx="786571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Carlito" pitchFamily="34" charset="0"/>
                <a:ea typeface="Carlito" pitchFamily="34" charset="-122"/>
                <a:cs typeface="Carlito" pitchFamily="34" charset="-120"/>
              </a:rPr>
              <a:t>FINWISE · TOPIC A</a:t>
            </a:r>
            <a:endParaRPr lang="en-US" sz="800" dirty="0"/>
          </a:p>
        </p:txBody>
      </p:sp>
      <p:sp>
        <p:nvSpPr>
          <p:cNvPr id="49" name="Text 43"/>
          <p:cNvSpPr/>
          <p:nvPr/>
        </p:nvSpPr>
        <p:spPr>
          <a:xfrm>
            <a:off x="8337203" y="4814888"/>
            <a:ext cx="499050"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71717A"/>
                </a:solidFill>
                <a:latin typeface="Liberation Sans Narrow" pitchFamily="34" charset="0"/>
                <a:ea typeface="Liberation Sans Narrow" pitchFamily="34" charset="-122"/>
                <a:cs typeface="Liberation Sans Narrow" pitchFamily="34" charset="-120"/>
              </a:rPr>
              <a:t>11 /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3185598" y="3000375"/>
            <a:ext cx="5958402" cy="2143125"/>
          </a:xfrm>
          <a:prstGeom prst="rect">
            <a:avLst/>
          </a:prstGeom>
          <a:noFill/>
          <a:ln/>
        </p:spPr>
        <p:txBody>
          <a:bodyPr wrap="square" lIns="0" tIns="0" rIns="0" bIns="0" rtlCol="0" anchor="t"/>
          <a:lstStyle/>
          <a:p>
            <a:pPr algn="l" indent="0" marL="0">
              <a:lnSpc>
                <a:spcPts val="25875"/>
              </a:lnSpc>
              <a:buNone/>
            </a:pPr>
            <a:r>
              <a:rPr lang="en-US" sz="25875" b="1" spc="-1294" kern="0" dirty="0">
                <a:solidFill>
                  <a:srgbClr val="10B981">
                    <a:alpha val="4000"/>
                  </a:srgbClr>
                </a:solidFill>
                <a:latin typeface="Liberation Sans Narrow" pitchFamily="34" charset="0"/>
                <a:ea typeface="Liberation Sans Narrow" pitchFamily="34" charset="-122"/>
                <a:cs typeface="Liberation Sans Narrow" pitchFamily="34" charset="-120"/>
              </a:rPr>
              <a:t>12</a:t>
            </a:r>
            <a:endParaRPr lang="en-US" sz="25875" dirty="0"/>
          </a:p>
        </p:txBody>
      </p:sp>
      <p:pic>
        <p:nvPicPr>
          <p:cNvPr id="3" name="Image 0" descr="preencoded.png">    </p:cNvPr>
          <p:cNvPicPr>
            <a:picLocks noChangeAspect="1"/>
          </p:cNvPicPr>
          <p:nvPr/>
        </p:nvPicPr>
        <p:blipFill>
          <a:blip r:embed="rId1"/>
          <a:stretch>
            <a:fillRect/>
          </a:stretch>
        </p:blipFill>
        <p:spPr>
          <a:xfrm>
            <a:off x="457200" y="315218"/>
            <a:ext cx="257175" cy="257175"/>
          </a:xfrm>
          <a:prstGeom prst="rect">
            <a:avLst/>
          </a:prstGeom>
        </p:spPr>
      </p:pic>
      <p:sp>
        <p:nvSpPr>
          <p:cNvPr id="4" name="Text 1"/>
          <p:cNvSpPr/>
          <p:nvPr/>
        </p:nvSpPr>
        <p:spPr>
          <a:xfrm>
            <a:off x="482203" y="340221"/>
            <a:ext cx="207169" cy="207169"/>
          </a:xfrm>
          <a:prstGeom prst="rect">
            <a:avLst/>
          </a:prstGeom>
          <a:noFill/>
          <a:ln/>
        </p:spPr>
        <p:txBody>
          <a:bodyPr wrap="none" lIns="0" tIns="0" rIns="0" bIns="0" rtlCol="0" anchor="ctr"/>
          <a:lstStyle/>
          <a:p>
            <a:pPr algn="ctr" indent="0" marL="0">
              <a:buNone/>
            </a:pPr>
            <a:r>
              <a:rPr lang="en-US" sz="1406" dirty="0">
                <a:solidFill>
                  <a:srgbClr val="FFFFFF"/>
                </a:solidFill>
                <a:latin typeface="Segoe UI Symbol" pitchFamily="34" charset="0"/>
                <a:ea typeface="Segoe UI Symbol" pitchFamily="34" charset="-122"/>
                <a:cs typeface="Segoe UI Symbol" pitchFamily="34" charset="-120"/>
              </a:rPr>
              <a:t>◆</a:t>
            </a:r>
            <a:endParaRPr lang="en-US" sz="1406" dirty="0"/>
          </a:p>
        </p:txBody>
      </p:sp>
      <p:sp>
        <p:nvSpPr>
          <p:cNvPr id="5" name="Text 2"/>
          <p:cNvSpPr/>
          <p:nvPr/>
        </p:nvSpPr>
        <p:spPr>
          <a:xfrm>
            <a:off x="800100" y="314325"/>
            <a:ext cx="2678049" cy="133302"/>
          </a:xfrm>
          <a:prstGeom prst="rect">
            <a:avLst/>
          </a:prstGeom>
          <a:noFill/>
          <a:ln/>
        </p:spPr>
        <p:txBody>
          <a:bodyPr wrap="none" lIns="0" tIns="0" rIns="0" bIns="0" rtlCol="0" anchor="t">
            <a:normAutofit/>
          </a:bodyPr>
          <a:lstStyle/>
          <a:p>
            <a:pPr algn="l" indent="0" marL="0">
              <a:lnSpc>
                <a:spcPts val="1266"/>
              </a:lnSpc>
              <a:buNone/>
            </a:pPr>
            <a:r>
              <a:rPr lang="en-US" sz="1013" b="1" spc="-10" kern="0" dirty="0">
                <a:solidFill>
                  <a:srgbClr val="F5F5F7"/>
                </a:solidFill>
                <a:latin typeface="Tinos" pitchFamily="34" charset="0"/>
                <a:ea typeface="Tinos" pitchFamily="34" charset="-122"/>
                <a:cs typeface="Tinos" pitchFamily="34" charset="-120"/>
              </a:rPr>
              <a:t>FinWise</a:t>
            </a:r>
            <a:endParaRPr lang="en-US" sz="1013" dirty="0"/>
          </a:p>
        </p:txBody>
      </p:sp>
      <p:sp>
        <p:nvSpPr>
          <p:cNvPr id="6" name="Text 3"/>
          <p:cNvSpPr/>
          <p:nvPr/>
        </p:nvSpPr>
        <p:spPr>
          <a:xfrm>
            <a:off x="800100" y="475059"/>
            <a:ext cx="2412631" cy="137160"/>
          </a:xfrm>
          <a:prstGeom prst="rect">
            <a:avLst/>
          </a:prstGeom>
          <a:noFill/>
          <a:ln/>
        </p:spPr>
        <p:txBody>
          <a:bodyPr wrap="square" lIns="0" tIns="0" rIns="0" bIns="0" rtlCol="0" anchor="t"/>
          <a:lstStyle/>
          <a:p>
            <a:pPr algn="l" indent="0" marL="0">
              <a:lnSpc>
                <a:spcPts val="773"/>
              </a:lnSpc>
              <a:buNone/>
            </a:pPr>
            <a:r>
              <a:rPr lang="en-US" sz="800" spc="99" kern="0" dirty="0">
                <a:solidFill>
                  <a:srgbClr val="71717A"/>
                </a:solidFill>
                <a:latin typeface="Carlito" pitchFamily="34" charset="0"/>
                <a:ea typeface="Carlito" pitchFamily="34" charset="-122"/>
                <a:cs typeface="Carlito" pitchFamily="34" charset="-120"/>
              </a:rPr>
              <a:t>PBCSF · INTERNATIONAL TRACK · TOPIC A</a:t>
            </a:r>
            <a:endParaRPr lang="en-US" sz="800" dirty="0"/>
          </a:p>
        </p:txBody>
      </p:sp>
      <p:sp>
        <p:nvSpPr>
          <p:cNvPr id="7" name="Text 4"/>
          <p:cNvSpPr/>
          <p:nvPr/>
        </p:nvSpPr>
        <p:spPr>
          <a:xfrm>
            <a:off x="7830912" y="331791"/>
            <a:ext cx="878748" cy="224028"/>
          </a:xfrm>
          <a:prstGeom prst="roundRect">
            <a:avLst>
              <a:gd name="adj" fmla="val 4247449"/>
            </a:avLst>
          </a:prstGeom>
          <a:solidFill>
            <a:srgbClr val="6366F1">
              <a:alpha val="12000"/>
            </a:srgbClr>
          </a:solidFill>
          <a:ln w="7144">
            <a:solidFill>
              <a:srgbClr val="6366F1"/>
            </a:solidFill>
            <a:prstDash val="solid"/>
          </a:ln>
        </p:spPr>
        <p:txBody>
          <a:bodyPr wrap="square" rtlCol="0" anchor="ctr"/>
          <a:lstStyle/>
          <a:p>
            <a:pPr indent="0" marL="0">
              <a:buNone/>
            </a:pPr>
            <a:endParaRPr lang="en-US" dirty="0"/>
          </a:p>
        </p:txBody>
      </p:sp>
      <p:sp>
        <p:nvSpPr>
          <p:cNvPr id="8" name="Text 5"/>
          <p:cNvSpPr/>
          <p:nvPr/>
        </p:nvSpPr>
        <p:spPr>
          <a:xfrm>
            <a:off x="7853772" y="343793"/>
            <a:ext cx="833028" cy="200025"/>
          </a:xfrm>
          <a:prstGeom prst="rect">
            <a:avLst/>
          </a:prstGeom>
          <a:noFill/>
          <a:ln/>
        </p:spPr>
        <p:txBody>
          <a:bodyPr wrap="none" lIns="0" tIns="0" rIns="0" bIns="0" rtlCol="0" anchor="ctr"/>
          <a:lstStyle/>
          <a:p>
            <a:pPr algn="ctr" indent="0" marL="0">
              <a:lnSpc>
                <a:spcPts val="1013"/>
              </a:lnSpc>
              <a:buNone/>
            </a:pPr>
            <a:r>
              <a:rPr lang="en-US" sz="800" spc="27" kern="0" dirty="0">
                <a:solidFill>
                  <a:srgbClr val="818CF8"/>
                </a:solidFill>
                <a:latin typeface="Liberation Sans Narrow" pitchFamily="34" charset="0"/>
                <a:ea typeface="Liberation Sans Narrow" pitchFamily="34" charset="-122"/>
                <a:cs typeface="Liberation Sans Narrow" pitchFamily="34" charset="-120"/>
              </a:rPr>
              <a:t>12 · CLOSING</a:t>
            </a:r>
            <a:endParaRPr lang="en-US" sz="800" dirty="0"/>
          </a:p>
        </p:txBody>
      </p:sp>
      <p:sp>
        <p:nvSpPr>
          <p:cNvPr id="9" name="Text 6"/>
          <p:cNvSpPr/>
          <p:nvPr/>
        </p:nvSpPr>
        <p:spPr>
          <a:xfrm>
            <a:off x="457200" y="857250"/>
            <a:ext cx="8636000" cy="164592"/>
          </a:xfrm>
          <a:prstGeom prst="rect">
            <a:avLst/>
          </a:prstGeom>
          <a:noFill/>
          <a:ln/>
        </p:spPr>
        <p:txBody>
          <a:bodyPr wrap="none" lIns="0" tIns="0" rIns="0" bIns="0" rtlCol="0" anchor="t"/>
          <a:lstStyle/>
          <a:p>
            <a:pPr algn="l" indent="0" marL="0">
              <a:lnSpc>
                <a:spcPts val="1013"/>
              </a:lnSpc>
              <a:buNone/>
            </a:pPr>
            <a:r>
              <a:rPr lang="en-US" sz="800" spc="122" kern="0" dirty="0">
                <a:solidFill>
                  <a:srgbClr val="34D399"/>
                </a:solidFill>
                <a:latin typeface="Courier New" pitchFamily="34" charset="0"/>
                <a:ea typeface="Courier New" pitchFamily="34" charset="-122"/>
                <a:cs typeface="Courier New" pitchFamily="34" charset="-120"/>
              </a:rPr>
              <a:t>— FIN —</a:t>
            </a:r>
            <a:endParaRPr lang="en-US" sz="800" dirty="0"/>
          </a:p>
        </p:txBody>
      </p:sp>
      <p:sp>
        <p:nvSpPr>
          <p:cNvPr id="10" name="Text 7"/>
          <p:cNvSpPr/>
          <p:nvPr/>
        </p:nvSpPr>
        <p:spPr>
          <a:xfrm>
            <a:off x="457200" y="1085850"/>
            <a:ext cx="8636000" cy="859165"/>
          </a:xfrm>
          <a:prstGeom prst="rect">
            <a:avLst/>
          </a:prstGeom>
          <a:noFill/>
          <a:ln/>
        </p:spPr>
        <p:txBody>
          <a:bodyPr wrap="none" lIns="0" tIns="0" rIns="0" bIns="0" rtlCol="0" anchor="t"/>
          <a:lstStyle/>
          <a:p>
            <a:pPr algn="l" indent="0" marL="0">
              <a:lnSpc>
                <a:spcPts val="6264"/>
              </a:lnSpc>
              <a:buNone/>
            </a:pPr>
            <a:r>
              <a:rPr lang="en-US" sz="6525" b="1" spc="-294" kern="0" dirty="0">
                <a:solidFill>
                  <a:srgbClr val="FFFFFF"/>
                </a:solidFill>
                <a:latin typeface="Tinos" pitchFamily="34" charset="0"/>
                <a:ea typeface="Tinos" pitchFamily="34" charset="-122"/>
                <a:cs typeface="Tinos" pitchFamily="34" charset="-120"/>
              </a:rPr>
              <a:t>Thank </a:t>
            </a:r>
            <a:pPr algn="l" indent="0" marL="0">
              <a:lnSpc>
                <a:spcPts val="6264"/>
              </a:lnSpc>
              <a:buNone/>
            </a:pPr>
            <a:r>
              <a:rPr lang="en-US" sz="6525" b="1" i="1" spc="-294" kern="0" dirty="0">
                <a:solidFill>
                  <a:srgbClr val="34D399"/>
                </a:solidFill>
                <a:latin typeface="Tinos" pitchFamily="34" charset="0"/>
                <a:ea typeface="Tinos" pitchFamily="34" charset="-122"/>
                <a:cs typeface="Tinos" pitchFamily="34" charset="-120"/>
              </a:rPr>
              <a:t>you.</a:t>
            </a:r>
            <a:endParaRPr lang="en-US" sz="6525" dirty="0"/>
          </a:p>
        </p:txBody>
      </p:sp>
      <p:pic>
        <p:nvPicPr>
          <p:cNvPr id="11" name="Image 1" descr="preencoded.png">    </p:cNvPr>
          <p:cNvPicPr>
            <a:picLocks noChangeAspect="1"/>
          </p:cNvPicPr>
          <p:nvPr/>
        </p:nvPicPr>
        <p:blipFill>
          <a:blip r:embed="rId2"/>
          <a:stretch>
            <a:fillRect/>
          </a:stretch>
        </p:blipFill>
        <p:spPr>
          <a:xfrm>
            <a:off x="457200" y="2138549"/>
            <a:ext cx="179040" cy="21431"/>
          </a:xfrm>
          <a:prstGeom prst="rect">
            <a:avLst/>
          </a:prstGeom>
        </p:spPr>
      </p:pic>
      <p:sp>
        <p:nvSpPr>
          <p:cNvPr id="12" name="Text 8"/>
          <p:cNvSpPr/>
          <p:nvPr/>
        </p:nvSpPr>
        <p:spPr>
          <a:xfrm>
            <a:off x="807690" y="2052824"/>
            <a:ext cx="5507385" cy="430366"/>
          </a:xfrm>
          <a:prstGeom prst="rect">
            <a:avLst/>
          </a:prstGeom>
          <a:noFill/>
          <a:ln/>
        </p:spPr>
        <p:txBody>
          <a:bodyPr wrap="square" lIns="0" tIns="0" rIns="0" bIns="0" rtlCol="0" anchor="t"/>
          <a:lstStyle/>
          <a:p>
            <a:pPr algn="l" indent="0" marL="0">
              <a:lnSpc>
                <a:spcPts val="1569"/>
              </a:lnSpc>
              <a:buNone/>
            </a:pPr>
            <a:r>
              <a:rPr lang="en-US" sz="1013" dirty="0">
                <a:solidFill>
                  <a:srgbClr val="A1A1AA"/>
                </a:solidFill>
                <a:latin typeface="Carlito" pitchFamily="34" charset="0"/>
                <a:ea typeface="Carlito" pitchFamily="34" charset="-122"/>
                <a:cs typeface="Carlito" pitchFamily="34" charset="-120"/>
              </a:rPr>
              <a:t>We built FinWise to close the gap between </a:t>
            </a:r>
            <a:pPr algn="l" indent="0" marL="0">
              <a:lnSpc>
                <a:spcPts val="1569"/>
              </a:lnSpc>
              <a:buNone/>
            </a:pPr>
            <a:r>
              <a:rPr lang="en-US" sz="1013" dirty="0">
                <a:solidFill>
                  <a:srgbClr val="F5F5F7"/>
                </a:solidFill>
                <a:latin typeface="Carlito" pitchFamily="34" charset="0"/>
                <a:ea typeface="Carlito" pitchFamily="34" charset="-122"/>
                <a:cs typeface="Carlito" pitchFamily="34" charset="-120"/>
              </a:rPr>
              <a:t>knowing</a:t>
            </a:r>
            <a:pPr algn="l" indent="0" marL="0">
              <a:lnSpc>
                <a:spcPts val="1569"/>
              </a:lnSpc>
              <a:buNone/>
            </a:pPr>
            <a:r>
              <a:rPr lang="en-US" sz="1013" dirty="0">
                <a:solidFill>
                  <a:srgbClr val="A1A1AA"/>
                </a:solidFill>
                <a:latin typeface="Carlito" pitchFamily="34" charset="0"/>
                <a:ea typeface="Carlito" pitchFamily="34" charset="-122"/>
                <a:cs typeface="Carlito" pitchFamily="34" charset="-120"/>
              </a:rPr>
              <a:t> what to do with your money and </a:t>
            </a:r>
            <a:pPr algn="l" indent="0" marL="0">
              <a:lnSpc>
                <a:spcPts val="1569"/>
              </a:lnSpc>
              <a:buNone/>
            </a:pPr>
            <a:r>
              <a:rPr lang="en-US" sz="1013" dirty="0">
                <a:solidFill>
                  <a:srgbClr val="34D399"/>
                </a:solidFill>
                <a:latin typeface="Carlito" pitchFamily="34" charset="0"/>
                <a:ea typeface="Carlito" pitchFamily="34" charset="-122"/>
                <a:cs typeface="Carlito" pitchFamily="34" charset="-120"/>
              </a:rPr>
              <a:t>doing</a:t>
            </a:r>
            <a:pPr algn="l" indent="0" marL="0">
              <a:lnSpc>
                <a:spcPts val="1569"/>
              </a:lnSpc>
              <a:buNone/>
            </a:pPr>
            <a:r>
              <a:rPr lang="en-US" sz="1013" dirty="0">
                <a:solidFill>
                  <a:srgbClr val="A1A1AA"/>
                </a:solidFill>
                <a:latin typeface="Carlito" pitchFamily="34" charset="0"/>
                <a:ea typeface="Carlito" pitchFamily="34" charset="-122"/>
                <a:cs typeface="Carlito" pitchFamily="34" charset="-120"/>
              </a:rPr>
              <a:t> it. The agent is live. The analytics are real. The demo is yours to drive.</a:t>
            </a:r>
            <a:endParaRPr lang="en-US" sz="1013" dirty="0"/>
          </a:p>
        </p:txBody>
      </p:sp>
      <p:sp>
        <p:nvSpPr>
          <p:cNvPr id="13" name="Text 9"/>
          <p:cNvSpPr/>
          <p:nvPr/>
        </p:nvSpPr>
        <p:spPr>
          <a:xfrm>
            <a:off x="457200" y="3463379"/>
            <a:ext cx="5295424" cy="147590"/>
          </a:xfrm>
          <a:prstGeom prst="rect">
            <a:avLst/>
          </a:prstGeom>
          <a:noFill/>
          <a:ln/>
        </p:spPr>
        <p:txBody>
          <a:bodyPr wrap="square" lIns="0" tIns="0" rIns="0" bIns="0" rtlCol="0" anchor="t">
            <a:normAutofit/>
          </a:bodyPr>
          <a:lstStyle/>
          <a:p>
            <a:pPr algn="l" indent="0" marL="0">
              <a:lnSpc>
                <a:spcPts val="928"/>
              </a:lnSpc>
              <a:buNone/>
            </a:pPr>
            <a:r>
              <a:rPr lang="en-US" sz="800" spc="87" kern="0" dirty="0">
                <a:solidFill>
                  <a:srgbClr val="71717A"/>
                </a:solidFill>
                <a:latin typeface="Liberation Sans Narrow" pitchFamily="34" charset="0"/>
                <a:ea typeface="Liberation Sans Narrow" pitchFamily="34" charset="-122"/>
                <a:cs typeface="Liberation Sans Narrow" pitchFamily="34" charset="-120"/>
              </a:rPr>
              <a:t>WHAT'S NEXT · 90-DAY ROADMAP</a:t>
            </a:r>
            <a:endParaRPr lang="en-US" sz="800" dirty="0"/>
          </a:p>
        </p:txBody>
      </p:sp>
      <p:sp>
        <p:nvSpPr>
          <p:cNvPr id="14" name="Text 10"/>
          <p:cNvSpPr/>
          <p:nvPr/>
        </p:nvSpPr>
        <p:spPr>
          <a:xfrm>
            <a:off x="460772" y="3641973"/>
            <a:ext cx="1516038" cy="1040755"/>
          </a:xfrm>
          <a:prstGeom prst="roundRect">
            <a:avLst>
              <a:gd name="adj" fmla="val 10982"/>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15" name="Text 11"/>
          <p:cNvSpPr/>
          <p:nvPr/>
        </p:nvSpPr>
        <p:spPr>
          <a:xfrm>
            <a:off x="564356" y="3721626"/>
            <a:ext cx="327050" cy="180023"/>
          </a:xfrm>
          <a:prstGeom prst="roundRect">
            <a:avLst>
              <a:gd name="adj" fmla="val 21164"/>
            </a:avLst>
          </a:prstGeom>
          <a:solidFill>
            <a:srgbClr val="10B981">
              <a:alpha val="12000"/>
            </a:srgbClr>
          </a:solidFill>
          <a:ln w="7144">
            <a:solidFill>
              <a:srgbClr val="10B981"/>
            </a:solidFill>
            <a:prstDash val="solid"/>
          </a:ln>
        </p:spPr>
        <p:txBody>
          <a:bodyPr wrap="square" rtlCol="0" anchor="ctr"/>
          <a:lstStyle/>
          <a:p>
            <a:pPr indent="0" marL="0">
              <a:buNone/>
            </a:pPr>
            <a:endParaRPr lang="en-US" dirty="0"/>
          </a:p>
        </p:txBody>
      </p:sp>
      <p:sp>
        <p:nvSpPr>
          <p:cNvPr id="16" name="Text 12"/>
          <p:cNvSpPr/>
          <p:nvPr/>
        </p:nvSpPr>
        <p:spPr>
          <a:xfrm>
            <a:off x="564356" y="3731270"/>
            <a:ext cx="327050" cy="160734"/>
          </a:xfrm>
          <a:prstGeom prst="rect">
            <a:avLst/>
          </a:prstGeom>
          <a:noFill/>
          <a:ln/>
        </p:spPr>
        <p:txBody>
          <a:bodyPr wrap="none" lIns="0" tIns="0" rIns="0" bIns="0" rtlCol="0" anchor="ctr"/>
          <a:lstStyle/>
          <a:p>
            <a:pPr algn="ctr" indent="0" marL="0">
              <a:lnSpc>
                <a:spcPts val="928"/>
              </a:lnSpc>
              <a:buNone/>
            </a:pPr>
            <a:r>
              <a:rPr lang="en-US" sz="800" b="1" spc="74" kern="0" dirty="0">
                <a:solidFill>
                  <a:srgbClr val="34D399"/>
                </a:solidFill>
                <a:latin typeface="Liberation Sans Narrow" pitchFamily="34" charset="0"/>
                <a:ea typeface="Liberation Sans Narrow" pitchFamily="34" charset="-122"/>
                <a:cs typeface="Liberation Sans Narrow" pitchFamily="34" charset="-120"/>
              </a:rPr>
              <a:t>+30d</a:t>
            </a:r>
            <a:endParaRPr lang="en-US" sz="800" dirty="0"/>
          </a:p>
        </p:txBody>
      </p:sp>
      <p:sp>
        <p:nvSpPr>
          <p:cNvPr id="17" name="Text 13"/>
          <p:cNvSpPr/>
          <p:nvPr/>
        </p:nvSpPr>
        <p:spPr>
          <a:xfrm>
            <a:off x="962844" y="3731270"/>
            <a:ext cx="910382" cy="265462"/>
          </a:xfrm>
          <a:prstGeom prst="rect">
            <a:avLst/>
          </a:prstGeom>
          <a:noFill/>
          <a:ln/>
        </p:spPr>
        <p:txBody>
          <a:bodyPr wrap="none" lIns="0" tIns="0" rIns="0" bIns="0" rtlCol="0" anchor="t">
            <a:normAutofit/>
          </a:bodyPr>
          <a:lstStyle/>
          <a:p>
            <a:pPr algn="l" indent="0" marL="0">
              <a:lnSpc>
                <a:spcPts val="1097"/>
              </a:lnSpc>
              <a:buNone/>
            </a:pPr>
            <a:r>
              <a:rPr lang="en-US" sz="800" dirty="0">
                <a:solidFill>
                  <a:srgbClr val="F5F5F7"/>
                </a:solidFill>
                <a:latin typeface="Carlito" pitchFamily="34" charset="0"/>
                <a:ea typeface="Carlito" pitchFamily="34" charset="-122"/>
                <a:cs typeface="Carlito" pitchFamily="34" charset="-120"/>
              </a:rPr>
              <a:t>Bank connectivity</a:t>
            </a:r>
            <a:endParaRPr lang="en-US" sz="800" dirty="0"/>
          </a:p>
        </p:txBody>
      </p:sp>
      <p:sp>
        <p:nvSpPr>
          <p:cNvPr id="18" name="Text 14"/>
          <p:cNvSpPr/>
          <p:nvPr/>
        </p:nvSpPr>
        <p:spPr>
          <a:xfrm>
            <a:off x="962844" y="4024164"/>
            <a:ext cx="965005" cy="569268"/>
          </a:xfrm>
          <a:prstGeom prst="rect">
            <a:avLst/>
          </a:prstGeom>
          <a:noFill/>
          <a:ln/>
        </p:spPr>
        <p:txBody>
          <a:bodyPr wrap="square" lIns="0" tIns="0" rIns="0" bIns="0" rtlCol="0" anchor="t"/>
          <a:lstStyle/>
          <a:p>
            <a:pPr algn="l" indent="0" marL="0">
              <a:lnSpc>
                <a:spcPts val="897"/>
              </a:lnSpc>
              <a:buNone/>
            </a:pPr>
            <a:r>
              <a:rPr lang="en-US" sz="800" dirty="0">
                <a:solidFill>
                  <a:srgbClr val="A1A1AA"/>
                </a:solidFill>
                <a:latin typeface="Carlito" pitchFamily="34" charset="0"/>
                <a:ea typeface="Carlito" pitchFamily="34" charset="-122"/>
                <a:cs typeface="Carlito" pitchFamily="34" charset="-120"/>
              </a:rPr>
              <a:t>Plaid integration to replace synthetic seed data with real-time transaction ingest.</a:t>
            </a:r>
            <a:endParaRPr lang="en-US" sz="800" dirty="0"/>
          </a:p>
        </p:txBody>
      </p:sp>
      <p:sp>
        <p:nvSpPr>
          <p:cNvPr id="19" name="Text 15"/>
          <p:cNvSpPr/>
          <p:nvPr/>
        </p:nvSpPr>
        <p:spPr>
          <a:xfrm>
            <a:off x="2069678" y="3641973"/>
            <a:ext cx="1516038" cy="1040755"/>
          </a:xfrm>
          <a:prstGeom prst="roundRect">
            <a:avLst>
              <a:gd name="adj" fmla="val 10982"/>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20" name="Text 16"/>
          <p:cNvSpPr/>
          <p:nvPr/>
        </p:nvSpPr>
        <p:spPr>
          <a:xfrm>
            <a:off x="2173263" y="3721626"/>
            <a:ext cx="327050" cy="180023"/>
          </a:xfrm>
          <a:prstGeom prst="roundRect">
            <a:avLst>
              <a:gd name="adj" fmla="val 21164"/>
            </a:avLst>
          </a:prstGeom>
          <a:solidFill>
            <a:srgbClr val="10B981">
              <a:alpha val="12000"/>
            </a:srgbClr>
          </a:solidFill>
          <a:ln w="7144">
            <a:solidFill>
              <a:srgbClr val="10B981"/>
            </a:solidFill>
            <a:prstDash val="solid"/>
          </a:ln>
        </p:spPr>
        <p:txBody>
          <a:bodyPr wrap="square" rtlCol="0" anchor="ctr"/>
          <a:lstStyle/>
          <a:p>
            <a:pPr indent="0" marL="0">
              <a:buNone/>
            </a:pPr>
            <a:endParaRPr lang="en-US" dirty="0"/>
          </a:p>
        </p:txBody>
      </p:sp>
      <p:sp>
        <p:nvSpPr>
          <p:cNvPr id="21" name="Text 17"/>
          <p:cNvSpPr/>
          <p:nvPr/>
        </p:nvSpPr>
        <p:spPr>
          <a:xfrm>
            <a:off x="2173263" y="3731270"/>
            <a:ext cx="327050" cy="160734"/>
          </a:xfrm>
          <a:prstGeom prst="rect">
            <a:avLst/>
          </a:prstGeom>
          <a:noFill/>
          <a:ln/>
        </p:spPr>
        <p:txBody>
          <a:bodyPr wrap="none" lIns="0" tIns="0" rIns="0" bIns="0" rtlCol="0" anchor="ctr"/>
          <a:lstStyle/>
          <a:p>
            <a:pPr algn="ctr" indent="0" marL="0">
              <a:lnSpc>
                <a:spcPts val="928"/>
              </a:lnSpc>
              <a:buNone/>
            </a:pPr>
            <a:r>
              <a:rPr lang="en-US" sz="800" b="1" spc="74" kern="0" dirty="0">
                <a:solidFill>
                  <a:srgbClr val="34D399"/>
                </a:solidFill>
                <a:latin typeface="Liberation Sans Narrow" pitchFamily="34" charset="0"/>
                <a:ea typeface="Liberation Sans Narrow" pitchFamily="34" charset="-122"/>
                <a:cs typeface="Liberation Sans Narrow" pitchFamily="34" charset="-120"/>
              </a:rPr>
              <a:t>+60d</a:t>
            </a:r>
            <a:endParaRPr lang="en-US" sz="800" dirty="0"/>
          </a:p>
        </p:txBody>
      </p:sp>
      <p:sp>
        <p:nvSpPr>
          <p:cNvPr id="22" name="Text 18"/>
          <p:cNvSpPr/>
          <p:nvPr/>
        </p:nvSpPr>
        <p:spPr>
          <a:xfrm>
            <a:off x="2571750" y="3731270"/>
            <a:ext cx="910382" cy="265462"/>
          </a:xfrm>
          <a:prstGeom prst="rect">
            <a:avLst/>
          </a:prstGeom>
          <a:noFill/>
          <a:ln/>
        </p:spPr>
        <p:txBody>
          <a:bodyPr wrap="none" lIns="0" tIns="0" rIns="0" bIns="0" rtlCol="0" anchor="t">
            <a:normAutofit/>
          </a:bodyPr>
          <a:lstStyle/>
          <a:p>
            <a:pPr algn="l" indent="0" marL="0">
              <a:lnSpc>
                <a:spcPts val="1097"/>
              </a:lnSpc>
              <a:buNone/>
            </a:pPr>
            <a:r>
              <a:rPr lang="en-US" sz="800" dirty="0">
                <a:solidFill>
                  <a:srgbClr val="F5F5F7"/>
                </a:solidFill>
                <a:latin typeface="Carlito" pitchFamily="34" charset="0"/>
                <a:ea typeface="Carlito" pitchFamily="34" charset="-122"/>
                <a:cs typeface="Carlito" pitchFamily="34" charset="-120"/>
              </a:rPr>
              <a:t>Mobile companion</a:t>
            </a:r>
            <a:endParaRPr lang="en-US" sz="800" dirty="0"/>
          </a:p>
        </p:txBody>
      </p:sp>
      <p:sp>
        <p:nvSpPr>
          <p:cNvPr id="23" name="Text 19"/>
          <p:cNvSpPr/>
          <p:nvPr/>
        </p:nvSpPr>
        <p:spPr>
          <a:xfrm>
            <a:off x="2571750" y="4024164"/>
            <a:ext cx="965005" cy="569268"/>
          </a:xfrm>
          <a:prstGeom prst="rect">
            <a:avLst/>
          </a:prstGeom>
          <a:noFill/>
          <a:ln/>
        </p:spPr>
        <p:txBody>
          <a:bodyPr wrap="square" lIns="0" tIns="0" rIns="0" bIns="0" rtlCol="0" anchor="t"/>
          <a:lstStyle/>
          <a:p>
            <a:pPr algn="l" indent="0" marL="0">
              <a:lnSpc>
                <a:spcPts val="897"/>
              </a:lnSpc>
              <a:buNone/>
            </a:pPr>
            <a:r>
              <a:rPr lang="en-US" sz="800" dirty="0">
                <a:solidFill>
                  <a:srgbClr val="A1A1AA"/>
                </a:solidFill>
                <a:latin typeface="Carlito" pitchFamily="34" charset="0"/>
                <a:ea typeface="Carlito" pitchFamily="34" charset="-122"/>
                <a:cs typeface="Carlito" pitchFamily="34" charset="-120"/>
              </a:rPr>
              <a:t>React Native shell sharing the same agent + ledger. Voice input for on-the-go logging.</a:t>
            </a:r>
            <a:endParaRPr lang="en-US" sz="800" dirty="0"/>
          </a:p>
        </p:txBody>
      </p:sp>
      <p:sp>
        <p:nvSpPr>
          <p:cNvPr id="24" name="Text 20"/>
          <p:cNvSpPr/>
          <p:nvPr/>
        </p:nvSpPr>
        <p:spPr>
          <a:xfrm>
            <a:off x="3678585" y="3641973"/>
            <a:ext cx="1516038" cy="1040755"/>
          </a:xfrm>
          <a:prstGeom prst="roundRect">
            <a:avLst>
              <a:gd name="adj" fmla="val 10982"/>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25" name="Text 21"/>
          <p:cNvSpPr/>
          <p:nvPr/>
        </p:nvSpPr>
        <p:spPr>
          <a:xfrm>
            <a:off x="3782169" y="3721626"/>
            <a:ext cx="327050" cy="180023"/>
          </a:xfrm>
          <a:prstGeom prst="roundRect">
            <a:avLst>
              <a:gd name="adj" fmla="val 21164"/>
            </a:avLst>
          </a:prstGeom>
          <a:solidFill>
            <a:srgbClr val="10B981">
              <a:alpha val="12000"/>
            </a:srgbClr>
          </a:solidFill>
          <a:ln w="7144">
            <a:solidFill>
              <a:srgbClr val="10B981"/>
            </a:solidFill>
            <a:prstDash val="solid"/>
          </a:ln>
        </p:spPr>
        <p:txBody>
          <a:bodyPr wrap="square" rtlCol="0" anchor="ctr"/>
          <a:lstStyle/>
          <a:p>
            <a:pPr indent="0" marL="0">
              <a:buNone/>
            </a:pPr>
            <a:endParaRPr lang="en-US" dirty="0"/>
          </a:p>
        </p:txBody>
      </p:sp>
      <p:sp>
        <p:nvSpPr>
          <p:cNvPr id="26" name="Text 22"/>
          <p:cNvSpPr/>
          <p:nvPr/>
        </p:nvSpPr>
        <p:spPr>
          <a:xfrm>
            <a:off x="3782169" y="3731270"/>
            <a:ext cx="327050" cy="160734"/>
          </a:xfrm>
          <a:prstGeom prst="rect">
            <a:avLst/>
          </a:prstGeom>
          <a:noFill/>
          <a:ln/>
        </p:spPr>
        <p:txBody>
          <a:bodyPr wrap="none" lIns="0" tIns="0" rIns="0" bIns="0" rtlCol="0" anchor="ctr"/>
          <a:lstStyle/>
          <a:p>
            <a:pPr algn="ctr" indent="0" marL="0">
              <a:lnSpc>
                <a:spcPts val="928"/>
              </a:lnSpc>
              <a:buNone/>
            </a:pPr>
            <a:r>
              <a:rPr lang="en-US" sz="800" b="1" spc="74" kern="0" dirty="0">
                <a:solidFill>
                  <a:srgbClr val="34D399"/>
                </a:solidFill>
                <a:latin typeface="Liberation Sans Narrow" pitchFamily="34" charset="0"/>
                <a:ea typeface="Liberation Sans Narrow" pitchFamily="34" charset="-122"/>
                <a:cs typeface="Liberation Sans Narrow" pitchFamily="34" charset="-120"/>
              </a:rPr>
              <a:t>+90d</a:t>
            </a:r>
            <a:endParaRPr lang="en-US" sz="800" dirty="0"/>
          </a:p>
        </p:txBody>
      </p:sp>
      <p:sp>
        <p:nvSpPr>
          <p:cNvPr id="27" name="Text 23"/>
          <p:cNvSpPr/>
          <p:nvPr/>
        </p:nvSpPr>
        <p:spPr>
          <a:xfrm>
            <a:off x="4180656" y="3731270"/>
            <a:ext cx="910382" cy="126159"/>
          </a:xfrm>
          <a:prstGeom prst="rect">
            <a:avLst/>
          </a:prstGeom>
          <a:noFill/>
          <a:ln/>
        </p:spPr>
        <p:txBody>
          <a:bodyPr wrap="none" lIns="0" tIns="0" rIns="0" bIns="0" rtlCol="0" anchor="t">
            <a:normAutofit/>
          </a:bodyPr>
          <a:lstStyle/>
          <a:p>
            <a:pPr algn="l" indent="0" marL="0">
              <a:lnSpc>
                <a:spcPts val="1097"/>
              </a:lnSpc>
              <a:buNone/>
            </a:pPr>
            <a:r>
              <a:rPr lang="en-US" sz="800" dirty="0">
                <a:solidFill>
                  <a:srgbClr val="F5F5F7"/>
                </a:solidFill>
                <a:latin typeface="Carlito" pitchFamily="34" charset="0"/>
                <a:ea typeface="Carlito" pitchFamily="34" charset="-122"/>
                <a:cs typeface="Carlito" pitchFamily="34" charset="-120"/>
              </a:rPr>
              <a:t>Open beta</a:t>
            </a:r>
            <a:endParaRPr lang="en-US" sz="800" dirty="0"/>
          </a:p>
        </p:txBody>
      </p:sp>
      <p:sp>
        <p:nvSpPr>
          <p:cNvPr id="28" name="Text 24"/>
          <p:cNvSpPr/>
          <p:nvPr/>
        </p:nvSpPr>
        <p:spPr>
          <a:xfrm>
            <a:off x="4180656" y="3884861"/>
            <a:ext cx="965005" cy="635924"/>
          </a:xfrm>
          <a:prstGeom prst="rect">
            <a:avLst/>
          </a:prstGeom>
          <a:noFill/>
          <a:ln/>
        </p:spPr>
        <p:txBody>
          <a:bodyPr wrap="square" lIns="0" tIns="0" rIns="0" bIns="0" rtlCol="0" anchor="t"/>
          <a:lstStyle/>
          <a:p>
            <a:pPr algn="l" indent="0" marL="0">
              <a:lnSpc>
                <a:spcPts val="897"/>
              </a:lnSpc>
              <a:buNone/>
            </a:pPr>
            <a:r>
              <a:rPr lang="en-US" sz="800" dirty="0">
                <a:solidFill>
                  <a:srgbClr val="A1A1AA"/>
                </a:solidFill>
                <a:latin typeface="Carlito" pitchFamily="34" charset="0"/>
                <a:ea typeface="Carlito" pitchFamily="34" charset="-122"/>
                <a:cs typeface="Carlito" pitchFamily="34" charset="-120"/>
              </a:rPr>
              <a:t>200-user cohort. Privacy-preserving analytics. Iterate on trigger detection.</a:t>
            </a:r>
            <a:endParaRPr lang="en-US" sz="800" dirty="0"/>
          </a:p>
        </p:txBody>
      </p:sp>
      <p:sp>
        <p:nvSpPr>
          <p:cNvPr id="29" name="Text 25"/>
          <p:cNvSpPr/>
          <p:nvPr/>
        </p:nvSpPr>
        <p:spPr>
          <a:xfrm>
            <a:off x="5341069" y="3463379"/>
            <a:ext cx="3802931" cy="147590"/>
          </a:xfrm>
          <a:prstGeom prst="rect">
            <a:avLst/>
          </a:prstGeom>
          <a:noFill/>
          <a:ln/>
        </p:spPr>
        <p:txBody>
          <a:bodyPr wrap="none" lIns="0" tIns="0" rIns="0" bIns="0" rtlCol="0" anchor="t">
            <a:normAutofit/>
          </a:bodyPr>
          <a:lstStyle/>
          <a:p>
            <a:pPr algn="l" indent="0" marL="0">
              <a:lnSpc>
                <a:spcPts val="928"/>
              </a:lnSpc>
              <a:buNone/>
            </a:pPr>
            <a:r>
              <a:rPr lang="en-US" sz="800" spc="87" kern="0" dirty="0">
                <a:solidFill>
                  <a:srgbClr val="71717A"/>
                </a:solidFill>
                <a:latin typeface="Courier New" pitchFamily="34" charset="0"/>
                <a:ea typeface="Courier New" pitchFamily="34" charset="-122"/>
                <a:cs typeface="Courier New" pitchFamily="34" charset="-120"/>
              </a:rPr>
              <a:t>TEAM &amp; CONTACT</a:t>
            </a:r>
            <a:endParaRPr lang="en-US" sz="800" dirty="0"/>
          </a:p>
        </p:txBody>
      </p:sp>
      <p:sp>
        <p:nvSpPr>
          <p:cNvPr id="30" name="Text 26"/>
          <p:cNvSpPr/>
          <p:nvPr/>
        </p:nvSpPr>
        <p:spPr>
          <a:xfrm>
            <a:off x="5341069" y="3625600"/>
            <a:ext cx="1238548" cy="339928"/>
          </a:xfrm>
          <a:prstGeom prst="roundRect">
            <a:avLst>
              <a:gd name="adj" fmla="val 2799262"/>
            </a:avLst>
          </a:prstGeom>
          <a:solidFill>
            <a:srgbClr val="121217"/>
          </a:solidFill>
          <a:ln w="7144">
            <a:solidFill>
              <a:srgbClr val="FFFFFF"/>
            </a:solidFill>
            <a:prstDash val="solid"/>
          </a:ln>
        </p:spPr>
        <p:txBody>
          <a:bodyPr wrap="square" rtlCol="0" anchor="ctr"/>
          <a:lstStyle/>
          <a:p>
            <a:pPr indent="0" marL="0">
              <a:buNone/>
            </a:pPr>
            <a:endParaRPr lang="en-US" dirty="0"/>
          </a:p>
        </p:txBody>
      </p:sp>
      <p:pic>
        <p:nvPicPr>
          <p:cNvPr id="31" name="Image 2" descr="preencoded.png">    </p:cNvPr>
          <p:cNvPicPr>
            <a:picLocks noChangeAspect="1"/>
          </p:cNvPicPr>
          <p:nvPr/>
        </p:nvPicPr>
        <p:blipFill>
          <a:blip r:embed="rId3"/>
          <a:stretch>
            <a:fillRect/>
          </a:stretch>
        </p:blipFill>
        <p:spPr>
          <a:xfrm>
            <a:off x="5433938" y="3702695"/>
            <a:ext cx="185738" cy="185738"/>
          </a:xfrm>
          <a:prstGeom prst="rect">
            <a:avLst/>
          </a:prstGeom>
        </p:spPr>
      </p:pic>
      <p:sp>
        <p:nvSpPr>
          <p:cNvPr id="32" name="Text 27"/>
          <p:cNvSpPr/>
          <p:nvPr/>
        </p:nvSpPr>
        <p:spPr>
          <a:xfrm>
            <a:off x="5433938" y="3702695"/>
            <a:ext cx="214313" cy="185738"/>
          </a:xfrm>
          <a:prstGeom prst="rect">
            <a:avLst/>
          </a:prstGeom>
          <a:noFill/>
          <a:ln/>
        </p:spPr>
        <p:txBody>
          <a:bodyPr wrap="none" lIns="0" tIns="0" rIns="0" bIns="0" rtlCol="0" anchor="ctr"/>
          <a:lstStyle/>
          <a:p>
            <a:pPr algn="ctr" indent="0" marL="0">
              <a:lnSpc>
                <a:spcPts val="928"/>
              </a:lnSpc>
              <a:buNone/>
            </a:pPr>
            <a:r>
              <a:rPr lang="en-US" sz="800" b="1" dirty="0">
                <a:solidFill>
                  <a:srgbClr val="FFFFFF"/>
                </a:solidFill>
                <a:latin typeface="Tinos" pitchFamily="34" charset="0"/>
                <a:ea typeface="Tinos" pitchFamily="34" charset="-122"/>
                <a:cs typeface="Tinos" pitchFamily="34" charset="-120"/>
              </a:rPr>
              <a:t>FW</a:t>
            </a:r>
            <a:endParaRPr lang="en-US" sz="800" dirty="0"/>
          </a:p>
        </p:txBody>
      </p:sp>
      <p:sp>
        <p:nvSpPr>
          <p:cNvPr id="33" name="Text 28"/>
          <p:cNvSpPr/>
          <p:nvPr/>
        </p:nvSpPr>
        <p:spPr>
          <a:xfrm>
            <a:off x="5676826" y="3731270"/>
            <a:ext cx="809923" cy="157163"/>
          </a:xfrm>
          <a:prstGeom prst="rect">
            <a:avLst/>
          </a:prstGeom>
          <a:noFill/>
          <a:ln/>
        </p:spPr>
        <p:txBody>
          <a:bodyPr wrap="none" lIns="0" tIns="0" rIns="0" bIns="0" rtlCol="0" anchor="t"/>
          <a:lstStyle/>
          <a:p>
            <a:pPr algn="l" indent="0" marL="0">
              <a:lnSpc>
                <a:spcPts val="1013"/>
              </a:lnSpc>
              <a:buNone/>
            </a:pPr>
            <a:r>
              <a:rPr lang="en-US" sz="675" dirty="0">
                <a:solidFill>
                  <a:srgbClr val="F5F5F7"/>
                </a:solidFill>
                <a:latin typeface="Carlito" pitchFamily="34" charset="0"/>
                <a:ea typeface="Carlito" pitchFamily="34" charset="-122"/>
                <a:cs typeface="Carlito" pitchFamily="34" charset="-120"/>
              </a:rPr>
              <a:t>FinWise Builders</a:t>
            </a:r>
            <a:endParaRPr lang="en-US" sz="675" dirty="0"/>
          </a:p>
        </p:txBody>
      </p:sp>
      <p:sp>
        <p:nvSpPr>
          <p:cNvPr id="34" name="Text 29"/>
          <p:cNvSpPr/>
          <p:nvPr/>
        </p:nvSpPr>
        <p:spPr>
          <a:xfrm>
            <a:off x="6640339" y="3641973"/>
            <a:ext cx="1298600" cy="307181"/>
          </a:xfrm>
          <a:prstGeom prst="roundRect">
            <a:avLst>
              <a:gd name="adj" fmla="val 3097677"/>
            </a:avLst>
          </a:prstGeom>
          <a:solidFill>
            <a:srgbClr val="121217"/>
          </a:solidFill>
          <a:ln w="7144">
            <a:solidFill>
              <a:srgbClr val="FFFFFF"/>
            </a:solidFill>
            <a:prstDash val="solid"/>
          </a:ln>
        </p:spPr>
        <p:txBody>
          <a:bodyPr wrap="square" rtlCol="0" anchor="ctr"/>
          <a:lstStyle/>
          <a:p>
            <a:pPr indent="0" marL="0">
              <a:buNone/>
            </a:pPr>
            <a:endParaRPr lang="en-US" dirty="0"/>
          </a:p>
        </p:txBody>
      </p:sp>
      <p:sp>
        <p:nvSpPr>
          <p:cNvPr id="35" name="Text 30"/>
          <p:cNvSpPr/>
          <p:nvPr/>
        </p:nvSpPr>
        <p:spPr>
          <a:xfrm>
            <a:off x="6729636" y="3738414"/>
            <a:ext cx="114300" cy="114300"/>
          </a:xfrm>
          <a:prstGeom prst="rect">
            <a:avLst/>
          </a:prstGeom>
          <a:noFill/>
          <a:ln/>
        </p:spPr>
        <p:txBody>
          <a:bodyPr wrap="none" lIns="0" tIns="0" rIns="0" bIns="0" rtlCol="0" anchor="ctr"/>
          <a:lstStyle/>
          <a:p>
            <a:pPr algn="ctr" indent="0" marL="0">
              <a:buNone/>
            </a:pPr>
            <a:r>
              <a:rPr lang="en-US" sz="1125" dirty="0">
                <a:solidFill>
                  <a:srgbClr val="818CF8"/>
                </a:solidFill>
                <a:latin typeface="Segoe UI Symbol" pitchFamily="34" charset="0"/>
                <a:ea typeface="Segoe UI Symbol" pitchFamily="34" charset="-122"/>
                <a:cs typeface="Segoe UI Symbol" pitchFamily="34" charset="-120"/>
              </a:rPr>
              <a:t>✦</a:t>
            </a:r>
            <a:endParaRPr lang="en-US" sz="1125" dirty="0"/>
          </a:p>
        </p:txBody>
      </p:sp>
      <p:sp>
        <p:nvSpPr>
          <p:cNvPr id="36" name="Text 31"/>
          <p:cNvSpPr/>
          <p:nvPr/>
        </p:nvSpPr>
        <p:spPr>
          <a:xfrm>
            <a:off x="6901086" y="3731270"/>
            <a:ext cx="948556" cy="157163"/>
          </a:xfrm>
          <a:prstGeom prst="rect">
            <a:avLst/>
          </a:prstGeom>
          <a:noFill/>
          <a:ln/>
        </p:spPr>
        <p:txBody>
          <a:bodyPr wrap="none" lIns="0" tIns="0" rIns="0" bIns="0" rtlCol="0" anchor="t"/>
          <a:lstStyle/>
          <a:p>
            <a:pPr algn="l" indent="0" marL="0">
              <a:lnSpc>
                <a:spcPts val="1013"/>
              </a:lnSpc>
              <a:buNone/>
            </a:pPr>
            <a:r>
              <a:rPr lang="en-US" sz="675" dirty="0">
                <a:solidFill>
                  <a:srgbClr val="A1A1AA"/>
                </a:solidFill>
                <a:latin typeface="Carlito" pitchFamily="34" charset="0"/>
                <a:ea typeface="Carlito" pitchFamily="34" charset="-122"/>
                <a:cs typeface="Carlito" pitchFamily="34" charset="-120"/>
              </a:rPr>
              <a:t>Full-stack · AI · Design</a:t>
            </a:r>
            <a:endParaRPr lang="en-US" sz="675" dirty="0"/>
          </a:p>
        </p:txBody>
      </p:sp>
      <p:pic>
        <p:nvPicPr>
          <p:cNvPr id="37" name="Image 3" descr="preencoded.png">    </p:cNvPr>
          <p:cNvPicPr>
            <a:picLocks noChangeAspect="1"/>
          </p:cNvPicPr>
          <p:nvPr/>
        </p:nvPicPr>
        <p:blipFill>
          <a:blip r:embed="rId4"/>
          <a:stretch>
            <a:fillRect/>
          </a:stretch>
        </p:blipFill>
        <p:spPr>
          <a:xfrm>
            <a:off x="5341069" y="4038451"/>
            <a:ext cx="3345619" cy="457200"/>
          </a:xfrm>
          <a:prstGeom prst="rect">
            <a:avLst/>
          </a:prstGeom>
        </p:spPr>
      </p:pic>
      <p:sp>
        <p:nvSpPr>
          <p:cNvPr id="38" name="Text 32"/>
          <p:cNvSpPr/>
          <p:nvPr/>
        </p:nvSpPr>
        <p:spPr>
          <a:xfrm>
            <a:off x="5344641" y="4042023"/>
            <a:ext cx="3338475" cy="450056"/>
          </a:xfrm>
          <a:prstGeom prst="roundRect">
            <a:avLst>
              <a:gd name="adj" fmla="val 38095"/>
            </a:avLst>
          </a:prstGeom>
          <a:noFill/>
          <a:ln w="7144">
            <a:solidFill>
              <a:srgbClr val="FFFFFF"/>
            </a:solidFill>
            <a:prstDash val="solid"/>
          </a:ln>
        </p:spPr>
        <p:txBody>
          <a:bodyPr wrap="square" rtlCol="0" anchor="ctr"/>
          <a:lstStyle/>
          <a:p>
            <a:pPr indent="0" marL="0">
              <a:buNone/>
            </a:pPr>
            <a:endParaRPr lang="en-US" dirty="0"/>
          </a:p>
        </p:txBody>
      </p:sp>
      <p:sp>
        <p:nvSpPr>
          <p:cNvPr id="39" name="Text 33"/>
          <p:cNvSpPr/>
          <p:nvPr/>
        </p:nvSpPr>
        <p:spPr>
          <a:xfrm>
            <a:off x="5433938" y="4131320"/>
            <a:ext cx="1228177" cy="104727"/>
          </a:xfrm>
          <a:prstGeom prst="rect">
            <a:avLst/>
          </a:prstGeom>
          <a:noFill/>
          <a:ln/>
        </p:spPr>
        <p:txBody>
          <a:bodyPr wrap="none" lIns="0" tIns="0" rIns="0" bIns="0" rtlCol="0" anchor="t">
            <a:normAutofit/>
          </a:bodyPr>
          <a:lstStyle/>
          <a:p>
            <a:pPr algn="l" indent="0" marL="0">
              <a:lnSpc>
                <a:spcPts val="928"/>
              </a:lnSpc>
              <a:buNone/>
            </a:pPr>
            <a:r>
              <a:rPr lang="en-US" sz="800" spc="74" kern="0" dirty="0">
                <a:solidFill>
                  <a:srgbClr val="71717A"/>
                </a:solidFill>
                <a:latin typeface="Carlito" pitchFamily="34" charset="0"/>
                <a:ea typeface="Carlito" pitchFamily="34" charset="-122"/>
                <a:cs typeface="Carlito" pitchFamily="34" charset="-120"/>
              </a:rPr>
              <a:t>LIVE DEMO</a:t>
            </a:r>
            <a:endParaRPr lang="en-US" sz="800" dirty="0"/>
          </a:p>
        </p:txBody>
      </p:sp>
      <p:sp>
        <p:nvSpPr>
          <p:cNvPr id="40" name="Text 34"/>
          <p:cNvSpPr/>
          <p:nvPr/>
        </p:nvSpPr>
        <p:spPr>
          <a:xfrm>
            <a:off x="5433938" y="4263479"/>
            <a:ext cx="1048522" cy="139303"/>
          </a:xfrm>
          <a:prstGeom prst="rect">
            <a:avLst/>
          </a:prstGeom>
          <a:noFill/>
          <a:ln/>
        </p:spPr>
        <p:txBody>
          <a:bodyPr wrap="none" lIns="0" tIns="0" rIns="0" bIns="0" rtlCol="0" anchor="t"/>
          <a:lstStyle/>
          <a:p>
            <a:pPr algn="l" indent="0" marL="0">
              <a:lnSpc>
                <a:spcPts val="1097"/>
              </a:lnSpc>
              <a:buNone/>
            </a:pPr>
            <a:r>
              <a:rPr lang="en-US" sz="800" dirty="0">
                <a:solidFill>
                  <a:srgbClr val="34D399"/>
                </a:solidFill>
                <a:latin typeface="Courier New" pitchFamily="34" charset="0"/>
                <a:ea typeface="Courier New" pitchFamily="34" charset="-122"/>
                <a:cs typeface="Courier New" pitchFamily="34" charset="-120"/>
              </a:rPr>
              <a:t>finwise.app/demo</a:t>
            </a:r>
            <a:endParaRPr lang="en-US" sz="800" dirty="0"/>
          </a:p>
        </p:txBody>
      </p:sp>
      <p:sp>
        <p:nvSpPr>
          <p:cNvPr id="41" name="Text 35"/>
          <p:cNvSpPr/>
          <p:nvPr/>
        </p:nvSpPr>
        <p:spPr>
          <a:xfrm>
            <a:off x="6983440" y="4131320"/>
            <a:ext cx="1610380" cy="104727"/>
          </a:xfrm>
          <a:prstGeom prst="rect">
            <a:avLst/>
          </a:prstGeom>
          <a:noFill/>
          <a:ln/>
        </p:spPr>
        <p:txBody>
          <a:bodyPr wrap="none" lIns="0" tIns="0" rIns="0" bIns="0" rtlCol="0" anchor="t">
            <a:normAutofit/>
          </a:bodyPr>
          <a:lstStyle/>
          <a:p>
            <a:pPr algn="r" indent="0" marL="0">
              <a:lnSpc>
                <a:spcPts val="928"/>
              </a:lnSpc>
              <a:buNone/>
            </a:pPr>
            <a:r>
              <a:rPr lang="en-US" sz="800" spc="74" kern="0" dirty="0">
                <a:solidFill>
                  <a:srgbClr val="71717A"/>
                </a:solidFill>
                <a:latin typeface="Carlito" pitchFamily="34" charset="0"/>
                <a:ea typeface="Carlito" pitchFamily="34" charset="-122"/>
                <a:cs typeface="Carlito" pitchFamily="34" charset="-120"/>
              </a:rPr>
              <a:t>REPO</a:t>
            </a:r>
            <a:endParaRPr lang="en-US" sz="800" dirty="0"/>
          </a:p>
        </p:txBody>
      </p:sp>
      <p:sp>
        <p:nvSpPr>
          <p:cNvPr id="42" name="Text 36"/>
          <p:cNvSpPr/>
          <p:nvPr/>
        </p:nvSpPr>
        <p:spPr>
          <a:xfrm>
            <a:off x="7414216" y="4263479"/>
            <a:ext cx="1179603" cy="139303"/>
          </a:xfrm>
          <a:prstGeom prst="rect">
            <a:avLst/>
          </a:prstGeom>
          <a:noFill/>
          <a:ln/>
        </p:spPr>
        <p:txBody>
          <a:bodyPr wrap="none" lIns="0" tIns="0" rIns="0" bIns="0" rtlCol="0" anchor="t"/>
          <a:lstStyle/>
          <a:p>
            <a:pPr algn="r" indent="0" marL="0">
              <a:lnSpc>
                <a:spcPts val="1097"/>
              </a:lnSpc>
              <a:buNone/>
            </a:pPr>
            <a:r>
              <a:rPr lang="en-US" sz="800" dirty="0">
                <a:solidFill>
                  <a:srgbClr val="818CF8"/>
                </a:solidFill>
                <a:latin typeface="Courier New" pitchFamily="34" charset="0"/>
                <a:ea typeface="Courier New" pitchFamily="34" charset="-122"/>
                <a:cs typeface="Courier New" pitchFamily="34" charset="-120"/>
              </a:rPr>
              <a:t>github.com/finwise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2026-10-19T04:49:21Z</dcterms:created>
  <dcterms:modified xsi:type="dcterms:W3CDTF">2026-10-19T04:49:21Z</dcterms:modified>
</cp:coreProperties>
</file>